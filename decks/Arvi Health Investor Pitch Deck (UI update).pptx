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5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70" r:id="rId20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lRYSrTw+YU9MF8yJlJ0AsLBDe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20" Type="http://schemas.openxmlformats.org/officeDocument/2006/relationships/slide" Target="slides/slide15.xml"/>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5.png"/><Relationship Id="rId4" Type="http://schemas.openxmlformats.org/officeDocument/2006/relationships/image" Target="../media/image9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1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Relationship Id="rId4" Type="http://schemas.openxmlformats.org/officeDocument/2006/relationships/image" Target="../media/image3.png"/><Relationship Id="rId11" Type="http://schemas.openxmlformats.org/officeDocument/2006/relationships/image" Target="../media/image13.png"/><Relationship Id="rId10" Type="http://schemas.openxmlformats.org/officeDocument/2006/relationships/image" Target="../media/image5.png"/><Relationship Id="rId9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3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Relationship Id="rId4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1.png"/><Relationship Id="rId4" Type="http://schemas.openxmlformats.org/officeDocument/2006/relationships/image" Target="../media/image31.png"/><Relationship Id="rId9" Type="http://schemas.openxmlformats.org/officeDocument/2006/relationships/image" Target="../media/image37.png"/><Relationship Id="rId5" Type="http://schemas.openxmlformats.org/officeDocument/2006/relationships/image" Target="../media/image33.png"/><Relationship Id="rId6" Type="http://schemas.openxmlformats.org/officeDocument/2006/relationships/image" Target="../media/image32.png"/><Relationship Id="rId7" Type="http://schemas.openxmlformats.org/officeDocument/2006/relationships/image" Target="../media/image34.png"/><Relationship Id="rId8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6.png"/><Relationship Id="rId4" Type="http://schemas.openxmlformats.org/officeDocument/2006/relationships/image" Target="../media/image35.png"/><Relationship Id="rId5" Type="http://schemas.openxmlformats.org/officeDocument/2006/relationships/image" Target="../media/image38.png"/><Relationship Id="rId6" Type="http://schemas.openxmlformats.org/officeDocument/2006/relationships/image" Target="../media/image40.png"/><Relationship Id="rId7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5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/Relationships>
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428625" y="916381"/>
            <a:ext cx="37147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4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82"/>
              <a:buFont typeface="Calibri"/>
              <a:buNone/>
            </a:pPr>
            <a:r>
              <a:rPr b="1" i="0" lang="en-US" sz="518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Arvi</a:t>
            </a:r>
            <a:br>
              <a:rPr b="1" i="0" lang="en-US" sz="518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18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Health</a:t>
            </a:r>
            <a:endParaRPr b="0" i="0" sz="51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28625" y="2345131"/>
            <a:ext cx="3343275" cy="59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7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4"/>
              <a:buFont typeface="Calibri"/>
              <a:buNone/>
            </a:pPr>
            <a:r>
              <a:rPr b="0" i="0" lang="en-US" sz="170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Transforming Clinical Documentation with AI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28625" y="3225208"/>
            <a:ext cx="3714750" cy="389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Reducing administrative burden, restoring focus on patient care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28625" y="4688086"/>
            <a:ext cx="1447642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Investment Ask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28625" y="4839891"/>
            <a:ext cx="144764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$2,000,000 Seed Round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304892" y="4688086"/>
            <a:ext cx="88484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Product Launch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304892" y="4839891"/>
            <a:ext cx="88484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March 2026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312047" y="4688086"/>
            <a:ext cx="97470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Contact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312047" y="4839891"/>
            <a:ext cx="97470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arvihealth.com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" title="whatsapp_converted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777900"/>
            <a:ext cx="45720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285750" y="428625"/>
            <a:ext cx="8572500" cy="147822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285750" y="1892564"/>
            <a:ext cx="85725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285750" y="428625"/>
            <a:ext cx="85725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85750" y="635794"/>
            <a:ext cx="6429375" cy="754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Clinicians Are Drowning in Documentation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85750" y="1956857"/>
            <a:ext cx="41148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Australian GPs are spending nearly half their workday on administrative tasks instead of patient care, leading to unprecedented levels of burnout.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85750" y="2799820"/>
            <a:ext cx="285750" cy="28575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75" y="288554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685800" y="2799820"/>
            <a:ext cx="371475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Poverty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85800" y="3030206"/>
            <a:ext cx="371475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Average GP sees 6.8 patients per day but spends hours after-hours completing notes.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85750" y="3435948"/>
            <a:ext cx="285750" cy="28575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8619" y="3521673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685800" y="3435948"/>
            <a:ext cx="371475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Disconnected Systems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85800" y="3666334"/>
            <a:ext cx="371475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Manual data transfer between multiple platforms creates friction and errors.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85750" y="4072077"/>
            <a:ext cx="285750" cy="28575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4331" y="4157802"/>
            <a:ext cx="12858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685800" y="4072077"/>
            <a:ext cx="367395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 Costs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85800" y="4302463"/>
            <a:ext cx="3673952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Traditional human scribes cost practices $35k-$50k annually per FTE.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0" y="1956857"/>
            <a:ext cx="4286250" cy="3043768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714875" y="2512926"/>
            <a:ext cx="1957388" cy="9229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714875" y="2512926"/>
            <a:ext cx="28575" cy="922939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829175" y="2627226"/>
            <a:ext cx="17287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829175" y="3041563"/>
            <a:ext cx="1728788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Of GP time spent on documentation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757988" y="2512926"/>
            <a:ext cx="1957388" cy="9229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757988" y="2512926"/>
            <a:ext cx="28575" cy="9229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872288" y="2627226"/>
            <a:ext cx="17287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#1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872288" y="3041563"/>
            <a:ext cx="1728788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Cause of physician burnout globally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714875" y="3521590"/>
            <a:ext cx="1957388" cy="9229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714875" y="3521590"/>
            <a:ext cx="28575" cy="9229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829175" y="3705876"/>
            <a:ext cx="17287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31k+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829175" y="4120214"/>
            <a:ext cx="1728788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GPs in Australia affected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757988" y="3521590"/>
            <a:ext cx="1957388" cy="9229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757988" y="3521590"/>
            <a:ext cx="28575" cy="9229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872288" y="3635890"/>
            <a:ext cx="17287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177M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872288" y="4050227"/>
            <a:ext cx="1728788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Annual services requiring notes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9774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285750" y="428625"/>
            <a:ext cx="8572500" cy="62292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285750" y="1037267"/>
            <a:ext cx="85725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85750" y="428625"/>
            <a:ext cx="85725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Global Momentum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85750" y="635794"/>
            <a:ext cx="8572500" cy="330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Massive Capital Inflow into AI Scribes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85750" y="1323017"/>
            <a:ext cx="3766682" cy="33782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71500" y="2049866"/>
            <a:ext cx="319518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Technavio Report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71500" y="2328472"/>
            <a:ext cx="319518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564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4145"/>
              <a:buFont typeface="Calibri"/>
              <a:buNone/>
            </a:pPr>
            <a:r>
              <a:rPr b="1" i="0" lang="en-US" sz="4145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$28.6B</a:t>
            </a:r>
            <a:endParaRPr b="0" i="0" sz="41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71500" y="2971409"/>
            <a:ext cx="3195182" cy="44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8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Medical Transcription Market by 2028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71500" y="3631481"/>
            <a:ext cx="31951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"AI scribe funding doubled to $800M in 2024. Investors see massive potential in ambient AI savings."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338182" y="1323017"/>
            <a:ext cx="4520068" cy="1030821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338182" y="1323017"/>
            <a:ext cx="42863" cy="103082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516775" y="1465892"/>
            <a:ext cx="65075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Startup Daily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264649" y="1465892"/>
            <a:ext cx="415007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Mar 2025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516775" y="1617697"/>
            <a:ext cx="4162881" cy="33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Heidi Health (Australia) raises </a:t>
            </a:r>
            <a:r>
              <a:rPr b="1" i="0" lang="en-US" sz="885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$16.6M</a:t>
            </a:r>
            <a:r>
              <a:rPr b="1" i="0" lang="en-US" sz="88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Series A to free up clinicians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16775" y="2023439"/>
            <a:ext cx="1558286" cy="18752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4516775" y="2023439"/>
            <a:ext cx="1558286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Australian Competitor Validation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338182" y="2496713"/>
            <a:ext cx="4520068" cy="1030821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338182" y="2496713"/>
            <a:ext cx="42863" cy="103082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516775" y="2639588"/>
            <a:ext cx="86291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Fierce Healthcare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8308544" y="2639588"/>
            <a:ext cx="371112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Feb 2024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516775" y="2791392"/>
            <a:ext cx="4162881" cy="33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Abridge clinches </a:t>
            </a:r>
            <a:r>
              <a:rPr b="1" i="0" lang="en-US" sz="885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$150M</a:t>
            </a:r>
            <a:r>
              <a:rPr b="1" i="0" lang="en-US" sz="88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build out generative AI for documentation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516775" y="3197135"/>
            <a:ext cx="1316710" cy="18752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516775" y="3197135"/>
            <a:ext cx="1316710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Series C • US Market Leader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338182" y="3670409"/>
            <a:ext cx="4520068" cy="1030821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338182" y="3670409"/>
            <a:ext cx="42863" cy="103082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516775" y="3813284"/>
            <a:ext cx="60085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VentureBeat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8268667" y="3813284"/>
            <a:ext cx="41098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July 2025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516775" y="3965088"/>
            <a:ext cx="4162881" cy="33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Freed announces </a:t>
            </a:r>
            <a:r>
              <a:rPr b="1" i="0" lang="en-US" sz="885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20,000+</a:t>
            </a:r>
            <a:r>
              <a:rPr b="1" i="0" lang="en-US" sz="88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clinicians actively using its AI scribe platform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516775" y="4370831"/>
            <a:ext cx="1236901" cy="18752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4516775" y="4370831"/>
            <a:ext cx="1236901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Massive Market Adoption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85750" y="4915542"/>
            <a:ext cx="8572500" cy="3250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285750" y="4915542"/>
            <a:ext cx="8572500" cy="7144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285750" y="4915542"/>
            <a:ext cx="8572500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005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market is validated. </a:t>
            </a:r>
            <a:r>
              <a:rPr b="1" i="0" lang="en-US" sz="885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Heidi Health's $16.6M raise</a:t>
            </a:r>
            <a:r>
              <a:rPr b="1" i="0" lang="en-US" sz="885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proves Australian investors are betting big on this specific technology.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285750" y="428625"/>
            <a:ext cx="8572500" cy="62292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285750" y="1037267"/>
            <a:ext cx="85725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285750" y="428625"/>
            <a:ext cx="85725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Market Opportunity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285750" y="635794"/>
            <a:ext cx="8572500" cy="330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Bottom-Up Australian Market Sizing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143000" y="1340151"/>
            <a:ext cx="3571875" cy="3571875"/>
          </a:xfrm>
          <a:prstGeom prst="ellipse">
            <a:avLst/>
          </a:prstGeom>
          <a:solidFill>
            <a:srgbClr val="F2F2F7"/>
          </a:solidFill>
          <a:ln cap="flat" cmpd="sng" w="18275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2821809" y="1625901"/>
            <a:ext cx="21422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TAM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2518479" y="1797351"/>
            <a:ext cx="8209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3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$63.8M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418299" y="2061670"/>
            <a:ext cx="1021249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Total Addressable Market</a:t>
            </a:r>
            <a:br>
              <a:rPr b="0" i="0" lang="en-US" sz="6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(100% of 70k Clinicians)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678781" y="2411713"/>
            <a:ext cx="2500313" cy="2500313"/>
          </a:xfrm>
          <a:prstGeom prst="ellipse">
            <a:avLst/>
          </a:prstGeom>
          <a:solidFill>
            <a:srgbClr val="E5E5EA"/>
          </a:solidFill>
          <a:ln cap="flat" cmpd="sng" w="182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2819716" y="2626026"/>
            <a:ext cx="21844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SAM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518479" y="2797476"/>
            <a:ext cx="8209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3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$36.5M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437888" y="3061795"/>
            <a:ext cx="982070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Serviceable Market</a:t>
            </a:r>
            <a:br>
              <a:rPr b="0" i="0" lang="en-US" sz="6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(Metro GPs + Specialists)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214563" y="3483276"/>
            <a:ext cx="1428750" cy="1428750"/>
          </a:xfrm>
          <a:prstGeom prst="ellipse">
            <a:avLst/>
          </a:prstGeom>
          <a:solidFill>
            <a:srgbClr val="000000"/>
          </a:solidFill>
          <a:ln cap="flat" cmpd="sng" w="27425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2561481" y="3863680"/>
            <a:ext cx="73491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Year 3 Target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518479" y="4035130"/>
            <a:ext cx="8209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3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$16.9M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552077" y="4299449"/>
            <a:ext cx="753721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Obtainable Market</a:t>
            </a:r>
            <a:b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(18,000 Users)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314950" y="1723234"/>
            <a:ext cx="268605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314950" y="1953620"/>
            <a:ext cx="26860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Calculated based on blended ARPU of $76/month (Base + Usage) across the AHPRA workforce.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314950" y="2467970"/>
            <a:ext cx="268605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Specialist Upside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314950" y="2698356"/>
            <a:ext cx="2686050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Includes 30,000+ specialists who generate higher revenue per consult and are underserved by current GP-focused tools.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314950" y="3362725"/>
            <a:ext cx="268605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Usage Revenue Layer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314950" y="3593111"/>
            <a:ext cx="26860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Our $30 base price removes friction, while usage top-ups drive ARPU to ~$76 as adoption scales.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143500" y="4250336"/>
            <a:ext cx="2857500" cy="278606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6375" y="4339633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5361384" y="4321773"/>
            <a:ext cx="129396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Validated Unit Economics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285750" y="428625"/>
            <a:ext cx="8572500" cy="62292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285750" y="1037267"/>
            <a:ext cx="85725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285750" y="428625"/>
            <a:ext cx="85725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85750" y="635794"/>
            <a:ext cx="8572500" cy="330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Enterprise-Grade Clinical Intelligence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85750" y="1323017"/>
            <a:ext cx="2035969" cy="3022169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285750" y="1323017"/>
            <a:ext cx="2035969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64344" y="1501611"/>
            <a:ext cx="357188" cy="35718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359" y="1608767"/>
            <a:ext cx="10715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/>
          <p:nvPr/>
        </p:nvSpPr>
        <p:spPr>
          <a:xfrm>
            <a:off x="464344" y="2001673"/>
            <a:ext cx="1678781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Ambient Scribe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64344" y="2267778"/>
            <a:ext cx="1678781" cy="1898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Passive listening technology captures the consult naturally, distinguishing between multiple speakers without wake words.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2464594" y="1323017"/>
            <a:ext cx="2035969" cy="3022169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2464594" y="1323017"/>
            <a:ext cx="2035969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2643188" y="1501611"/>
            <a:ext cx="357188" cy="35718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59273" y="1608767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/>
          <p:nvPr/>
        </p:nvSpPr>
        <p:spPr>
          <a:xfrm>
            <a:off x="2643188" y="2001673"/>
            <a:ext cx="1678781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Smart Structuring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2643188" y="2267778"/>
            <a:ext cx="1678781" cy="1898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Automatically converts dialogue into structured clinical notes (SOAP), letters, and summaries instantly.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643438" y="1323017"/>
            <a:ext cx="2035969" cy="3022169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643438" y="1323017"/>
            <a:ext cx="2035969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822031" y="1501611"/>
            <a:ext cx="357188" cy="35718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1328" y="1608767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/>
          <p:nvPr/>
        </p:nvSpPr>
        <p:spPr>
          <a:xfrm>
            <a:off x="4822031" y="2001673"/>
            <a:ext cx="1678781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Interoperability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822031" y="2267778"/>
            <a:ext cx="1678781" cy="1675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Built on HL7/FHIR standards for seamless integration with Practice Management Systems and Hospital EMRs.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2031" y="4065687"/>
            <a:ext cx="1143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/>
          <p:nvPr/>
        </p:nvSpPr>
        <p:spPr>
          <a:xfrm>
            <a:off x="4972050" y="4050506"/>
            <a:ext cx="821587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Hospital Ready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822281" y="1323017"/>
            <a:ext cx="2035969" cy="3022169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822281" y="1323017"/>
            <a:ext cx="2035969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7000875" y="1501611"/>
            <a:ext cx="357188" cy="35718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99102" y="1608767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/>
          <p:nvPr/>
        </p:nvSpPr>
        <p:spPr>
          <a:xfrm>
            <a:off x="7000875" y="2001673"/>
            <a:ext cx="1678781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Discharge Automation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000875" y="2267778"/>
            <a:ext cx="1678781" cy="1675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Generates immediate discharge summaries and operation notes, reducing bed block and admin delays.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00875" y="4065687"/>
            <a:ext cx="1143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"/>
          <p:cNvSpPr/>
          <p:nvPr/>
        </p:nvSpPr>
        <p:spPr>
          <a:xfrm>
            <a:off x="7150894" y="4050506"/>
            <a:ext cx="821587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Hospital Ready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285750" y="4559498"/>
            <a:ext cx="8572500" cy="44112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428625" y="4702373"/>
            <a:ext cx="55174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Consult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92439" y="4722912"/>
            <a:ext cx="7143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5"/>
          <p:cNvSpPr/>
          <p:nvPr/>
        </p:nvSpPr>
        <p:spPr>
          <a:xfrm>
            <a:off x="2675948" y="4702373"/>
            <a:ext cx="70912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Transcribe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" name="Google Shape;179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97148" y="4722912"/>
            <a:ext cx="7143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/>
          <p:nvPr/>
        </p:nvSpPr>
        <p:spPr>
          <a:xfrm>
            <a:off x="5080657" y="4702373"/>
            <a:ext cx="65117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Structure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43898" y="4722912"/>
            <a:ext cx="7143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"/>
          <p:cNvSpPr/>
          <p:nvPr/>
        </p:nvSpPr>
        <p:spPr>
          <a:xfrm>
            <a:off x="7427407" y="4702373"/>
            <a:ext cx="128782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Integrate (PMS/EMR)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/>
          <p:nvPr/>
        </p:nvSpPr>
        <p:spPr>
          <a:xfrm>
            <a:off x="285750" y="428625"/>
            <a:ext cx="8572500" cy="7874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285750" y="1201741"/>
            <a:ext cx="85725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285750" y="428625"/>
            <a:ext cx="85725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285750" y="635794"/>
            <a:ext cx="8572500" cy="330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Disruptive Per-User Pricing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85750" y="1637509"/>
            <a:ext cx="331470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Barrier to Entry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285750" y="1903614"/>
            <a:ext cx="33147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At ~$30/user, we are significantly cheaper than competitors ($100+), enabling rapid bottom-up adoption by individual doctors.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285750" y="2503689"/>
            <a:ext cx="331470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Usage Upside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285750" y="2769794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Base plan covers standard usage. Heavy users buy "Token Top-ups", increasing ARPU without penalizing light users.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285750" y="3198419"/>
            <a:ext cx="331470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Annual Lock-in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285750" y="3464523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705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17% discount for annual upfront payment improves cash flow and reduces churn.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85750" y="4064794"/>
            <a:ext cx="3314700" cy="99298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14338" y="4193381"/>
            <a:ext cx="305752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 Economics (Projected)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14338" y="4464844"/>
            <a:ext cx="1485900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$366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14338" y="4813102"/>
            <a:ext cx="14859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Annual Contract Value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1985963" y="4464844"/>
            <a:ext cx="1485900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&gt;3:1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1985963" y="4813102"/>
            <a:ext cx="14859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LTV:CAC Ratio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886200" y="1637509"/>
            <a:ext cx="4972050" cy="3420266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014788" y="1766097"/>
            <a:ext cx="89467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909458" y="1766097"/>
            <a:ext cx="146195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Includes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371416" y="1766097"/>
            <a:ext cx="116127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Monthly Price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7532694" y="1766097"/>
            <a:ext cx="119696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Effective / User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014788" y="2080422"/>
            <a:ext cx="894671" cy="366117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02100" spcFirstLastPara="1" rIns="102100" wrap="square" tIns="119125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909458" y="2080422"/>
            <a:ext cx="1461957" cy="366117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02100" spcFirstLastPara="1" rIns="102100" wrap="square" tIns="119125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 Clinician + Admin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6457141" y="2187578"/>
            <a:ext cx="35947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$29.99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532694" y="2080422"/>
            <a:ext cx="1196969" cy="366117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02100" spcFirstLastPara="1" rIns="102100" wrap="square" tIns="119125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$29.99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014788" y="2446539"/>
            <a:ext cx="894671" cy="36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02100" spcFirstLastPara="1" rIns="102100" wrap="square" tIns="119125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Team 3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909458" y="2446539"/>
            <a:ext cx="1461957" cy="36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02100" spcFirstLastPara="1" rIns="102100" wrap="square" tIns="119125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 Clinicians + Admin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6457141" y="2550123"/>
            <a:ext cx="35947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$87.00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7532694" y="2446539"/>
            <a:ext cx="1196969" cy="36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02100" spcFirstLastPara="1" rIns="102100" wrap="square" tIns="119125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$29.00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4014788" y="2809084"/>
            <a:ext cx="894671" cy="36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02100" spcFirstLastPara="1" rIns="102100" wrap="square" tIns="119125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Team 5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909458" y="2809084"/>
            <a:ext cx="1461957" cy="36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02100" spcFirstLastPara="1" rIns="102100" wrap="square" tIns="119125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 Clinicians + Admin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457141" y="2912669"/>
            <a:ext cx="42485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$144.99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7532694" y="2809084"/>
            <a:ext cx="1196969" cy="36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02100" spcFirstLastPara="1" rIns="102100" wrap="square" tIns="119125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$29.00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014788" y="3171630"/>
            <a:ext cx="894671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02100" spcFirstLastPara="1" rIns="102100" wrap="square" tIns="119125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4909458" y="3171630"/>
            <a:ext cx="1461957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02100" spcFirstLastPara="1" rIns="102100" wrap="square" tIns="119125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Unlimited + API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371416" y="3171630"/>
            <a:ext cx="2358247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125" lIns="102100" spcFirstLastPara="1" rIns="102100" wrap="square" tIns="119125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1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Custom Volume Pricing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0" name="Google Shape;2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7"/>
          <p:cNvSpPr/>
          <p:nvPr/>
        </p:nvSpPr>
        <p:spPr>
          <a:xfrm>
            <a:off x="285750" y="428625"/>
            <a:ext cx="8572500" cy="62292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285750" y="1037267"/>
            <a:ext cx="85725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285750" y="428625"/>
            <a:ext cx="85725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Competitive Landscape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285750" y="635794"/>
            <a:ext cx="8572500" cy="330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Superior Quality &amp; Accessible Pricing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285750" y="1258723"/>
            <a:ext cx="2141339" cy="341114"/>
          </a:xfrm>
          <a:prstGeom prst="rect">
            <a:avLst/>
          </a:prstGeom>
          <a:noFill/>
          <a:ln>
            <a:noFill/>
          </a:ln>
        </p:spPr>
        <p:txBody>
          <a:bodyPr anchorCtr="0" anchor="b" bIns="102100" lIns="85075" spcFirstLastPara="1" rIns="85075" wrap="square" tIns="10210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2427089" y="1258723"/>
            <a:ext cx="2141339" cy="341114"/>
          </a:xfrm>
          <a:prstGeom prst="rect">
            <a:avLst/>
          </a:prstGeom>
          <a:noFill/>
          <a:ln>
            <a:noFill/>
          </a:ln>
        </p:spPr>
        <p:txBody>
          <a:bodyPr anchorCtr="0" anchor="b" bIns="102100" lIns="85075" spcFirstLastPara="1" rIns="85075" wrap="square" tIns="10210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Nuance DAX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568428" y="1258723"/>
            <a:ext cx="2141339" cy="341114"/>
          </a:xfrm>
          <a:prstGeom prst="rect">
            <a:avLst/>
          </a:prstGeom>
          <a:noFill/>
          <a:ln>
            <a:noFill/>
          </a:ln>
        </p:spPr>
        <p:txBody>
          <a:bodyPr anchorCtr="0" anchor="b" bIns="102100" lIns="85075" spcFirstLastPara="1" rIns="85075" wrap="square" tIns="10210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Lyrebird Health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709767" y="1258723"/>
            <a:ext cx="2141339" cy="34111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6709767" y="1258723"/>
            <a:ext cx="2141339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6709767" y="1585550"/>
            <a:ext cx="2141339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7458438" y="1344448"/>
            <a:ext cx="64397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Arvi Health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7474600" y="985525"/>
            <a:ext cx="611700" cy="2535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7573450" y="997978"/>
            <a:ext cx="41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spAutoFit/>
          </a:bodyPr>
          <a:lstStyle/>
          <a:p>
            <a:pPr indent="0" lvl="0" marL="0" marR="0" rtl="0" algn="ctr">
              <a:lnSpc>
                <a:spcPct val="1443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5"/>
              <a:buFont typeface="Calibri"/>
              <a:buNone/>
            </a:pPr>
            <a:r>
              <a:rPr b="1" i="0" lang="en-US" sz="4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VALUE</a:t>
            </a:r>
            <a:endParaRPr b="0" i="0" sz="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285750" y="1585550"/>
            <a:ext cx="2141339" cy="337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Pricing Model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2427089" y="1585550"/>
            <a:ext cx="2141339" cy="337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Expensive Contract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568428" y="1585550"/>
            <a:ext cx="2141339" cy="337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Fixed Subscription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709767" y="1585550"/>
            <a:ext cx="2141339" cy="337542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8836819" y="1585550"/>
            <a:ext cx="14288" cy="33754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6709767" y="1915948"/>
            <a:ext cx="2141339" cy="7144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6709767" y="1585550"/>
            <a:ext cx="14288" cy="33754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6709767" y="1585550"/>
            <a:ext cx="2141339" cy="337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 User + Usage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285750" y="1923092"/>
            <a:ext cx="2141339" cy="33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Target Market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2427089" y="1923092"/>
            <a:ext cx="2141339" cy="33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Hospitals / Enterprise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568428" y="1923092"/>
            <a:ext cx="2141339" cy="33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General Practice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709767" y="1923092"/>
            <a:ext cx="2141339" cy="33397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8836819" y="1923092"/>
            <a:ext cx="14288" cy="3339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6709767" y="2249918"/>
            <a:ext cx="2141339" cy="7144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6709767" y="1923092"/>
            <a:ext cx="14288" cy="3339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6709767" y="1923092"/>
            <a:ext cx="2141339" cy="33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GP &amp; Specialist Clinics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285750" y="2257062"/>
            <a:ext cx="2141339" cy="33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Clinical Validation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2427089" y="2257062"/>
            <a:ext cx="2141339" cy="33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Standard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568428" y="2257062"/>
            <a:ext cx="2141339" cy="33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Standard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6709767" y="2257062"/>
            <a:ext cx="2141339" cy="33397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8836819" y="2257062"/>
            <a:ext cx="14288" cy="3339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6709767" y="2583889"/>
            <a:ext cx="2141339" cy="7144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6709767" y="2257062"/>
            <a:ext cx="14288" cy="3339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6709767" y="2257062"/>
            <a:ext cx="2141339" cy="33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Specialist-Led (Gastro)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285750" y="2591033"/>
            <a:ext cx="2141339" cy="33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Healthlink Integration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2427089" y="2591033"/>
            <a:ext cx="2141339" cy="33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Limited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0" name="Google Shape;2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1232" y="268925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/>
          <p:nvPr/>
        </p:nvSpPr>
        <p:spPr>
          <a:xfrm>
            <a:off x="6709767" y="2591033"/>
            <a:ext cx="2141339" cy="33397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8836819" y="2591033"/>
            <a:ext cx="14288" cy="3339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6709767" y="2917859"/>
            <a:ext cx="2141339" cy="7144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6709767" y="2591033"/>
            <a:ext cx="14288" cy="3339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1216" y="268925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7"/>
          <p:cNvSpPr/>
          <p:nvPr/>
        </p:nvSpPr>
        <p:spPr>
          <a:xfrm>
            <a:off x="7489803" y="2680329"/>
            <a:ext cx="70982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(In Progress)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285750" y="2925003"/>
            <a:ext cx="2141339" cy="33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Australian Compliance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8" name="Google Shape;27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3465" y="3023229"/>
            <a:ext cx="128588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9" name="Google Shape;27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1232" y="302322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7"/>
          <p:cNvSpPr/>
          <p:nvPr/>
        </p:nvSpPr>
        <p:spPr>
          <a:xfrm>
            <a:off x="6709767" y="2925003"/>
            <a:ext cx="2141339" cy="33397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8836819" y="2925003"/>
            <a:ext cx="14288" cy="3339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6709767" y="3251829"/>
            <a:ext cx="2141339" cy="7144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6709767" y="2925003"/>
            <a:ext cx="14288" cy="3339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4" name="Google Shape;28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6143" y="302322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7"/>
          <p:cNvSpPr/>
          <p:nvPr/>
        </p:nvSpPr>
        <p:spPr>
          <a:xfrm>
            <a:off x="285750" y="3258973"/>
            <a:ext cx="2141339" cy="33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Entry Barrier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2427089" y="3258973"/>
            <a:ext cx="2141339" cy="33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High ($$$$)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4568428" y="3258973"/>
            <a:ext cx="2141339" cy="33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Medium ($$)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6709767" y="3258973"/>
            <a:ext cx="2141339" cy="33397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8836819" y="3258973"/>
            <a:ext cx="14288" cy="3339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6709767" y="3585800"/>
            <a:ext cx="2141339" cy="7144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6709767" y="3258973"/>
            <a:ext cx="14288" cy="3339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6709767" y="3258973"/>
            <a:ext cx="2141339" cy="33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85075" spcFirstLastPara="1" rIns="85075" wrap="square" tIns="102100">
            <a:sp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Lowest (~$30/mo)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285750" y="4212692"/>
            <a:ext cx="8572500" cy="7879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4" name="Google Shape;29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4338" y="44950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7"/>
          <p:cNvSpPr/>
          <p:nvPr/>
        </p:nvSpPr>
        <p:spPr>
          <a:xfrm>
            <a:off x="771525" y="4341279"/>
            <a:ext cx="795813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Quality Advantage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771525" y="4552020"/>
            <a:ext cx="7958138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Unlike generalist competitors, Arvi's transcription engine is being trained and validated daily in a specialist gastroenterology setting, ensuring superior handling of complex medical terminology.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2" name="Google Shape;3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8"/>
          <p:cNvSpPr/>
          <p:nvPr/>
        </p:nvSpPr>
        <p:spPr>
          <a:xfrm>
            <a:off x="285750" y="428625"/>
            <a:ext cx="8572500" cy="62292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285750" y="1037267"/>
            <a:ext cx="85725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285750" y="428625"/>
            <a:ext cx="85725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Traction &amp; Validation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285750" y="635794"/>
            <a:ext cx="8572500" cy="330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Proven in Real Clinical Setting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285750" y="1251579"/>
            <a:ext cx="8572500" cy="826889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285750" y="1251579"/>
            <a:ext cx="42863" cy="826889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371475" y="1337304"/>
            <a:ext cx="5715000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Live Deployment: Sydney Gut Clinic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371475" y="1642700"/>
            <a:ext cx="571500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Currently running in production, validated daily by specialists in complex gastroenterology consultations. Owned by Co-founder Dr Suhirdan.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7426263" y="1554296"/>
            <a:ext cx="1346262" cy="2214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7426263" y="1554296"/>
            <a:ext cx="134626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119125" spcFirstLastPara="1" rIns="119125" wrap="square" tIns="51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 Ready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285750" y="2221343"/>
            <a:ext cx="4071938" cy="22502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Development Milestones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553528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8"/>
          <p:cNvSpPr/>
          <p:nvPr/>
        </p:nvSpPr>
        <p:spPr>
          <a:xfrm>
            <a:off x="521494" y="2532097"/>
            <a:ext cx="235514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Core AI transcription engine fully developed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6" name="Google Shape;31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2784974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8"/>
          <p:cNvSpPr/>
          <p:nvPr/>
        </p:nvSpPr>
        <p:spPr>
          <a:xfrm>
            <a:off x="521494" y="2763543"/>
            <a:ext cx="2244393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Patient profile &amp; records system complete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8" name="Google Shape;31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" y="3016421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8"/>
          <p:cNvSpPr/>
          <p:nvPr/>
        </p:nvSpPr>
        <p:spPr>
          <a:xfrm>
            <a:off x="521494" y="2994989"/>
            <a:ext cx="2178007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Automated referral letter generation live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0" name="Google Shape;32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3247867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8"/>
          <p:cNvSpPr/>
          <p:nvPr/>
        </p:nvSpPr>
        <p:spPr>
          <a:xfrm>
            <a:off x="521494" y="3226436"/>
            <a:ext cx="2069064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Australian privacy compliance certified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4643438" y="2221343"/>
            <a:ext cx="4214813" cy="285071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4857750" y="2435656"/>
            <a:ext cx="3786188" cy="22502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12-Month Post-Launch Targets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4857750" y="2746409"/>
            <a:ext cx="1835944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857750" y="3132172"/>
            <a:ext cx="183594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Practices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6807994" y="2746409"/>
            <a:ext cx="1835944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$3M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6807994" y="3132172"/>
            <a:ext cx="183594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ARR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4857750" y="3382203"/>
            <a:ext cx="1835944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1,800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857750" y="3767965"/>
            <a:ext cx="183594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Active Users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6807994" y="3382203"/>
            <a:ext cx="1835944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&gt;50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6807994" y="3767965"/>
            <a:ext cx="183594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NPS Score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4857750" y="4125153"/>
            <a:ext cx="378618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Commercial Launch Date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4857750" y="4276958"/>
            <a:ext cx="37861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March 2026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9" name="Google Shape;3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9"/>
          <p:cNvSpPr/>
          <p:nvPr/>
        </p:nvSpPr>
        <p:spPr>
          <a:xfrm>
            <a:off x="285750" y="428625"/>
            <a:ext cx="8572500" cy="62292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285750" y="1037267"/>
            <a:ext cx="85725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285750" y="428625"/>
            <a:ext cx="85725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Go-to-Market Strategy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285750" y="635794"/>
            <a:ext cx="8572500" cy="330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Focused Growth to Enterprise Scale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285750" y="1323017"/>
            <a:ext cx="2771775" cy="2898939"/>
          </a:xfrm>
          <a:prstGeom prst="rect">
            <a:avLst/>
          </a:prstGeom>
          <a:solidFill>
            <a:srgbClr val="F2F2F7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500063" y="1537329"/>
            <a:ext cx="232409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500063" y="1724853"/>
            <a:ext cx="232409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Launch &amp; Adoption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500063" y="1994529"/>
            <a:ext cx="232409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Months 1-6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500063" y="2273136"/>
            <a:ext cx="4026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607219" y="2273136"/>
            <a:ext cx="215202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Launch with Sydney Gut Clinic as reference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500063" y="2491020"/>
            <a:ext cx="4026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607219" y="2491020"/>
            <a:ext cx="2075204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Focus on Metro Sydney &amp; Melbourne GPs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500063" y="2708904"/>
            <a:ext cx="4026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607219" y="2708904"/>
            <a:ext cx="156492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Direct sales to private practices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500063" y="2926789"/>
            <a:ext cx="4026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607219" y="2926789"/>
            <a:ext cx="1367219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30-day free trial acquisition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500063" y="3696891"/>
            <a:ext cx="2324091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Practices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500063" y="3891558"/>
            <a:ext cx="232409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Target Milestone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3402797" y="1544473"/>
            <a:ext cx="232409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3402797" y="1731997"/>
            <a:ext cx="232409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Market Expansion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3402797" y="2001673"/>
            <a:ext cx="232409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Months 7-12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3402797" y="2280279"/>
            <a:ext cx="4026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3509953" y="2280279"/>
            <a:ext cx="178546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Rollout to Brisbane, Perth, Adelaide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3402797" y="2498164"/>
            <a:ext cx="4026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3509953" y="2498164"/>
            <a:ext cx="1491844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Launch Healthlink integration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3402797" y="2716048"/>
            <a:ext cx="4026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3509953" y="2716048"/>
            <a:ext cx="2013812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Partnerships with Practice Management Software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3402797" y="3080379"/>
            <a:ext cx="4026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3509953" y="3080379"/>
            <a:ext cx="218202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Specialist vertical expansion (Cardio, Ortho)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3402797" y="3689747"/>
            <a:ext cx="2324091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500 Practices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3402797" y="3884414"/>
            <a:ext cx="232409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Target Milestone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312675" y="1565904"/>
            <a:ext cx="232409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6312675" y="1753428"/>
            <a:ext cx="232409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&amp; Hospital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6312675" y="2023104"/>
            <a:ext cx="232409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Year 2+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6312675" y="2301711"/>
            <a:ext cx="4026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419831" y="2301711"/>
            <a:ext cx="127055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Hospital Network Pilots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6419831" y="2301711"/>
            <a:ext cx="1835079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(Discharge Summaries)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6312675" y="2666042"/>
            <a:ext cx="4026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6419831" y="2666042"/>
            <a:ext cx="210327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Registrar support tools to reduce burnout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6312675" y="2883926"/>
            <a:ext cx="4026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6419831" y="2883926"/>
            <a:ext cx="214142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Deep EMR integrations (InfoMedix/Cerner)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6312675" y="3101811"/>
            <a:ext cx="4026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6419831" y="3101811"/>
            <a:ext cx="1263802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Enterprise-wide licensing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6312675" y="3689747"/>
            <a:ext cx="2324091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$10M+ ARR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6312675" y="3884414"/>
            <a:ext cx="232409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Target Milestone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285750" y="4507706"/>
            <a:ext cx="8572500" cy="49291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464344" y="4686300"/>
            <a:ext cx="75031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Channels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7" name="Google Shape;38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8973" y="4704159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9"/>
          <p:cNvSpPr/>
          <p:nvPr/>
        </p:nvSpPr>
        <p:spPr>
          <a:xfrm>
            <a:off x="1587922" y="4686300"/>
            <a:ext cx="75852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 Outreach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9" name="Google Shape;38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2193" y="4704159"/>
            <a:ext cx="12501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9"/>
          <p:cNvSpPr/>
          <p:nvPr/>
        </p:nvSpPr>
        <p:spPr>
          <a:xfrm>
            <a:off x="2828646" y="4686300"/>
            <a:ext cx="100902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Medical Partnerships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23423" y="4704159"/>
            <a:ext cx="12501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9"/>
          <p:cNvSpPr/>
          <p:nvPr/>
        </p:nvSpPr>
        <p:spPr>
          <a:xfrm>
            <a:off x="4319876" y="4686300"/>
            <a:ext cx="88381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Hospital Networks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3" name="Google Shape;39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9442" y="4704159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9"/>
          <p:cNvSpPr/>
          <p:nvPr/>
        </p:nvSpPr>
        <p:spPr>
          <a:xfrm>
            <a:off x="5648390" y="4686300"/>
            <a:ext cx="83400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Marketing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0" name="Google Shape;4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6134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0"/>
          <p:cNvSpPr/>
          <p:nvPr/>
        </p:nvSpPr>
        <p:spPr>
          <a:xfrm>
            <a:off x="285750" y="428625"/>
            <a:ext cx="8572500" cy="62292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285750" y="1037267"/>
            <a:ext cx="85725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285750" y="428625"/>
            <a:ext cx="85725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Financial Projections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285750" y="635794"/>
            <a:ext cx="8572500" cy="330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Path to $10M+ ARR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285750" y="1251579"/>
            <a:ext cx="5524491" cy="2552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6" name="Google Shape;40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75" y="1337304"/>
            <a:ext cx="5338502" cy="2366702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0"/>
          <p:cNvSpPr/>
          <p:nvPr/>
        </p:nvSpPr>
        <p:spPr>
          <a:xfrm>
            <a:off x="285750" y="3846881"/>
            <a:ext cx="207260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2358358" y="3846881"/>
            <a:ext cx="110362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Year 1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3461984" y="3846881"/>
            <a:ext cx="110362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Year 2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4565610" y="3846881"/>
            <a:ext cx="12446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Year 3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285750" y="4104056"/>
            <a:ext cx="2072608" cy="260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Active Users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2358358" y="4104056"/>
            <a:ext cx="1103626" cy="260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2,500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3461984" y="4104056"/>
            <a:ext cx="1103626" cy="260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8,000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4565610" y="4104056"/>
            <a:ext cx="1244631" cy="260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18,000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285750" y="4364803"/>
            <a:ext cx="207260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Blended ARPU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2358358" y="4364803"/>
            <a:ext cx="110362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$76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3461984" y="4364803"/>
            <a:ext cx="110362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$76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4565610" y="4364803"/>
            <a:ext cx="12446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$76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285750" y="4621978"/>
            <a:ext cx="207260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YoY Growth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2358358" y="4621978"/>
            <a:ext cx="110362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3461984" y="4621978"/>
            <a:ext cx="110362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240%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4565610" y="4621978"/>
            <a:ext cx="12446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116%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285750" y="4879153"/>
            <a:ext cx="2072608" cy="25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Total ARR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2358358" y="4879153"/>
            <a:ext cx="1103626" cy="25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$2.3M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3461984" y="4879153"/>
            <a:ext cx="1103626" cy="25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$7.8M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4565610" y="4879153"/>
            <a:ext cx="1244631" cy="25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$16.9M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6095991" y="1251579"/>
            <a:ext cx="2762259" cy="767953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6095991" y="1251579"/>
            <a:ext cx="28575" cy="76795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6181716" y="1337304"/>
            <a:ext cx="259080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Blended ARPU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6181716" y="1508754"/>
            <a:ext cx="2590809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~$76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6181716" y="1817722"/>
            <a:ext cx="259080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$30 Base + $46 Usage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6095991" y="2105258"/>
            <a:ext cx="2762259" cy="767953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6095991" y="2105258"/>
            <a:ext cx="28575" cy="76795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6181716" y="2190983"/>
            <a:ext cx="259080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LTV : CAC Target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6181716" y="2362433"/>
            <a:ext cx="2590809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5.1:1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6181716" y="2671400"/>
            <a:ext cx="259080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Highly Efficient Growth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6095991" y="2958936"/>
            <a:ext cx="2762259" cy="767953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6095991" y="2958936"/>
            <a:ext cx="28575" cy="76795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6181716" y="3044661"/>
            <a:ext cx="259080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Market Penetration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6181716" y="3216111"/>
            <a:ext cx="2590809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46%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6181716" y="3525078"/>
            <a:ext cx="259080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Of Initial SAM by Year 3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6095991" y="3812614"/>
            <a:ext cx="2762259" cy="76795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6095991" y="3812614"/>
            <a:ext cx="28575" cy="767953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6181716" y="3898339"/>
            <a:ext cx="259080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Series A Goal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6181716" y="4069789"/>
            <a:ext cx="2590809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 Year 2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6181716" y="4378756"/>
            <a:ext cx="259080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@ $5M+ ARR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2" name="Google Shape;4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629247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1"/>
          <p:cNvSpPr/>
          <p:nvPr/>
        </p:nvSpPr>
        <p:spPr>
          <a:xfrm>
            <a:off x="285750" y="428625"/>
            <a:ext cx="8572500" cy="62292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285750" y="1037267"/>
            <a:ext cx="85725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285750" y="428625"/>
            <a:ext cx="85725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285750" y="635794"/>
            <a:ext cx="8572500" cy="330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Clinical Expertise Meets Tech Excellence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285750" y="1251579"/>
            <a:ext cx="4143375" cy="3311463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285750" y="1251579"/>
            <a:ext cx="4143375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9" name="Google Shape;45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92693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1"/>
          <p:cNvSpPr/>
          <p:nvPr/>
        </p:nvSpPr>
        <p:spPr>
          <a:xfrm>
            <a:off x="571500" y="2069539"/>
            <a:ext cx="3571875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Ari Vivekanandarajah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571500" y="2417797"/>
            <a:ext cx="35718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Co-Founder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571500" y="2816061"/>
            <a:ext cx="100013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750094" y="2789272"/>
            <a:ext cx="65954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Successful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1409635" y="2789272"/>
            <a:ext cx="57183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SaaS Exit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571500" y="3103234"/>
            <a:ext cx="100013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750101" y="3076450"/>
            <a:ext cx="33330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20+ years experience in B2B marketing &amp; growth and </a:t>
            </a:r>
            <a:r>
              <a:rPr lang="en-US" sz="942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Agency owner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571500" y="3390407"/>
            <a:ext cx="100013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750094" y="3363618"/>
            <a:ext cx="255542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Expertise in scaling technology companies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571500" y="3677580"/>
            <a:ext cx="100013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750094" y="3650791"/>
            <a:ext cx="222675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Leads strategy, sales, and operations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4714875" y="1251579"/>
            <a:ext cx="4143375" cy="3311463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4714875" y="1251579"/>
            <a:ext cx="4143375" cy="285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3" name="Google Shape;47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0625" y="1592693"/>
            <a:ext cx="250031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1"/>
          <p:cNvSpPr/>
          <p:nvPr/>
        </p:nvSpPr>
        <p:spPr>
          <a:xfrm>
            <a:off x="5000625" y="2069539"/>
            <a:ext cx="3571875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 Suhirdan Vivekanandarajah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5000625" y="2730336"/>
            <a:ext cx="35718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Co-Founder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5000625" y="3128600"/>
            <a:ext cx="100013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5179219" y="3101811"/>
            <a:ext cx="62853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Practising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5807757" y="3101811"/>
            <a:ext cx="121273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Gastroenterologist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7020492" y="3101811"/>
            <a:ext cx="92302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&amp; Clinic Owner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5000625" y="3415773"/>
            <a:ext cx="100013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5179219" y="3388984"/>
            <a:ext cx="250617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Provides deep clinical workflow validation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5000625" y="3702946"/>
            <a:ext cx="100013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5179219" y="3676157"/>
            <a:ext cx="262820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Direct access to medical specialist networks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5000625" y="3990119"/>
            <a:ext cx="100013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5179219" y="3963330"/>
            <a:ext cx="281801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Leads product vision and medical partnerships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285750" y="4820217"/>
            <a:ext cx="8572500" cy="6232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1780161" y="5034530"/>
            <a:ext cx="558365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50-50 partnership combining </a:t>
            </a:r>
            <a:r>
              <a:rPr b="1" i="0" lang="en-US" sz="987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proven SaaS scaling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b="1" i="0" lang="en-US" sz="987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deep medical authority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569953" y="3938743"/>
            <a:ext cx="999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748550" y="3911950"/>
            <a:ext cx="29856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Calibri"/>
              <a:buNone/>
            </a:pPr>
            <a:r>
              <a:rPr lang="en-US" sz="942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Specialist in healthcare and health services marketing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5" name="Google Shape;4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2"/>
          <p:cNvSpPr/>
          <p:nvPr/>
        </p:nvSpPr>
        <p:spPr>
          <a:xfrm>
            <a:off x="285750" y="428625"/>
            <a:ext cx="8572500" cy="62292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285750" y="1037267"/>
            <a:ext cx="85725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2"/>
          <p:cNvSpPr/>
          <p:nvPr/>
        </p:nvSpPr>
        <p:spPr>
          <a:xfrm>
            <a:off x="285750" y="428625"/>
            <a:ext cx="85725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Investment Highlights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285750" y="635794"/>
            <a:ext cx="8572500" cy="330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Invest Now?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285750" y="1251579"/>
            <a:ext cx="2714625" cy="1695915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285750" y="1251579"/>
            <a:ext cx="28575" cy="169591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2" name="Google Shape;50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063" y="15105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2"/>
          <p:cNvSpPr/>
          <p:nvPr/>
        </p:nvSpPr>
        <p:spPr>
          <a:xfrm>
            <a:off x="500063" y="1921306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$28.6B Global Market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500063" y="2164193"/>
            <a:ext cx="228600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Massive tailwinds with recent $150M+ raises in the sector (Abridge, Tandem).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3214688" y="1251579"/>
            <a:ext cx="2714625" cy="169591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3214688" y="1251579"/>
            <a:ext cx="28575" cy="1695915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7" name="Google Shape;50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9000" y="151054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2"/>
          <p:cNvSpPr/>
          <p:nvPr/>
        </p:nvSpPr>
        <p:spPr>
          <a:xfrm>
            <a:off x="3429000" y="1921306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Exceptional Team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3429000" y="2164193"/>
            <a:ext cx="2286000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Rare combination of a successful SaaS Exit Founder and a practising Medical Specialist.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6143625" y="1251579"/>
            <a:ext cx="2714625" cy="1695915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6143625" y="1251579"/>
            <a:ext cx="28575" cy="169591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2" name="Google Shape;51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57938" y="15105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2"/>
          <p:cNvSpPr/>
          <p:nvPr/>
        </p:nvSpPr>
        <p:spPr>
          <a:xfrm>
            <a:off x="6357938" y="1921306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Clinical Validation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6357938" y="2164193"/>
            <a:ext cx="228600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Product is live, tested, and validated daily in a complex specialist clinic environment.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285750" y="3161807"/>
            <a:ext cx="2714625" cy="1695943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285750" y="3161807"/>
            <a:ext cx="28575" cy="16959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7" name="Google Shape;517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0063" y="34207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2"/>
          <p:cNvSpPr/>
          <p:nvPr/>
        </p:nvSpPr>
        <p:spPr>
          <a:xfrm>
            <a:off x="500063" y="3831534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Disruptive Pricing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500063" y="4074421"/>
            <a:ext cx="2286000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~$30/user/month entry point significantly undercuts competitors, driving rapid adoption.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3214688" y="3161807"/>
            <a:ext cx="2714625" cy="1695943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3214688" y="3161807"/>
            <a:ext cx="28575" cy="16959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2" name="Google Shape;522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29000" y="3420768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2"/>
          <p:cNvSpPr/>
          <p:nvPr/>
        </p:nvSpPr>
        <p:spPr>
          <a:xfrm>
            <a:off x="3429000" y="3831534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Strategic Hospital Value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3429000" y="4074421"/>
            <a:ext cx="2286000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Architecture ready for InfoMedix integration and automated discharge summaries to reduce bed block.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6143625" y="3161807"/>
            <a:ext cx="2714625" cy="1695943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2"/>
          <p:cNvSpPr/>
          <p:nvPr/>
        </p:nvSpPr>
        <p:spPr>
          <a:xfrm>
            <a:off x="6143625" y="3161807"/>
            <a:ext cx="28575" cy="16959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7" name="Google Shape;527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57938" y="34207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2"/>
          <p:cNvSpPr/>
          <p:nvPr/>
        </p:nvSpPr>
        <p:spPr>
          <a:xfrm>
            <a:off x="6357938" y="3831534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High-Growth Trajectory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6357938" y="4074421"/>
            <a:ext cx="2286000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Projecting $16.9M ARR by Year 3 with rapid acceleration to $2.3M ARR in Year 1.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5" name="Google Shape;5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3"/>
          <p:cNvSpPr/>
          <p:nvPr/>
        </p:nvSpPr>
        <p:spPr>
          <a:xfrm>
            <a:off x="285750" y="428625"/>
            <a:ext cx="8572500" cy="62292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3"/>
          <p:cNvSpPr/>
          <p:nvPr/>
        </p:nvSpPr>
        <p:spPr>
          <a:xfrm>
            <a:off x="285750" y="1037267"/>
            <a:ext cx="85725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3"/>
          <p:cNvSpPr/>
          <p:nvPr/>
        </p:nvSpPr>
        <p:spPr>
          <a:xfrm>
            <a:off x="285750" y="428625"/>
            <a:ext cx="85725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285750" y="635794"/>
            <a:ext cx="8572500" cy="330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Join Us in Transforming Healthcare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285750" y="1681265"/>
            <a:ext cx="417909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5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74"/>
              <a:buFont typeface="Calibri"/>
              <a:buNone/>
            </a:pPr>
            <a:r>
              <a:rPr b="1" i="0" lang="en-US" sz="497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$2.0M</a:t>
            </a:r>
            <a:endParaRPr b="0" i="0" sz="49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285750" y="2424215"/>
            <a:ext cx="4179094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Seed Round Investment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285750" y="2872485"/>
            <a:ext cx="103545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Sales &amp; Marketing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4231081" y="2872485"/>
            <a:ext cx="23376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285750" y="3063580"/>
            <a:ext cx="4179094" cy="5715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3"/>
          <p:cNvSpPr/>
          <p:nvPr/>
        </p:nvSpPr>
        <p:spPr>
          <a:xfrm>
            <a:off x="285750" y="3206455"/>
            <a:ext cx="124256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Product Development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4231081" y="3206455"/>
            <a:ext cx="23376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285750" y="3397551"/>
            <a:ext cx="4179094" cy="5715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285750" y="3540426"/>
            <a:ext cx="123684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Operations &amp; Support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4231081" y="3540426"/>
            <a:ext cx="23376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285750" y="3731521"/>
            <a:ext cx="4179094" cy="5715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285750" y="3874396"/>
            <a:ext cx="91635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Working Capital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4296463" y="3874396"/>
            <a:ext cx="16838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5%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285750" y="4065491"/>
            <a:ext cx="4179094" cy="5715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4679156" y="1394454"/>
            <a:ext cx="4179094" cy="3015025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3"/>
          <p:cNvSpPr/>
          <p:nvPr/>
        </p:nvSpPr>
        <p:spPr>
          <a:xfrm>
            <a:off x="4679156" y="1394454"/>
            <a:ext cx="28575" cy="30150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3"/>
          <p:cNvSpPr/>
          <p:nvPr/>
        </p:nvSpPr>
        <p:spPr>
          <a:xfrm>
            <a:off x="4893469" y="1775920"/>
            <a:ext cx="375046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12-Month Deliverables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7" name="Google Shape;55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3469" y="2134893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13"/>
          <p:cNvSpPr/>
          <p:nvPr/>
        </p:nvSpPr>
        <p:spPr>
          <a:xfrm>
            <a:off x="5179219" y="2113462"/>
            <a:ext cx="2572531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Market Leadership</a:t>
            </a:r>
            <a:b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Secure </a:t>
            </a:r>
            <a:r>
              <a:rPr lang="en-US" sz="942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2,500</a:t>
            </a: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active users across Australia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9" name="Google Shape;55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3469" y="261352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13"/>
          <p:cNvSpPr/>
          <p:nvPr/>
        </p:nvSpPr>
        <p:spPr>
          <a:xfrm>
            <a:off x="5179219" y="2592093"/>
            <a:ext cx="1673591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Revenue Growth</a:t>
            </a:r>
            <a:b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Achieve $</a:t>
            </a: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 ARR run-rate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1" name="Google Shape;56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3469" y="3092155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3"/>
          <p:cNvSpPr/>
          <p:nvPr/>
        </p:nvSpPr>
        <p:spPr>
          <a:xfrm>
            <a:off x="5214938" y="3070724"/>
            <a:ext cx="2962675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Product Scale</a:t>
            </a:r>
            <a:b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Full Healthlink integration &amp; Enterprise readiness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3" name="Google Shape;56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93469" y="3570787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13"/>
          <p:cNvSpPr/>
          <p:nvPr/>
        </p:nvSpPr>
        <p:spPr>
          <a:xfrm>
            <a:off x="5197078" y="3549355"/>
            <a:ext cx="2639923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Series A Ready</a:t>
            </a:r>
            <a:b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4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Positioned for Series A at $5M+ ARR (Year 2)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3"/>
          <p:cNvSpPr/>
          <p:nvPr/>
        </p:nvSpPr>
        <p:spPr>
          <a:xfrm>
            <a:off x="285750" y="4623792"/>
            <a:ext cx="8572500" cy="37683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3"/>
          <p:cNvSpPr/>
          <p:nvPr/>
        </p:nvSpPr>
        <p:spPr>
          <a:xfrm>
            <a:off x="285750" y="4623792"/>
            <a:ext cx="8572500" cy="7144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3"/>
          <p:cNvSpPr/>
          <p:nvPr/>
        </p:nvSpPr>
        <p:spPr>
          <a:xfrm>
            <a:off x="285750" y="4845248"/>
            <a:ext cx="190654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Ari Vivekanandarajah, Co-Founder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3"/>
          <p:cNvSpPr/>
          <p:nvPr/>
        </p:nvSpPr>
        <p:spPr>
          <a:xfrm>
            <a:off x="5690611" y="4845248"/>
            <a:ext cx="126290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WEB arvihealth.com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3"/>
          <p:cNvSpPr/>
          <p:nvPr/>
        </p:nvSpPr>
        <p:spPr>
          <a:xfrm>
            <a:off x="7239270" y="4845248"/>
            <a:ext cx="161898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EMAIL ari@arvihealth.com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5" name="Google Shape;5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14"/>
          <p:cNvSpPr/>
          <p:nvPr/>
        </p:nvSpPr>
        <p:spPr>
          <a:xfrm>
            <a:off x="1357313" y="575463"/>
            <a:ext cx="6429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40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4410"/>
              <a:buFont typeface="Calibri"/>
              <a:buNone/>
            </a:pPr>
            <a:r>
              <a:rPr b="0" i="0" lang="en-US" sz="441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b="0" i="0" sz="4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1357313" y="1289838"/>
            <a:ext cx="6429375" cy="1560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6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45"/>
              <a:buFont typeface="Calibri"/>
              <a:buNone/>
            </a:pPr>
            <a:r>
              <a:rPr b="0" i="0" lang="en-US" sz="304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believe clinicians should spend their time </a:t>
            </a:r>
            <a:r>
              <a:rPr b="1" i="0" lang="en-US" sz="286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caring for patients</a:t>
            </a:r>
            <a:r>
              <a:rPr b="0" i="0" lang="en-US" sz="304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not fighting with paperwork.</a:t>
            </a:r>
            <a:endParaRPr b="0" i="0" sz="30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2071688" y="3592916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Arvi Health uses AI to eliminate documentation burden, reduce burnout, and restore the joy of practising medicine.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1357313" y="4393016"/>
            <a:ext cx="170615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Web arvihealth.com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3492094" y="4393016"/>
            <a:ext cx="219751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Email ari@arvihealth.com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"/>
          <p:cNvSpPr/>
          <p:nvPr/>
        </p:nvSpPr>
        <p:spPr>
          <a:xfrm>
            <a:off x="548640" y="1150000"/>
            <a:ext cx="8046720" cy="127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eyebrow"/>
          <p:cNvSpPr/>
          <p:nvPr/>
        </p:nvSpPr>
        <p:spPr>
          <a:xfrm>
            <a:off x="548640" y="402000"/>
            <a:ext cx="600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spc="120" dirty="0">
                <a:solidFill>
                  <a:srgbClr val="FF3B30"/>
                </a:solidFill>
                <a:latin typeface="Calibri" pitchFamily="34" charset="0"/>
                <a:cs typeface="Calibri" pitchFamily="34" charset="0"/>
              </a:rPr>
              <a:t>THE PRODUCT</a:t>
            </a:r>
            <a:endParaRPr lang="en-US" sz="900" b="1" spc="120" dirty="0"/>
          </a:p>
        </p:txBody>
      </p:sp>
      <p:sp>
        <p:nvSpPr>
          <p:cNvPr id="4" name="title"/>
          <p:cNvSpPr/>
          <p:nvPr/>
        </p:nvSpPr>
        <p:spPr>
          <a:xfrm>
            <a:off x="548640" y="628000"/>
            <a:ext cx="804672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One consult, every document</a:t>
            </a:r>
            <a:endParaRPr lang="en-US" sz="2000" b="1" dirty="0"/>
          </a:p>
        </p:txBody>
      </p:sp>
      <p:sp>
        <p:nvSpPr>
          <p:cNvPr id="5" name="subtitle"/>
          <p:cNvSpPr/>
          <p:nvPr/>
        </p:nvSpPr>
        <p:spPr>
          <a:xfrm>
            <a:off x="548640" y="124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One recording becomes the note written for you, your letters your way, and the referral drafted on the spot.</a:t>
            </a:r>
            <a:endParaRPr lang="en-US" sz="1100" dirty="0"/>
          </a:p>
        </p:txBody>
      </p:sp>
      <p:pic>
        <p:nvPicPr>
          <p:cNvPr id="6" name="ui-startconsult" descr="Arvi Quick Record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20000"/>
            <a:ext cx="2562240" cy="1601400"/>
          </a:xfrm>
          <a:prstGeom prst="rect">
            <a:avLst/>
          </a:prstGeom>
          <a:effectLst>
            <a:outerShdw blurRad="127000" dist="38100" dir="5400000" rotWithShape="0">
              <a:srgbClr val="000000">
                <a:alpha val="22000"/>
              </a:srgbClr>
            </a:outerShdw>
          </a:effectLst>
        </p:spPr>
      </p:pic>
      <p:pic>
        <p:nvPicPr>
          <p:cNvPr id="7" name="ui-letterformat" descr="Arvi Letter Format edi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880" y="1620000"/>
            <a:ext cx="2562240" cy="1601400"/>
          </a:xfrm>
          <a:prstGeom prst="rect">
            <a:avLst/>
          </a:prstGeom>
          <a:effectLst>
            <a:outerShdw blurRad="127000" dist="38100" dir="5400000" rotWithShape="0">
              <a:srgbClr val="000000">
                <a:alpha val="22000"/>
              </a:srgbClr>
            </a:outerShdw>
          </a:effectLst>
        </p:spPr>
      </p:pic>
      <p:pic>
        <p:nvPicPr>
          <p:cNvPr id="8" name="ui-referral" descr="Arvi referral with version tabs and not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120" y="1620000"/>
            <a:ext cx="2562240" cy="1601400"/>
          </a:xfrm>
          <a:prstGeom prst="rect">
            <a:avLst/>
          </a:prstGeom>
          <a:effectLst>
            <a:outerShdw blurRad="127000" dist="381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9" name="cap1"/>
          <p:cNvSpPr/>
          <p:nvPr/>
        </p:nvSpPr>
        <p:spPr>
          <a:xfrm>
            <a:off x="548640" y="3300000"/>
            <a:ext cx="256224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Start your consult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Open the patient's appointment and tap record. Not booked in? Quick Create and start straight away.</a:t>
            </a:r>
            <a:endParaRPr lang="en-US" sz="950" dirty="0"/>
          </a:p>
        </p:txBody>
      </p:sp>
      <p:sp>
        <p:nvSpPr>
          <p:cNvPr id="10" name="cap2"/>
          <p:cNvSpPr/>
          <p:nvPr/>
        </p:nvSpPr>
        <p:spPr>
          <a:xfrm>
            <a:off x="3290880" y="3300000"/>
            <a:ext cx="256224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Set up your letter templates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Do this once and your letters always come out looking the way you like.</a:t>
            </a:r>
            <a:endParaRPr lang="en-US" sz="950" dirty="0"/>
          </a:p>
        </p:txBody>
      </p:sp>
      <p:sp>
        <p:nvSpPr>
          <p:cNvPr id="11" name="cap3"/>
          <p:cNvSpPr/>
          <p:nvPr/>
        </p:nvSpPr>
        <p:spPr>
          <a:xfrm>
            <a:off x="6033120" y="3300000"/>
            <a:ext cx="256224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Write your referral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From that same consult, Arvi drafts the referral. Read it over and change anything on one screen.</a:t>
            </a:r>
            <a:endParaRPr lang="en-US" sz="950" dirty="0"/>
          </a:p>
        </p:txBody>
      </p:sp>
      <p:sp>
        <p:nvSpPr>
          <p:cNvPr id="12" name="footnote"/>
          <p:cNvSpPr/>
          <p:nvPr/>
        </p:nvSpPr>
        <p:spPr>
          <a:xfrm>
            <a:off x="548640" y="4620000"/>
            <a:ext cx="804672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spc="60" dirty="0">
                <a:solidFill>
                  <a:srgbClr val="FF3B30"/>
                </a:solidFill>
                <a:latin typeface="Calibri" pitchFamily="34" charset="0"/>
                <a:cs typeface="Calibri" pitchFamily="34" charset="0"/>
              </a:rPr>
              <a:t>NOTES, LETTERS &amp; PATIENT SUMMARIES  ·  ALL FROM ONE RECORDING</a:t>
            </a:r>
            <a:endParaRPr lang="en-US" sz="950" b="1" spc="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2026-02-09T11:56:50Z</dcterms:created>
  <dc:creator>PptxGenJS</dc:creator>
</cp:coreProperties>
</file>