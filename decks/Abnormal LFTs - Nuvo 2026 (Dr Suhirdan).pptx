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6256000" cy="9144000"/>
  <p:notesSz cx="9144000" cy="16256000"/>
  <p:embeddedFontLst>
    <p:embeddedFont>
      <p:font typeface="Inter" panose="020B0604020202020204" charset="0"/>
      <p:regular r:id="rId30"/>
    </p:embeddedFont>
    <p:embeddedFont>
      <p:font typeface="Lora" pitchFamily="2" charset="0"/>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8" d="100"/>
          <a:sy n="118" d="100"/>
        </p:scale>
        <p:origin x="8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201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6.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a:effectLst/>
      </p:bgPr>
    </p:bg>
    <p:spTree>
      <p:nvGrpSpPr>
        <p:cNvPr id="1" name=""/>
        <p:cNvGrpSpPr/>
        <p:nvPr/>
      </p:nvGrpSpPr>
      <p:grpSpPr>
        <a:xfrm>
          <a:off x="0" y="0"/>
          <a:ext cx="0" cy="0"/>
          <a:chOff x="0" y="0"/>
          <a:chExt cx="0" cy="0"/>
        </a:xfrm>
      </p:grpSpPr>
      <p:sp>
        <p:nvSpPr>
          <p:cNvPr id="2" name="cover-shape-1"/>
          <p:cNvSpPr/>
          <p:nvPr/>
        </p:nvSpPr>
        <p:spPr>
          <a:xfrm>
            <a:off x="11684000" y="-1524000"/>
            <a:ext cx="6096000" cy="6096000"/>
          </a:xfrm>
          <a:prstGeom prst="ellipse">
            <a:avLst/>
          </a:prstGeom>
          <a:solidFill>
            <a:srgbClr val="FFFFFF">
              <a:alpha val="7000"/>
            </a:srgbClr>
          </a:solidFill>
          <a:ln/>
        </p:spPr>
        <p:txBody>
          <a:bodyPr/>
          <a:lstStyle/>
          <a:p>
            <a:endParaRPr lang="en-AU"/>
          </a:p>
        </p:txBody>
      </p:sp>
      <p:sp>
        <p:nvSpPr>
          <p:cNvPr id="3" name="cover-shape-2"/>
          <p:cNvSpPr/>
          <p:nvPr/>
        </p:nvSpPr>
        <p:spPr>
          <a:xfrm>
            <a:off x="13462000" y="3302000"/>
            <a:ext cx="4826000" cy="4826000"/>
          </a:xfrm>
          <a:prstGeom prst="ellipse">
            <a:avLst/>
          </a:prstGeom>
          <a:solidFill>
            <a:srgbClr val="FFFFFF">
              <a:alpha val="6000"/>
            </a:srgbClr>
          </a:solidFill>
          <a:ln/>
        </p:spPr>
        <p:txBody>
          <a:bodyPr/>
          <a:lstStyle/>
          <a:p>
            <a:endParaRPr lang="en-AU"/>
          </a:p>
        </p:txBody>
      </p:sp>
      <p:sp>
        <p:nvSpPr>
          <p:cNvPr id="4" name="cover-shape-3"/>
          <p:cNvSpPr/>
          <p:nvPr/>
        </p:nvSpPr>
        <p:spPr>
          <a:xfrm>
            <a:off x="889000" y="762000"/>
            <a:ext cx="660400" cy="660400"/>
          </a:xfrm>
          <a:prstGeom prst="ellipse">
            <a:avLst/>
          </a:prstGeom>
          <a:solidFill>
            <a:srgbClr val="E3A018"/>
          </a:solidFill>
          <a:ln/>
        </p:spPr>
        <p:txBody>
          <a:bodyPr/>
          <a:lstStyle/>
          <a:p>
            <a:endParaRPr lang="en-AU"/>
          </a:p>
        </p:txBody>
      </p:sp>
      <p:pic>
        <p:nvPicPr>
          <p:cNvPr id="5" name="cover-icon-4" descr="preencoded.png"/>
          <p:cNvPicPr>
            <a:picLocks noChangeAspect="1"/>
          </p:cNvPicPr>
          <p:nvPr/>
        </p:nvPicPr>
        <p:blipFill>
          <a:blip r:embed="rId3"/>
          <a:stretch>
            <a:fillRect/>
          </a:stretch>
        </p:blipFill>
        <p:spPr>
          <a:xfrm>
            <a:off x="1054100" y="927100"/>
            <a:ext cx="330200" cy="330200"/>
          </a:xfrm>
          <a:prstGeom prst="rect">
            <a:avLst/>
          </a:prstGeom>
        </p:spPr>
      </p:pic>
      <p:sp>
        <p:nvSpPr>
          <p:cNvPr id="6" name="cover-text-5"/>
          <p:cNvSpPr/>
          <p:nvPr/>
        </p:nvSpPr>
        <p:spPr>
          <a:xfrm>
            <a:off x="1905000" y="889000"/>
            <a:ext cx="6350000" cy="3302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GP EDUCATION EVENING</a:t>
            </a:r>
            <a:endParaRPr lang="en-US" sz="1600" dirty="0"/>
          </a:p>
        </p:txBody>
      </p:sp>
      <p:sp>
        <p:nvSpPr>
          <p:cNvPr id="7" name="cover-text-6"/>
          <p:cNvSpPr/>
          <p:nvPr/>
        </p:nvSpPr>
        <p:spPr>
          <a:xfrm>
            <a:off x="1016000" y="2921000"/>
            <a:ext cx="11430000" cy="1905000"/>
          </a:xfrm>
          <a:prstGeom prst="rect">
            <a:avLst/>
          </a:prstGeom>
          <a:noFill/>
          <a:ln/>
        </p:spPr>
        <p:txBody>
          <a:bodyPr wrap="square" lIns="0" tIns="0" rIns="0" bIns="0" rtlCol="0" anchor="t"/>
          <a:lstStyle/>
          <a:p>
            <a:pPr marL="0" indent="0" algn="l">
              <a:lnSpc>
                <a:spcPts val="5980"/>
              </a:lnSpc>
              <a:buNone/>
            </a:pPr>
            <a:r>
              <a:rPr lang="en-US" sz="5200" dirty="0">
                <a:solidFill>
                  <a:srgbClr val="FFFFFF"/>
                </a:solidFill>
                <a:latin typeface="Lora" pitchFamily="34" charset="0"/>
                <a:ea typeface="Microsoft YaHei" pitchFamily="34" charset="-122"/>
                <a:cs typeface="Lora" pitchFamily="34" charset="-120"/>
              </a:rPr>
              <a:t>Abnormal LFTs</a:t>
            </a:r>
            <a:endParaRPr lang="en-US" sz="5200" dirty="0"/>
          </a:p>
        </p:txBody>
      </p:sp>
      <p:sp>
        <p:nvSpPr>
          <p:cNvPr id="8" name="cover-text-7"/>
          <p:cNvSpPr/>
          <p:nvPr/>
        </p:nvSpPr>
        <p:spPr>
          <a:xfrm>
            <a:off x="1016000" y="3810000"/>
            <a:ext cx="11430000" cy="1143000"/>
          </a:xfrm>
          <a:prstGeom prst="rect">
            <a:avLst/>
          </a:prstGeom>
          <a:noFill/>
          <a:ln/>
        </p:spPr>
        <p:txBody>
          <a:bodyPr wrap="square" lIns="0" tIns="0" rIns="0" bIns="0" rtlCol="0" anchor="t"/>
          <a:lstStyle/>
          <a:p>
            <a:pPr marL="0" indent="0" algn="l">
              <a:lnSpc>
                <a:spcPts val="5980"/>
              </a:lnSpc>
              <a:buNone/>
            </a:pPr>
            <a:r>
              <a:rPr lang="en-US" sz="5200" dirty="0">
                <a:solidFill>
                  <a:srgbClr val="FFFFFF"/>
                </a:solidFill>
                <a:latin typeface="Lora" pitchFamily="34" charset="0"/>
                <a:ea typeface="Microsoft YaHei" pitchFamily="34" charset="-122"/>
                <a:cs typeface="Lora" pitchFamily="34" charset="-120"/>
              </a:rPr>
              <a:t>What Actually Matters</a:t>
            </a:r>
            <a:endParaRPr lang="en-US" sz="5200" dirty="0"/>
          </a:p>
        </p:txBody>
      </p:sp>
      <p:sp>
        <p:nvSpPr>
          <p:cNvPr id="9" name="cover-shape-8"/>
          <p:cNvSpPr/>
          <p:nvPr/>
        </p:nvSpPr>
        <p:spPr>
          <a:xfrm>
            <a:off x="1016000" y="5308600"/>
            <a:ext cx="1524000" cy="9144"/>
          </a:xfrm>
          <a:prstGeom prst="line">
            <a:avLst/>
          </a:prstGeom>
          <a:ln w="38100">
            <a:solidFill>
              <a:srgbClr val="E3A018"/>
            </a:solidFill>
            <a:prstDash val="solid"/>
          </a:ln>
        </p:spPr>
        <p:txBody>
          <a:bodyPr/>
          <a:lstStyle/>
          <a:p>
            <a:endParaRPr lang="en-AU"/>
          </a:p>
        </p:txBody>
      </p:sp>
      <p:sp>
        <p:nvSpPr>
          <p:cNvPr id="10" name="cover-text-9"/>
          <p:cNvSpPr/>
          <p:nvPr/>
        </p:nvSpPr>
        <p:spPr>
          <a:xfrm>
            <a:off x="1016000" y="5588000"/>
            <a:ext cx="8890000" cy="431800"/>
          </a:xfrm>
          <a:prstGeom prst="rect">
            <a:avLst/>
          </a:prstGeom>
          <a:noFill/>
          <a:ln/>
        </p:spPr>
        <p:txBody>
          <a:bodyPr wrap="square" lIns="0" tIns="0" rIns="0" bIns="0" rtlCol="0" anchor="t"/>
          <a:lstStyle/>
          <a:p>
            <a:pPr marL="0" indent="0" algn="l">
              <a:buNone/>
            </a:pPr>
            <a:r>
              <a:rPr lang="en-US" sz="1900" i="1" dirty="0">
                <a:solidFill>
                  <a:srgbClr val="E3A018"/>
                </a:solidFill>
                <a:latin typeface="Inter" pitchFamily="34" charset="0"/>
                <a:ea typeface="Inter" pitchFamily="34" charset="-122"/>
                <a:cs typeface="Inter" pitchFamily="34" charset="-120"/>
              </a:rPr>
              <a:t>Dr Suhirdan Vivekanandarajah</a:t>
            </a:r>
            <a:endParaRPr lang="en-US" sz="1900" dirty="0"/>
          </a:p>
        </p:txBody>
      </p:sp>
      <p:sp>
        <p:nvSpPr>
          <p:cNvPr id="11" name="cover-text-10"/>
          <p:cNvSpPr/>
          <p:nvPr/>
        </p:nvSpPr>
        <p:spPr>
          <a:xfrm>
            <a:off x="1016000" y="6019800"/>
            <a:ext cx="8890000" cy="330200"/>
          </a:xfrm>
          <a:prstGeom prst="rect">
            <a:avLst/>
          </a:prstGeom>
          <a:noFill/>
          <a:ln/>
        </p:spPr>
        <p:txBody>
          <a:bodyPr wrap="square" lIns="0" tIns="0" rIns="0" bIns="0" rtlCol="0" anchor="t"/>
          <a:lstStyle/>
          <a:p>
            <a:pPr marL="0" indent="0" algn="l">
              <a:buNone/>
            </a:pPr>
            <a:r>
              <a:rPr lang="en-US" sz="1600" dirty="0">
                <a:solidFill>
                  <a:srgbClr val="D8E3E3"/>
                </a:solidFill>
                <a:latin typeface="Inter" pitchFamily="34" charset="0"/>
                <a:ea typeface="Inter" pitchFamily="34" charset="-122"/>
                <a:cs typeface="Inter" pitchFamily="34" charset="-120"/>
              </a:rPr>
              <a:t>Interventional Gastroenterologist &amp; Hepatologist · Director &amp; Co-founder, Arvi Health</a:t>
            </a:r>
            <a:endParaRPr lang="en-US" sz="1600" dirty="0"/>
          </a:p>
        </p:txBody>
      </p:sp>
      <p:sp>
        <p:nvSpPr>
          <p:cNvPr id="12" name="cover-text-11"/>
          <p:cNvSpPr/>
          <p:nvPr/>
        </p:nvSpPr>
        <p:spPr>
          <a:xfrm>
            <a:off x="1016000" y="6350000"/>
            <a:ext cx="8890000" cy="330200"/>
          </a:xfrm>
          <a:prstGeom prst="rect">
            <a:avLst/>
          </a:prstGeom>
          <a:noFill/>
          <a:ln/>
        </p:spPr>
        <p:txBody>
          <a:bodyPr wrap="square" lIns="0" tIns="0" rIns="0" bIns="0" rtlCol="0" anchor="t"/>
          <a:lstStyle/>
          <a:p>
            <a:pPr marL="0" indent="0" algn="l">
              <a:buNone/>
            </a:pPr>
            <a:r>
              <a:rPr lang="en-US" sz="1600" dirty="0">
                <a:solidFill>
                  <a:srgbClr val="D8E3E3"/>
                </a:solidFill>
                <a:latin typeface="Inter" pitchFamily="34" charset="0"/>
                <a:ea typeface="Inter" pitchFamily="34" charset="-122"/>
                <a:cs typeface="Inter" pitchFamily="34" charset="-120"/>
              </a:rPr>
              <a:t>BSc(Med) · MBBS(Hons) · FRACP | Sydney Gut Clinic</a:t>
            </a:r>
            <a:endParaRPr lang="en-US" sz="1600" dirty="0"/>
          </a:p>
        </p:txBody>
      </p:sp>
      <p:sp>
        <p:nvSpPr>
          <p:cNvPr id="13" name="cover-text-12"/>
          <p:cNvSpPr/>
          <p:nvPr/>
        </p:nvSpPr>
        <p:spPr>
          <a:xfrm>
            <a:off x="1016000" y="8128000"/>
            <a:ext cx="8890000" cy="330200"/>
          </a:xfrm>
          <a:prstGeom prst="rect">
            <a:avLst/>
          </a:prstGeom>
          <a:noFill/>
          <a:ln/>
        </p:spPr>
        <p:txBody>
          <a:bodyPr wrap="square" lIns="0" tIns="0" rIns="0" bIns="0" rtlCol="0" anchor="t"/>
          <a:lstStyle/>
          <a:p>
            <a:pPr marL="0" indent="0" algn="l">
              <a:buNone/>
            </a:pPr>
            <a:r>
              <a:rPr lang="en-US" sz="1500" dirty="0">
                <a:solidFill>
                  <a:srgbClr val="B9C7C7"/>
                </a:solidFill>
                <a:latin typeface="Inter" pitchFamily="34" charset="0"/>
                <a:ea typeface="Inter" pitchFamily="34" charset="-122"/>
                <a:cs typeface="Inter" pitchFamily="34" charset="-120"/>
              </a:rPr>
              <a:t>Aqua Luna · 29 July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learning_outcomes-text-1"/>
          <p:cNvSpPr/>
          <p:nvPr/>
        </p:nvSpPr>
        <p:spPr>
          <a:xfrm>
            <a:off x="762000" y="457200"/>
            <a:ext cx="762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WHY WE'RE HERE</a:t>
            </a:r>
            <a:endParaRPr lang="en-US" sz="1600" dirty="0"/>
          </a:p>
        </p:txBody>
      </p:sp>
      <p:sp>
        <p:nvSpPr>
          <p:cNvPr id="3" name="learning_outcomes-text-2"/>
          <p:cNvSpPr/>
          <p:nvPr/>
        </p:nvSpPr>
        <p:spPr>
          <a:xfrm>
            <a:off x="762000" y="762000"/>
            <a:ext cx="1143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Learning Outcomes</a:t>
            </a:r>
            <a:endParaRPr lang="en-US" sz="3600" dirty="0"/>
          </a:p>
        </p:txBody>
      </p:sp>
      <p:sp>
        <p:nvSpPr>
          <p:cNvPr id="4" name="learning_outcomes-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2</a:t>
            </a:r>
            <a:endParaRPr lang="en-US" sz="1400" dirty="0"/>
          </a:p>
        </p:txBody>
      </p:sp>
      <p:sp>
        <p:nvSpPr>
          <p:cNvPr id="5" name="learning_outcomes-shape-4"/>
          <p:cNvSpPr/>
          <p:nvPr/>
        </p:nvSpPr>
        <p:spPr>
          <a:xfrm>
            <a:off x="762000" y="1905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learning_outcomes-shape-5"/>
          <p:cNvSpPr/>
          <p:nvPr/>
        </p:nvSpPr>
        <p:spPr>
          <a:xfrm>
            <a:off x="1066800" y="2209800"/>
            <a:ext cx="558800" cy="558800"/>
          </a:xfrm>
          <a:prstGeom prst="ellipse">
            <a:avLst/>
          </a:prstGeom>
          <a:solidFill>
            <a:srgbClr val="E3A018"/>
          </a:solidFill>
          <a:ln/>
        </p:spPr>
        <p:txBody>
          <a:bodyPr/>
          <a:lstStyle/>
          <a:p>
            <a:endParaRPr lang="en-AU"/>
          </a:p>
        </p:txBody>
      </p:sp>
      <p:pic>
        <p:nvPicPr>
          <p:cNvPr id="7" name="learning_outcomes-icon-6" descr="preencoded.png"/>
          <p:cNvPicPr>
            <a:picLocks noChangeAspect="1"/>
          </p:cNvPicPr>
          <p:nvPr/>
        </p:nvPicPr>
        <p:blipFill>
          <a:blip r:embed="rId3"/>
          <a:stretch>
            <a:fillRect/>
          </a:stretch>
        </p:blipFill>
        <p:spPr>
          <a:xfrm>
            <a:off x="1219200" y="2362200"/>
            <a:ext cx="254000" cy="254000"/>
          </a:xfrm>
          <a:prstGeom prst="rect">
            <a:avLst/>
          </a:prstGeom>
        </p:spPr>
      </p:pic>
      <p:sp>
        <p:nvSpPr>
          <p:cNvPr id="8" name="learning_outcomes-text-7"/>
          <p:cNvSpPr/>
          <p:nvPr/>
        </p:nvSpPr>
        <p:spPr>
          <a:xfrm>
            <a:off x="1778000" y="2184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Interpret the pattern</a:t>
            </a:r>
            <a:endParaRPr lang="en-US" sz="1800" dirty="0"/>
          </a:p>
        </p:txBody>
      </p:sp>
      <p:sp>
        <p:nvSpPr>
          <p:cNvPr id="9" name="learning_outcomes-text-8"/>
          <p:cNvSpPr/>
          <p:nvPr/>
        </p:nvSpPr>
        <p:spPr>
          <a:xfrm>
            <a:off x="1778000" y="2590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Hepatocellular vs cholestatic vs mixed — using the R ratio.</a:t>
            </a:r>
            <a:endParaRPr lang="en-US" sz="1500" dirty="0"/>
          </a:p>
        </p:txBody>
      </p:sp>
      <p:sp>
        <p:nvSpPr>
          <p:cNvPr id="10" name="learning_outcomes-shape-9"/>
          <p:cNvSpPr/>
          <p:nvPr/>
        </p:nvSpPr>
        <p:spPr>
          <a:xfrm>
            <a:off x="8382000" y="1905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1" name="learning_outcomes-shape-10"/>
          <p:cNvSpPr/>
          <p:nvPr/>
        </p:nvSpPr>
        <p:spPr>
          <a:xfrm>
            <a:off x="8686800" y="2209800"/>
            <a:ext cx="558800" cy="558800"/>
          </a:xfrm>
          <a:prstGeom prst="ellipse">
            <a:avLst/>
          </a:prstGeom>
          <a:solidFill>
            <a:srgbClr val="E3A018"/>
          </a:solidFill>
          <a:ln/>
        </p:spPr>
        <p:txBody>
          <a:bodyPr/>
          <a:lstStyle/>
          <a:p>
            <a:endParaRPr lang="en-AU"/>
          </a:p>
        </p:txBody>
      </p:sp>
      <p:pic>
        <p:nvPicPr>
          <p:cNvPr id="12" name="learning_outcomes-icon-11" descr="preencoded.png"/>
          <p:cNvPicPr>
            <a:picLocks noChangeAspect="1"/>
          </p:cNvPicPr>
          <p:nvPr/>
        </p:nvPicPr>
        <p:blipFill>
          <a:blip r:embed="rId4"/>
          <a:stretch>
            <a:fillRect/>
          </a:stretch>
        </p:blipFill>
        <p:spPr>
          <a:xfrm>
            <a:off x="8839200" y="2362200"/>
            <a:ext cx="254000" cy="254000"/>
          </a:xfrm>
          <a:prstGeom prst="rect">
            <a:avLst/>
          </a:prstGeom>
        </p:spPr>
      </p:pic>
      <p:sp>
        <p:nvSpPr>
          <p:cNvPr id="13" name="learning_outcomes-text-12"/>
          <p:cNvSpPr/>
          <p:nvPr/>
        </p:nvSpPr>
        <p:spPr>
          <a:xfrm>
            <a:off x="9398000" y="2184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Identify common causes</a:t>
            </a:r>
            <a:endParaRPr lang="en-US" sz="1800" dirty="0"/>
          </a:p>
        </p:txBody>
      </p:sp>
      <p:sp>
        <p:nvSpPr>
          <p:cNvPr id="14" name="learning_outcomes-text-13"/>
          <p:cNvSpPr/>
          <p:nvPr/>
        </p:nvSpPr>
        <p:spPr>
          <a:xfrm>
            <a:off x="9398000" y="2590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MASLD, alcohol, medications, viral hepatitis.</a:t>
            </a:r>
            <a:endParaRPr lang="en-US" sz="1500" dirty="0"/>
          </a:p>
        </p:txBody>
      </p:sp>
      <p:sp>
        <p:nvSpPr>
          <p:cNvPr id="15" name="learning_outcomes-shape-14"/>
          <p:cNvSpPr/>
          <p:nvPr/>
        </p:nvSpPr>
        <p:spPr>
          <a:xfrm>
            <a:off x="762000" y="4064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6" name="learning_outcomes-shape-15"/>
          <p:cNvSpPr/>
          <p:nvPr/>
        </p:nvSpPr>
        <p:spPr>
          <a:xfrm>
            <a:off x="1066800" y="4368800"/>
            <a:ext cx="558800" cy="558800"/>
          </a:xfrm>
          <a:prstGeom prst="ellipse">
            <a:avLst/>
          </a:prstGeom>
          <a:solidFill>
            <a:srgbClr val="E3A018"/>
          </a:solidFill>
          <a:ln/>
        </p:spPr>
        <p:txBody>
          <a:bodyPr/>
          <a:lstStyle/>
          <a:p>
            <a:endParaRPr lang="en-AU"/>
          </a:p>
        </p:txBody>
      </p:sp>
      <p:pic>
        <p:nvPicPr>
          <p:cNvPr id="17" name="learning_outcomes-icon-16" descr="preencoded.png"/>
          <p:cNvPicPr>
            <a:picLocks noChangeAspect="1"/>
          </p:cNvPicPr>
          <p:nvPr/>
        </p:nvPicPr>
        <p:blipFill>
          <a:blip r:embed="rId5"/>
          <a:stretch>
            <a:fillRect/>
          </a:stretch>
        </p:blipFill>
        <p:spPr>
          <a:xfrm>
            <a:off x="1219200" y="4521200"/>
            <a:ext cx="254000" cy="254000"/>
          </a:xfrm>
          <a:prstGeom prst="rect">
            <a:avLst/>
          </a:prstGeom>
        </p:spPr>
      </p:pic>
      <p:sp>
        <p:nvSpPr>
          <p:cNvPr id="18" name="learning_outcomes-text-17"/>
          <p:cNvSpPr/>
          <p:nvPr/>
        </p:nvSpPr>
        <p:spPr>
          <a:xfrm>
            <a:off x="1778000" y="4343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Risk-stratify with FIB-4</a:t>
            </a:r>
            <a:endParaRPr lang="en-US" sz="1800" dirty="0"/>
          </a:p>
        </p:txBody>
      </p:sp>
      <p:sp>
        <p:nvSpPr>
          <p:cNvPr id="19" name="learning_outcomes-text-18"/>
          <p:cNvSpPr/>
          <p:nvPr/>
        </p:nvSpPr>
        <p:spPr>
          <a:xfrm>
            <a:off x="1778000" y="4749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Detect significant fibrosis with a simple, free tool.</a:t>
            </a:r>
            <a:endParaRPr lang="en-US" sz="1500" dirty="0"/>
          </a:p>
        </p:txBody>
      </p:sp>
      <p:sp>
        <p:nvSpPr>
          <p:cNvPr id="20" name="learning_outcomes-shape-19"/>
          <p:cNvSpPr/>
          <p:nvPr/>
        </p:nvSpPr>
        <p:spPr>
          <a:xfrm>
            <a:off x="8382000" y="4064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1" name="learning_outcomes-shape-20"/>
          <p:cNvSpPr/>
          <p:nvPr/>
        </p:nvSpPr>
        <p:spPr>
          <a:xfrm>
            <a:off x="8686800" y="4368800"/>
            <a:ext cx="558800" cy="558800"/>
          </a:xfrm>
          <a:prstGeom prst="ellipse">
            <a:avLst/>
          </a:prstGeom>
          <a:solidFill>
            <a:srgbClr val="D32F2F"/>
          </a:solidFill>
          <a:ln/>
        </p:spPr>
        <p:txBody>
          <a:bodyPr/>
          <a:lstStyle/>
          <a:p>
            <a:endParaRPr lang="en-AU"/>
          </a:p>
        </p:txBody>
      </p:sp>
      <p:pic>
        <p:nvPicPr>
          <p:cNvPr id="22" name="learning_outcomes-icon-21" descr="preencoded.png"/>
          <p:cNvPicPr>
            <a:picLocks noChangeAspect="1"/>
          </p:cNvPicPr>
          <p:nvPr/>
        </p:nvPicPr>
        <p:blipFill>
          <a:blip r:embed="rId6"/>
          <a:stretch>
            <a:fillRect/>
          </a:stretch>
        </p:blipFill>
        <p:spPr>
          <a:xfrm>
            <a:off x="8839200" y="4521200"/>
            <a:ext cx="254000" cy="254000"/>
          </a:xfrm>
          <a:prstGeom prst="rect">
            <a:avLst/>
          </a:prstGeom>
        </p:spPr>
      </p:pic>
      <p:sp>
        <p:nvSpPr>
          <p:cNvPr id="23" name="learning_outcomes-text-22"/>
          <p:cNvSpPr/>
          <p:nvPr/>
        </p:nvSpPr>
        <p:spPr>
          <a:xfrm>
            <a:off x="9398000" y="4343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Recognise red flags</a:t>
            </a:r>
            <a:endParaRPr lang="en-US" sz="1800" dirty="0"/>
          </a:p>
        </p:txBody>
      </p:sp>
      <p:sp>
        <p:nvSpPr>
          <p:cNvPr id="24" name="learning_outcomes-text-23"/>
          <p:cNvSpPr/>
          <p:nvPr/>
        </p:nvSpPr>
        <p:spPr>
          <a:xfrm>
            <a:off x="9398000" y="4749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Jaundice, marked enzymes, synthetic dysfunction.</a:t>
            </a:r>
            <a:endParaRPr lang="en-US" sz="1500" dirty="0"/>
          </a:p>
        </p:txBody>
      </p:sp>
      <p:sp>
        <p:nvSpPr>
          <p:cNvPr id="25" name="learning_outcomes-shape-24"/>
          <p:cNvSpPr/>
          <p:nvPr/>
        </p:nvSpPr>
        <p:spPr>
          <a:xfrm>
            <a:off x="762000" y="6223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6" name="learning_outcomes-shape-25"/>
          <p:cNvSpPr/>
          <p:nvPr/>
        </p:nvSpPr>
        <p:spPr>
          <a:xfrm>
            <a:off x="1066800" y="6527800"/>
            <a:ext cx="558800" cy="558800"/>
          </a:xfrm>
          <a:prstGeom prst="ellipse">
            <a:avLst/>
          </a:prstGeom>
          <a:solidFill>
            <a:srgbClr val="E3A018"/>
          </a:solidFill>
          <a:ln/>
        </p:spPr>
        <p:txBody>
          <a:bodyPr/>
          <a:lstStyle/>
          <a:p>
            <a:endParaRPr lang="en-AU"/>
          </a:p>
        </p:txBody>
      </p:sp>
      <p:pic>
        <p:nvPicPr>
          <p:cNvPr id="27" name="learning_outcomes-icon-26" descr="preencoded.png"/>
          <p:cNvPicPr>
            <a:picLocks noChangeAspect="1"/>
          </p:cNvPicPr>
          <p:nvPr/>
        </p:nvPicPr>
        <p:blipFill>
          <a:blip r:embed="rId7"/>
          <a:stretch>
            <a:fillRect/>
          </a:stretch>
        </p:blipFill>
        <p:spPr>
          <a:xfrm>
            <a:off x="1219200" y="6680200"/>
            <a:ext cx="254000" cy="254000"/>
          </a:xfrm>
          <a:prstGeom prst="rect">
            <a:avLst/>
          </a:prstGeom>
        </p:spPr>
      </p:pic>
      <p:sp>
        <p:nvSpPr>
          <p:cNvPr id="28" name="learning_outcomes-text-27"/>
          <p:cNvSpPr/>
          <p:nvPr/>
        </p:nvSpPr>
        <p:spPr>
          <a:xfrm>
            <a:off x="1778000" y="6502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Order the right tests</a:t>
            </a:r>
            <a:endParaRPr lang="en-US" sz="1800" dirty="0"/>
          </a:p>
        </p:txBody>
      </p:sp>
      <p:sp>
        <p:nvSpPr>
          <p:cNvPr id="29" name="learning_outcomes-text-28"/>
          <p:cNvSpPr/>
          <p:nvPr/>
        </p:nvSpPr>
        <p:spPr>
          <a:xfrm>
            <a:off x="1778000" y="6908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A targeted liver screen — and what to skip.</a:t>
            </a:r>
            <a:endParaRPr lang="en-US" sz="1500" dirty="0"/>
          </a:p>
        </p:txBody>
      </p:sp>
      <p:sp>
        <p:nvSpPr>
          <p:cNvPr id="30" name="learning_outcomes-shape-29"/>
          <p:cNvSpPr/>
          <p:nvPr/>
        </p:nvSpPr>
        <p:spPr>
          <a:xfrm>
            <a:off x="8382000" y="6223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31" name="learning_outcomes-shape-30"/>
          <p:cNvSpPr/>
          <p:nvPr/>
        </p:nvSpPr>
        <p:spPr>
          <a:xfrm>
            <a:off x="8686800" y="6527800"/>
            <a:ext cx="558800" cy="558800"/>
          </a:xfrm>
          <a:prstGeom prst="ellipse">
            <a:avLst/>
          </a:prstGeom>
          <a:solidFill>
            <a:srgbClr val="E3A018"/>
          </a:solidFill>
          <a:ln/>
        </p:spPr>
        <p:txBody>
          <a:bodyPr/>
          <a:lstStyle/>
          <a:p>
            <a:endParaRPr lang="en-AU"/>
          </a:p>
        </p:txBody>
      </p:sp>
      <p:pic>
        <p:nvPicPr>
          <p:cNvPr id="32" name="learning_outcomes-icon-31" descr="preencoded.png"/>
          <p:cNvPicPr>
            <a:picLocks noChangeAspect="1"/>
          </p:cNvPicPr>
          <p:nvPr/>
        </p:nvPicPr>
        <p:blipFill>
          <a:blip r:embed="rId8"/>
          <a:stretch>
            <a:fillRect/>
          </a:stretch>
        </p:blipFill>
        <p:spPr>
          <a:xfrm>
            <a:off x="8839200" y="6680200"/>
            <a:ext cx="254000" cy="254000"/>
          </a:xfrm>
          <a:prstGeom prst="rect">
            <a:avLst/>
          </a:prstGeom>
        </p:spPr>
      </p:pic>
      <p:sp>
        <p:nvSpPr>
          <p:cNvPr id="33" name="learning_outcomes-text-32"/>
          <p:cNvSpPr/>
          <p:nvPr/>
        </p:nvSpPr>
        <p:spPr>
          <a:xfrm>
            <a:off x="9398000" y="6502400"/>
            <a:ext cx="5588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Manage &amp; know when to refer</a:t>
            </a:r>
            <a:endParaRPr lang="en-US" sz="1800" dirty="0"/>
          </a:p>
        </p:txBody>
      </p:sp>
      <p:sp>
        <p:nvSpPr>
          <p:cNvPr id="34" name="learning_outcomes-text-33"/>
          <p:cNvSpPr/>
          <p:nvPr/>
        </p:nvSpPr>
        <p:spPr>
          <a:xfrm>
            <a:off x="9398000" y="6908800"/>
            <a:ext cx="5588000" cy="1016000"/>
          </a:xfrm>
          <a:prstGeom prst="rect">
            <a:avLst/>
          </a:prstGeom>
          <a:noFill/>
          <a:ln/>
        </p:spPr>
        <p:txBody>
          <a:bodyPr wrap="square" lIns="0" tIns="0" rIns="0" bIns="0" rtlCol="0" anchor="t"/>
          <a:lstStyle/>
          <a:p>
            <a:pPr marL="0" indent="0" algn="l">
              <a:lnSpc>
                <a:spcPts val="2025"/>
              </a:lnSpc>
              <a:buNone/>
            </a:pPr>
            <a:r>
              <a:rPr lang="en-US" sz="1500" dirty="0">
                <a:solidFill>
                  <a:srgbClr val="5C6B6D"/>
                </a:solidFill>
                <a:latin typeface="Inter" pitchFamily="34" charset="0"/>
                <a:ea typeface="Inter" pitchFamily="34" charset="-122"/>
                <a:cs typeface="Inter" pitchFamily="34" charset="-120"/>
              </a:rPr>
              <a:t>Confident primary-care management vs escalation.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reframing_test-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REFRAMING THE TEST</a:t>
            </a:r>
            <a:endParaRPr lang="en-US" sz="1600" dirty="0"/>
          </a:p>
        </p:txBody>
      </p:sp>
      <p:sp>
        <p:nvSpPr>
          <p:cNvPr id="3" name="reframing_test-text-2"/>
          <p:cNvSpPr/>
          <p:nvPr/>
        </p:nvSpPr>
        <p:spPr>
          <a:xfrm>
            <a:off x="762000" y="762000"/>
            <a:ext cx="14732000" cy="711200"/>
          </a:xfrm>
          <a:prstGeom prst="rect">
            <a:avLst/>
          </a:prstGeom>
          <a:noFill/>
          <a:ln/>
        </p:spPr>
        <p:txBody>
          <a:bodyPr wrap="none" lIns="0" tIns="0" rIns="0" bIns="0" rtlCol="0" anchor="t"/>
          <a:lstStyle/>
          <a:p>
            <a:pPr marL="0" indent="0" algn="l">
              <a:buNone/>
            </a:pPr>
            <a:r>
              <a:rPr lang="en-US" sz="3000" dirty="0">
                <a:solidFill>
                  <a:srgbClr val="0F4C5C"/>
                </a:solidFill>
                <a:latin typeface="Lora" pitchFamily="34" charset="0"/>
                <a:ea typeface="Microsoft YaHei" pitchFamily="34" charset="-122"/>
                <a:cs typeface="Lora" pitchFamily="34" charset="-120"/>
              </a:rPr>
              <a:t>"Liver function tests" mostly don't measure function</a:t>
            </a:r>
            <a:endParaRPr lang="en-US" sz="3000" dirty="0"/>
          </a:p>
        </p:txBody>
      </p:sp>
      <p:sp>
        <p:nvSpPr>
          <p:cNvPr id="4" name="reframing_test-text-3"/>
          <p:cNvSpPr/>
          <p:nvPr/>
        </p:nvSpPr>
        <p:spPr>
          <a:xfrm>
            <a:off x="762000" y="1498600"/>
            <a:ext cx="14732000" cy="584200"/>
          </a:xfrm>
          <a:prstGeom prst="rect">
            <a:avLst/>
          </a:prstGeom>
          <a:noFill/>
          <a:ln/>
        </p:spPr>
        <p:txBody>
          <a:bodyPr wrap="square" lIns="0" tIns="0" rIns="0" bIns="0" rtlCol="0" anchor="t"/>
          <a:lstStyle/>
          <a:p>
            <a:pPr marL="0" indent="0" algn="l">
              <a:lnSpc>
                <a:spcPts val="2160"/>
              </a:lnSpc>
              <a:buNone/>
            </a:pPr>
            <a:r>
              <a:rPr lang="en-US" sz="1600" dirty="0">
                <a:solidFill>
                  <a:srgbClr val="5C6B6D"/>
                </a:solidFill>
                <a:latin typeface="Inter" pitchFamily="34" charset="0"/>
                <a:ea typeface="Inter" pitchFamily="34" charset="-122"/>
                <a:cs typeface="Inter" pitchFamily="34" charset="-120"/>
              </a:rPr>
              <a:t>Most of the panel reports liver injury or cholestasis — not how well the liver works. Only a few markers reflect true synthetic function.</a:t>
            </a:r>
            <a:endParaRPr lang="en-US" sz="1600" dirty="0"/>
          </a:p>
        </p:txBody>
      </p:sp>
      <p:sp>
        <p:nvSpPr>
          <p:cNvPr id="5" name="reframing_test-shape-4"/>
          <p:cNvSpPr/>
          <p:nvPr/>
        </p:nvSpPr>
        <p:spPr>
          <a:xfrm>
            <a:off x="762000" y="2286000"/>
            <a:ext cx="3378200" cy="3683000"/>
          </a:xfrm>
          <a:prstGeom prst="roundRect">
            <a:avLst>
              <a:gd name="adj" fmla="val 3759"/>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reframing_test-shape-5"/>
          <p:cNvSpPr/>
          <p:nvPr/>
        </p:nvSpPr>
        <p:spPr>
          <a:xfrm>
            <a:off x="762000" y="2286000"/>
            <a:ext cx="3378200" cy="101600"/>
          </a:xfrm>
          <a:prstGeom prst="rect">
            <a:avLst/>
          </a:prstGeom>
          <a:solidFill>
            <a:srgbClr val="0F4C5C"/>
          </a:solidFill>
          <a:ln/>
        </p:spPr>
        <p:txBody>
          <a:bodyPr/>
          <a:lstStyle/>
          <a:p>
            <a:endParaRPr lang="en-AU"/>
          </a:p>
        </p:txBody>
      </p:sp>
      <p:pic>
        <p:nvPicPr>
          <p:cNvPr id="7" name="reframing_test-icon-6" descr="preencoded.png"/>
          <p:cNvPicPr>
            <a:picLocks noChangeAspect="1"/>
          </p:cNvPicPr>
          <p:nvPr/>
        </p:nvPicPr>
        <p:blipFill>
          <a:blip r:embed="rId3"/>
          <a:stretch>
            <a:fillRect/>
          </a:stretch>
        </p:blipFill>
        <p:spPr>
          <a:xfrm>
            <a:off x="1143000" y="2590800"/>
            <a:ext cx="381000" cy="381000"/>
          </a:xfrm>
          <a:prstGeom prst="rect">
            <a:avLst/>
          </a:prstGeom>
        </p:spPr>
      </p:pic>
      <p:sp>
        <p:nvSpPr>
          <p:cNvPr id="8" name="reframing_test-text-7"/>
          <p:cNvSpPr/>
          <p:nvPr/>
        </p:nvSpPr>
        <p:spPr>
          <a:xfrm>
            <a:off x="1143000" y="3124200"/>
            <a:ext cx="2667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Hepatocellular</a:t>
            </a:r>
            <a:endParaRPr lang="en-US" sz="1800" dirty="0"/>
          </a:p>
        </p:txBody>
      </p:sp>
      <p:sp>
        <p:nvSpPr>
          <p:cNvPr id="9" name="reframing_test-text-8"/>
          <p:cNvSpPr/>
          <p:nvPr/>
        </p:nvSpPr>
        <p:spPr>
          <a:xfrm>
            <a:off x="1143000" y="3530600"/>
            <a:ext cx="2667000" cy="304800"/>
          </a:xfrm>
          <a:prstGeom prst="rect">
            <a:avLst/>
          </a:prstGeom>
          <a:noFill/>
          <a:ln/>
        </p:spPr>
        <p:txBody>
          <a:bodyPr wrap="square" lIns="0" tIns="0" rIns="0" bIns="0" rtlCol="0" anchor="t"/>
          <a:lstStyle/>
          <a:p>
            <a:pPr marL="0" indent="0" algn="l">
              <a:buNone/>
            </a:pPr>
            <a:r>
              <a:rPr lang="en-US" sz="1500" dirty="0">
                <a:solidFill>
                  <a:srgbClr val="1A2527"/>
                </a:solidFill>
                <a:latin typeface="Inter" pitchFamily="34" charset="0"/>
                <a:ea typeface="Inter" pitchFamily="34" charset="-122"/>
                <a:cs typeface="Inter" pitchFamily="34" charset="-120"/>
              </a:rPr>
              <a:t>ALT · AST</a:t>
            </a:r>
            <a:endParaRPr lang="en-US" sz="1500" dirty="0"/>
          </a:p>
        </p:txBody>
      </p:sp>
      <p:sp>
        <p:nvSpPr>
          <p:cNvPr id="10" name="reframing_test-text-9"/>
          <p:cNvSpPr/>
          <p:nvPr/>
        </p:nvSpPr>
        <p:spPr>
          <a:xfrm>
            <a:off x="1143000" y="4191000"/>
            <a:ext cx="2667000" cy="1524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Leak from injured hepatocytes</a:t>
            </a:r>
            <a:endParaRPr lang="en-US" sz="1400" dirty="0"/>
          </a:p>
        </p:txBody>
      </p:sp>
      <p:sp>
        <p:nvSpPr>
          <p:cNvPr id="11" name="reframing_test-shape-10"/>
          <p:cNvSpPr/>
          <p:nvPr/>
        </p:nvSpPr>
        <p:spPr>
          <a:xfrm>
            <a:off x="4279900" y="2286000"/>
            <a:ext cx="3378200" cy="3683000"/>
          </a:xfrm>
          <a:prstGeom prst="roundRect">
            <a:avLst>
              <a:gd name="adj" fmla="val 3759"/>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2" name="reframing_test-shape-11"/>
          <p:cNvSpPr/>
          <p:nvPr/>
        </p:nvSpPr>
        <p:spPr>
          <a:xfrm>
            <a:off x="4279900" y="2286000"/>
            <a:ext cx="3378200" cy="101600"/>
          </a:xfrm>
          <a:prstGeom prst="rect">
            <a:avLst/>
          </a:prstGeom>
          <a:solidFill>
            <a:srgbClr val="E3A018"/>
          </a:solidFill>
          <a:ln/>
        </p:spPr>
        <p:txBody>
          <a:bodyPr/>
          <a:lstStyle/>
          <a:p>
            <a:endParaRPr lang="en-AU"/>
          </a:p>
        </p:txBody>
      </p:sp>
      <p:pic>
        <p:nvPicPr>
          <p:cNvPr id="13" name="reframing_test-icon-12" descr="preencoded.png"/>
          <p:cNvPicPr>
            <a:picLocks noChangeAspect="1"/>
          </p:cNvPicPr>
          <p:nvPr/>
        </p:nvPicPr>
        <p:blipFill>
          <a:blip r:embed="rId4"/>
          <a:stretch>
            <a:fillRect/>
          </a:stretch>
        </p:blipFill>
        <p:spPr>
          <a:xfrm>
            <a:off x="4660900" y="2590800"/>
            <a:ext cx="381000" cy="381000"/>
          </a:xfrm>
          <a:prstGeom prst="rect">
            <a:avLst/>
          </a:prstGeom>
        </p:spPr>
      </p:pic>
      <p:sp>
        <p:nvSpPr>
          <p:cNvPr id="14" name="reframing_test-text-13"/>
          <p:cNvSpPr/>
          <p:nvPr/>
        </p:nvSpPr>
        <p:spPr>
          <a:xfrm>
            <a:off x="4660900" y="3124200"/>
            <a:ext cx="2667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Cholestatic</a:t>
            </a:r>
            <a:endParaRPr lang="en-US" sz="1800" dirty="0"/>
          </a:p>
        </p:txBody>
      </p:sp>
      <p:sp>
        <p:nvSpPr>
          <p:cNvPr id="15" name="reframing_test-text-14"/>
          <p:cNvSpPr/>
          <p:nvPr/>
        </p:nvSpPr>
        <p:spPr>
          <a:xfrm>
            <a:off x="4660900" y="3530600"/>
            <a:ext cx="2667000" cy="304800"/>
          </a:xfrm>
          <a:prstGeom prst="rect">
            <a:avLst/>
          </a:prstGeom>
          <a:noFill/>
          <a:ln/>
        </p:spPr>
        <p:txBody>
          <a:bodyPr wrap="square" lIns="0" tIns="0" rIns="0" bIns="0" rtlCol="0" anchor="t"/>
          <a:lstStyle/>
          <a:p>
            <a:pPr marL="0" indent="0" algn="l">
              <a:buNone/>
            </a:pPr>
            <a:r>
              <a:rPr lang="en-US" sz="1500" dirty="0">
                <a:solidFill>
                  <a:srgbClr val="1A2527"/>
                </a:solidFill>
                <a:latin typeface="Inter" pitchFamily="34" charset="0"/>
                <a:ea typeface="Inter" pitchFamily="34" charset="-122"/>
                <a:cs typeface="Inter" pitchFamily="34" charset="-120"/>
              </a:rPr>
              <a:t>ALP · GGT</a:t>
            </a:r>
            <a:endParaRPr lang="en-US" sz="1500" dirty="0"/>
          </a:p>
        </p:txBody>
      </p:sp>
      <p:sp>
        <p:nvSpPr>
          <p:cNvPr id="16" name="reframing_test-text-15"/>
          <p:cNvSpPr/>
          <p:nvPr/>
        </p:nvSpPr>
        <p:spPr>
          <a:xfrm>
            <a:off x="4660900" y="4191000"/>
            <a:ext cx="2667000" cy="1524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Bile flow obstruction / induction</a:t>
            </a:r>
            <a:endParaRPr lang="en-US" sz="1400" dirty="0"/>
          </a:p>
        </p:txBody>
      </p:sp>
      <p:sp>
        <p:nvSpPr>
          <p:cNvPr id="17" name="reframing_test-shape-16"/>
          <p:cNvSpPr/>
          <p:nvPr/>
        </p:nvSpPr>
        <p:spPr>
          <a:xfrm>
            <a:off x="7797800" y="2286000"/>
            <a:ext cx="3378200" cy="3683000"/>
          </a:xfrm>
          <a:prstGeom prst="roundRect">
            <a:avLst>
              <a:gd name="adj" fmla="val 3759"/>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8" name="reframing_test-shape-17"/>
          <p:cNvSpPr/>
          <p:nvPr/>
        </p:nvSpPr>
        <p:spPr>
          <a:xfrm>
            <a:off x="7797800" y="2286000"/>
            <a:ext cx="3378200" cy="101600"/>
          </a:xfrm>
          <a:prstGeom prst="rect">
            <a:avLst/>
          </a:prstGeom>
          <a:solidFill>
            <a:srgbClr val="5B9BD5"/>
          </a:solidFill>
          <a:ln/>
        </p:spPr>
        <p:txBody>
          <a:bodyPr/>
          <a:lstStyle/>
          <a:p>
            <a:endParaRPr lang="en-AU"/>
          </a:p>
        </p:txBody>
      </p:sp>
      <p:pic>
        <p:nvPicPr>
          <p:cNvPr id="19" name="reframing_test-icon-18" descr="preencoded.png"/>
          <p:cNvPicPr>
            <a:picLocks noChangeAspect="1"/>
          </p:cNvPicPr>
          <p:nvPr/>
        </p:nvPicPr>
        <p:blipFill>
          <a:blip r:embed="rId5"/>
          <a:stretch>
            <a:fillRect/>
          </a:stretch>
        </p:blipFill>
        <p:spPr>
          <a:xfrm>
            <a:off x="8178800" y="2590800"/>
            <a:ext cx="381000" cy="381000"/>
          </a:xfrm>
          <a:prstGeom prst="rect">
            <a:avLst/>
          </a:prstGeom>
        </p:spPr>
      </p:pic>
      <p:sp>
        <p:nvSpPr>
          <p:cNvPr id="20" name="reframing_test-text-19"/>
          <p:cNvSpPr/>
          <p:nvPr/>
        </p:nvSpPr>
        <p:spPr>
          <a:xfrm>
            <a:off x="8178800" y="3124200"/>
            <a:ext cx="2667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Excretion</a:t>
            </a:r>
            <a:endParaRPr lang="en-US" sz="1800" dirty="0"/>
          </a:p>
        </p:txBody>
      </p:sp>
      <p:sp>
        <p:nvSpPr>
          <p:cNvPr id="21" name="reframing_test-text-20"/>
          <p:cNvSpPr/>
          <p:nvPr/>
        </p:nvSpPr>
        <p:spPr>
          <a:xfrm>
            <a:off x="8178800" y="3530600"/>
            <a:ext cx="2667000" cy="304800"/>
          </a:xfrm>
          <a:prstGeom prst="rect">
            <a:avLst/>
          </a:prstGeom>
          <a:noFill/>
          <a:ln/>
        </p:spPr>
        <p:txBody>
          <a:bodyPr wrap="square" lIns="0" tIns="0" rIns="0" bIns="0" rtlCol="0" anchor="t"/>
          <a:lstStyle/>
          <a:p>
            <a:pPr marL="0" indent="0" algn="l">
              <a:buNone/>
            </a:pPr>
            <a:r>
              <a:rPr lang="en-US" sz="1500" dirty="0">
                <a:solidFill>
                  <a:srgbClr val="1A2527"/>
                </a:solidFill>
                <a:latin typeface="Inter" pitchFamily="34" charset="0"/>
                <a:ea typeface="Inter" pitchFamily="34" charset="-122"/>
                <a:cs typeface="Inter" pitchFamily="34" charset="-120"/>
              </a:rPr>
              <a:t>Bilirubin</a:t>
            </a:r>
            <a:endParaRPr lang="en-US" sz="1500" dirty="0"/>
          </a:p>
        </p:txBody>
      </p:sp>
      <p:sp>
        <p:nvSpPr>
          <p:cNvPr id="22" name="reframing_test-text-21"/>
          <p:cNvSpPr/>
          <p:nvPr/>
        </p:nvSpPr>
        <p:spPr>
          <a:xfrm>
            <a:off x="8178800" y="4191000"/>
            <a:ext cx="2667000" cy="1524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Conjugation &amp; biliary clearance</a:t>
            </a:r>
            <a:endParaRPr lang="en-US" sz="1400" dirty="0"/>
          </a:p>
        </p:txBody>
      </p:sp>
      <p:sp>
        <p:nvSpPr>
          <p:cNvPr id="23" name="reframing_test-shape-22"/>
          <p:cNvSpPr/>
          <p:nvPr/>
        </p:nvSpPr>
        <p:spPr>
          <a:xfrm>
            <a:off x="11315700" y="2286000"/>
            <a:ext cx="3378200" cy="3683000"/>
          </a:xfrm>
          <a:prstGeom prst="roundRect">
            <a:avLst>
              <a:gd name="adj" fmla="val 3759"/>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4" name="reframing_test-shape-23"/>
          <p:cNvSpPr/>
          <p:nvPr/>
        </p:nvSpPr>
        <p:spPr>
          <a:xfrm>
            <a:off x="11315700" y="2286000"/>
            <a:ext cx="3378200" cy="101600"/>
          </a:xfrm>
          <a:prstGeom prst="rect">
            <a:avLst/>
          </a:prstGeom>
          <a:solidFill>
            <a:srgbClr val="2E7D32"/>
          </a:solidFill>
          <a:ln/>
        </p:spPr>
        <p:txBody>
          <a:bodyPr/>
          <a:lstStyle/>
          <a:p>
            <a:endParaRPr lang="en-AU"/>
          </a:p>
        </p:txBody>
      </p:sp>
      <p:pic>
        <p:nvPicPr>
          <p:cNvPr id="25" name="reframing_test-icon-24" descr="preencoded.png"/>
          <p:cNvPicPr>
            <a:picLocks noChangeAspect="1"/>
          </p:cNvPicPr>
          <p:nvPr/>
        </p:nvPicPr>
        <p:blipFill>
          <a:blip r:embed="rId6"/>
          <a:stretch>
            <a:fillRect/>
          </a:stretch>
        </p:blipFill>
        <p:spPr>
          <a:xfrm>
            <a:off x="11696700" y="2590800"/>
            <a:ext cx="381000" cy="381000"/>
          </a:xfrm>
          <a:prstGeom prst="rect">
            <a:avLst/>
          </a:prstGeom>
        </p:spPr>
      </p:pic>
      <p:sp>
        <p:nvSpPr>
          <p:cNvPr id="26" name="reframing_test-text-25"/>
          <p:cNvSpPr/>
          <p:nvPr/>
        </p:nvSpPr>
        <p:spPr>
          <a:xfrm>
            <a:off x="11696700" y="3124200"/>
            <a:ext cx="2667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TRUE function</a:t>
            </a:r>
            <a:endParaRPr lang="en-US" sz="1800" dirty="0"/>
          </a:p>
        </p:txBody>
      </p:sp>
      <p:sp>
        <p:nvSpPr>
          <p:cNvPr id="27" name="reframing_test-text-26"/>
          <p:cNvSpPr/>
          <p:nvPr/>
        </p:nvSpPr>
        <p:spPr>
          <a:xfrm>
            <a:off x="11696700" y="3530600"/>
            <a:ext cx="2667000" cy="304800"/>
          </a:xfrm>
          <a:prstGeom prst="rect">
            <a:avLst/>
          </a:prstGeom>
          <a:noFill/>
          <a:ln/>
        </p:spPr>
        <p:txBody>
          <a:bodyPr wrap="square" lIns="0" tIns="0" rIns="0" bIns="0" rtlCol="0" anchor="t"/>
          <a:lstStyle/>
          <a:p>
            <a:pPr marL="0" indent="0" algn="l">
              <a:buNone/>
            </a:pPr>
            <a:r>
              <a:rPr lang="en-US" sz="1500" dirty="0">
                <a:solidFill>
                  <a:srgbClr val="1A2527"/>
                </a:solidFill>
                <a:latin typeface="Inter" pitchFamily="34" charset="0"/>
                <a:ea typeface="Inter" pitchFamily="34" charset="-122"/>
                <a:cs typeface="Inter" pitchFamily="34" charset="-120"/>
              </a:rPr>
              <a:t>Albumin · INR</a:t>
            </a:r>
            <a:endParaRPr lang="en-US" sz="1500" dirty="0"/>
          </a:p>
        </p:txBody>
      </p:sp>
      <p:sp>
        <p:nvSpPr>
          <p:cNvPr id="28" name="reframing_test-text-27"/>
          <p:cNvSpPr/>
          <p:nvPr/>
        </p:nvSpPr>
        <p:spPr>
          <a:xfrm>
            <a:off x="11696700" y="4191000"/>
            <a:ext cx="2667000" cy="1524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Synthesis — the prognostic ones</a:t>
            </a:r>
            <a:endParaRPr lang="en-US" sz="1400" dirty="0"/>
          </a:p>
        </p:txBody>
      </p:sp>
      <p:sp>
        <p:nvSpPr>
          <p:cNvPr id="29" name="reframing_test-shape-28"/>
          <p:cNvSpPr/>
          <p:nvPr/>
        </p:nvSpPr>
        <p:spPr>
          <a:xfrm>
            <a:off x="762000" y="6350000"/>
            <a:ext cx="14732000" cy="1143000"/>
          </a:xfrm>
          <a:prstGeom prst="roundRect">
            <a:avLst>
              <a:gd name="adj" fmla="val 11111"/>
            </a:avLst>
          </a:prstGeom>
          <a:solidFill>
            <a:srgbClr val="0F4C5C"/>
          </a:solidFill>
          <a:ln/>
        </p:spPr>
        <p:txBody>
          <a:bodyPr/>
          <a:lstStyle/>
          <a:p>
            <a:endParaRPr lang="en-AU"/>
          </a:p>
        </p:txBody>
      </p:sp>
      <p:sp>
        <p:nvSpPr>
          <p:cNvPr id="30" name="reframing_test-text-29"/>
          <p:cNvSpPr/>
          <p:nvPr/>
        </p:nvSpPr>
        <p:spPr>
          <a:xfrm>
            <a:off x="1117600" y="6604000"/>
            <a:ext cx="14020800" cy="660400"/>
          </a:xfrm>
          <a:prstGeom prst="rect">
            <a:avLst/>
          </a:prstGeom>
          <a:noFill/>
          <a:ln/>
        </p:spPr>
        <p:txBody>
          <a:bodyPr wrap="square" lIns="0" tIns="0" rIns="0" bIns="0" rtlCol="0" anchor="ctr"/>
          <a:lstStyle/>
          <a:p>
            <a:pPr marL="0" indent="0" algn="l">
              <a:lnSpc>
                <a:spcPts val="2240"/>
              </a:lnSpc>
              <a:buNone/>
            </a:pPr>
            <a:r>
              <a:rPr lang="en-US" sz="1600" b="1" dirty="0">
                <a:solidFill>
                  <a:srgbClr val="FFFFFF"/>
                </a:solidFill>
                <a:latin typeface="Inter" pitchFamily="34" charset="0"/>
                <a:ea typeface="Inter" pitchFamily="34" charset="-122"/>
                <a:cs typeface="Inter" pitchFamily="34" charset="-120"/>
              </a:rPr>
              <a:t>Clinical pearl:</a:t>
            </a:r>
            <a:r>
              <a:rPr lang="en-US" sz="1600" dirty="0">
                <a:solidFill>
                  <a:srgbClr val="FFFFFF"/>
                </a:solidFill>
                <a:latin typeface="Inter" pitchFamily="34" charset="0"/>
                <a:ea typeface="Inter" pitchFamily="34" charset="-122"/>
                <a:cs typeface="Inter" pitchFamily="34" charset="-120"/>
              </a:rPr>
              <a:t> A normal ALT/AST does not equal a healthy liver. Cirrhosis can present with near-normal enzymes — look at platelets, albumin and synthetic markers.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4C5C"/>
        </a:solidFill>
        <a:effectLst/>
      </p:bgPr>
    </p:bg>
    <p:spTree>
      <p:nvGrpSpPr>
        <p:cNvPr id="1" name=""/>
        <p:cNvGrpSpPr/>
        <p:nvPr/>
      </p:nvGrpSpPr>
      <p:grpSpPr>
        <a:xfrm>
          <a:off x="0" y="0"/>
          <a:ext cx="0" cy="0"/>
          <a:chOff x="0" y="0"/>
          <a:chExt cx="0" cy="0"/>
        </a:xfrm>
      </p:grpSpPr>
      <p:sp>
        <p:nvSpPr>
          <p:cNvPr id="2" name="case1-shape-1"/>
          <p:cNvSpPr/>
          <p:nvPr/>
        </p:nvSpPr>
        <p:spPr>
          <a:xfrm>
            <a:off x="12446000" y="-1270000"/>
            <a:ext cx="5334000" cy="5334000"/>
          </a:xfrm>
          <a:prstGeom prst="ellipse">
            <a:avLst/>
          </a:prstGeom>
          <a:solidFill>
            <a:srgbClr val="FFFFFF">
              <a:alpha val="6000"/>
            </a:srgbClr>
          </a:solidFill>
          <a:ln/>
        </p:spPr>
        <p:txBody>
          <a:bodyPr/>
          <a:lstStyle/>
          <a:p>
            <a:endParaRPr lang="en-AU"/>
          </a:p>
        </p:txBody>
      </p:sp>
      <p:sp>
        <p:nvSpPr>
          <p:cNvPr id="3" name="case1-shape-2"/>
          <p:cNvSpPr/>
          <p:nvPr/>
        </p:nvSpPr>
        <p:spPr>
          <a:xfrm>
            <a:off x="13970000" y="3048000"/>
            <a:ext cx="4064000" cy="4064000"/>
          </a:xfrm>
          <a:prstGeom prst="ellipse">
            <a:avLst/>
          </a:prstGeom>
          <a:solidFill>
            <a:srgbClr val="FFFFFF">
              <a:alpha val="5000"/>
            </a:srgbClr>
          </a:solidFill>
          <a:ln/>
        </p:spPr>
        <p:txBody>
          <a:bodyPr/>
          <a:lstStyle/>
          <a:p>
            <a:endParaRPr lang="en-AU"/>
          </a:p>
        </p:txBody>
      </p:sp>
      <p:sp>
        <p:nvSpPr>
          <p:cNvPr id="4" name="case1-text-3"/>
          <p:cNvSpPr/>
          <p:nvPr/>
        </p:nvSpPr>
        <p:spPr>
          <a:xfrm>
            <a:off x="762000" y="6350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CASE STUDY 1</a:t>
            </a:r>
            <a:endParaRPr lang="en-US" sz="1600" dirty="0"/>
          </a:p>
        </p:txBody>
      </p:sp>
      <p:sp>
        <p:nvSpPr>
          <p:cNvPr id="5" name="case1-text-4"/>
          <p:cNvSpPr/>
          <p:nvPr/>
        </p:nvSpPr>
        <p:spPr>
          <a:xfrm>
            <a:off x="762000" y="965200"/>
            <a:ext cx="11430000" cy="711200"/>
          </a:xfrm>
          <a:prstGeom prst="rect">
            <a:avLst/>
          </a:prstGeom>
          <a:noFill/>
          <a:ln/>
        </p:spPr>
        <p:txBody>
          <a:bodyPr wrap="square" lIns="0" tIns="0" rIns="0" bIns="0" rtlCol="0" anchor="t"/>
          <a:lstStyle/>
          <a:p>
            <a:pPr marL="0" indent="0" algn="l">
              <a:buNone/>
            </a:pPr>
            <a:r>
              <a:rPr lang="en-US" sz="3400" dirty="0">
                <a:solidFill>
                  <a:srgbClr val="FFFFFF"/>
                </a:solidFill>
                <a:latin typeface="Lora" pitchFamily="34" charset="0"/>
                <a:ea typeface="Microsoft YaHei" pitchFamily="34" charset="-122"/>
                <a:cs typeface="Lora" pitchFamily="34" charset="-120"/>
              </a:rPr>
              <a:t>The tired accountant</a:t>
            </a:r>
            <a:endParaRPr lang="en-US" sz="3400" dirty="0"/>
          </a:p>
        </p:txBody>
      </p:sp>
      <p:sp>
        <p:nvSpPr>
          <p:cNvPr id="6" name="case1-shape-5"/>
          <p:cNvSpPr/>
          <p:nvPr/>
        </p:nvSpPr>
        <p:spPr>
          <a:xfrm>
            <a:off x="14325600" y="635000"/>
            <a:ext cx="660400" cy="660400"/>
          </a:xfrm>
          <a:prstGeom prst="ellipse">
            <a:avLst/>
          </a:prstGeom>
          <a:solidFill>
            <a:srgbClr val="E3A018"/>
          </a:solidFill>
          <a:ln/>
        </p:spPr>
        <p:txBody>
          <a:bodyPr/>
          <a:lstStyle/>
          <a:p>
            <a:endParaRPr lang="en-AU"/>
          </a:p>
        </p:txBody>
      </p:sp>
      <p:pic>
        <p:nvPicPr>
          <p:cNvPr id="7" name="case1-icon-6" descr="preencoded.png"/>
          <p:cNvPicPr>
            <a:picLocks noChangeAspect="1"/>
          </p:cNvPicPr>
          <p:nvPr/>
        </p:nvPicPr>
        <p:blipFill>
          <a:blip r:embed="rId3"/>
          <a:stretch>
            <a:fillRect/>
          </a:stretch>
        </p:blipFill>
        <p:spPr>
          <a:xfrm>
            <a:off x="14490700" y="800100"/>
            <a:ext cx="330200" cy="330200"/>
          </a:xfrm>
          <a:prstGeom prst="rect">
            <a:avLst/>
          </a:prstGeom>
        </p:spPr>
      </p:pic>
      <p:sp>
        <p:nvSpPr>
          <p:cNvPr id="8" name="case1-shape-7"/>
          <p:cNvSpPr/>
          <p:nvPr/>
        </p:nvSpPr>
        <p:spPr>
          <a:xfrm>
            <a:off x="762000" y="2032000"/>
            <a:ext cx="6985000" cy="5207000"/>
          </a:xfrm>
          <a:prstGeom prst="roundRect">
            <a:avLst>
              <a:gd name="adj" fmla="val 2439"/>
            </a:avLst>
          </a:prstGeom>
          <a:solidFill>
            <a:srgbClr val="FFFFFF"/>
          </a:solidFill>
          <a:ln/>
        </p:spPr>
        <p:txBody>
          <a:bodyPr/>
          <a:lstStyle/>
          <a:p>
            <a:endParaRPr lang="en-AU"/>
          </a:p>
        </p:txBody>
      </p:sp>
      <p:sp>
        <p:nvSpPr>
          <p:cNvPr id="9" name="case1-text-8"/>
          <p:cNvSpPr/>
          <p:nvPr/>
        </p:nvSpPr>
        <p:spPr>
          <a:xfrm>
            <a:off x="1143000" y="2387600"/>
            <a:ext cx="6223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Clinical vignette</a:t>
            </a:r>
            <a:endParaRPr lang="en-US" sz="1800" dirty="0"/>
          </a:p>
        </p:txBody>
      </p:sp>
      <p:sp>
        <p:nvSpPr>
          <p:cNvPr id="10" name="case1-text-9"/>
          <p:cNvSpPr/>
          <p:nvPr/>
        </p:nvSpPr>
        <p:spPr>
          <a:xfrm>
            <a:off x="1143000" y="2946400"/>
            <a:ext cx="6223000" cy="4064000"/>
          </a:xfrm>
          <a:prstGeom prst="rect">
            <a:avLst/>
          </a:prstGeom>
          <a:noFill/>
          <a:ln/>
        </p:spPr>
        <p:txBody>
          <a:bodyPr wrap="square" lIns="0" tIns="0" rIns="0" bIns="0" rtlCol="0" anchor="t"/>
          <a:lstStyle/>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52M, BMI 31, T2DM and hypertension</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Routine bloods: ALT 78, AST 52, ALP 95, GGT 70</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Bilirubin, albumin and INR all normal</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Drinks ~6 standard drinks/week, on no regular medications</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Feels "just tired" — no other symptoms</a:t>
            </a:r>
            <a:endParaRPr lang="en-US" sz="1500" dirty="0"/>
          </a:p>
        </p:txBody>
      </p:sp>
      <p:sp>
        <p:nvSpPr>
          <p:cNvPr id="11" name="case1-shape-10"/>
          <p:cNvSpPr/>
          <p:nvPr/>
        </p:nvSpPr>
        <p:spPr>
          <a:xfrm>
            <a:off x="8255000" y="2032000"/>
            <a:ext cx="7239000" cy="1397000"/>
          </a:xfrm>
          <a:prstGeom prst="roundRect">
            <a:avLst>
              <a:gd name="adj" fmla="val 9091"/>
            </a:avLst>
          </a:prstGeom>
          <a:solidFill>
            <a:srgbClr val="E3A018"/>
          </a:solidFill>
          <a:ln/>
        </p:spPr>
        <p:txBody>
          <a:bodyPr/>
          <a:lstStyle/>
          <a:p>
            <a:endParaRPr lang="en-AU"/>
          </a:p>
        </p:txBody>
      </p:sp>
      <p:sp>
        <p:nvSpPr>
          <p:cNvPr id="12" name="case1-text-11"/>
          <p:cNvSpPr/>
          <p:nvPr/>
        </p:nvSpPr>
        <p:spPr>
          <a:xfrm>
            <a:off x="8610600" y="2311400"/>
            <a:ext cx="6527800" cy="889000"/>
          </a:xfrm>
          <a:prstGeom prst="rect">
            <a:avLst/>
          </a:prstGeom>
          <a:noFill/>
          <a:ln/>
        </p:spPr>
        <p:txBody>
          <a:bodyPr wrap="square" lIns="0" tIns="0" rIns="0" bIns="0" rtlCol="0" anchor="ctr"/>
          <a:lstStyle/>
          <a:p>
            <a:pPr marL="0" indent="0" algn="l">
              <a:buNone/>
            </a:pPr>
            <a:r>
              <a:rPr lang="en-US" sz="1900" b="1" dirty="0">
                <a:solidFill>
                  <a:srgbClr val="0F4C5C"/>
                </a:solidFill>
                <a:latin typeface="Inter" pitchFamily="34" charset="0"/>
                <a:ea typeface="Inter" pitchFamily="34" charset="-122"/>
                <a:cs typeface="Inter" pitchFamily="34" charset="-120"/>
              </a:rPr>
              <a:t>What pattern is this — and what's the most likely cause?</a:t>
            </a:r>
            <a:endParaRPr lang="en-US" sz="1900" dirty="0"/>
          </a:p>
        </p:txBody>
      </p:sp>
      <p:sp>
        <p:nvSpPr>
          <p:cNvPr id="13" name="case1-shape-12"/>
          <p:cNvSpPr/>
          <p:nvPr/>
        </p:nvSpPr>
        <p:spPr>
          <a:xfrm>
            <a:off x="8255000" y="3683000"/>
            <a:ext cx="7239000" cy="3556000"/>
          </a:xfrm>
          <a:prstGeom prst="roundRect">
            <a:avLst>
              <a:gd name="adj" fmla="val 3571"/>
            </a:avLst>
          </a:prstGeom>
          <a:solidFill>
            <a:srgbClr val="0F4C5C"/>
          </a:solidFill>
          <a:ln w="25400">
            <a:solidFill>
              <a:srgbClr val="E3A018"/>
            </a:solidFill>
            <a:prstDash val="solid"/>
          </a:ln>
        </p:spPr>
        <p:txBody>
          <a:bodyPr/>
          <a:lstStyle/>
          <a:p>
            <a:endParaRPr lang="en-AU"/>
          </a:p>
        </p:txBody>
      </p:sp>
      <p:sp>
        <p:nvSpPr>
          <p:cNvPr id="14" name="case1-text-13"/>
          <p:cNvSpPr/>
          <p:nvPr/>
        </p:nvSpPr>
        <p:spPr>
          <a:xfrm>
            <a:off x="8610600" y="40132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DISCUSSION</a:t>
            </a:r>
            <a:endParaRPr lang="en-US" sz="1600" dirty="0"/>
          </a:p>
        </p:txBody>
      </p:sp>
      <p:sp>
        <p:nvSpPr>
          <p:cNvPr id="15" name="case1-text-14"/>
          <p:cNvSpPr/>
          <p:nvPr/>
        </p:nvSpPr>
        <p:spPr>
          <a:xfrm>
            <a:off x="8610600" y="4419600"/>
            <a:ext cx="6527800" cy="2667000"/>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Inter" pitchFamily="34" charset="0"/>
                <a:ea typeface="Inter" pitchFamily="34" charset="-122"/>
                <a:cs typeface="Inter" pitchFamily="34" charset="-120"/>
              </a:rPr>
              <a:t>Mild hepatocellular pattern (R ratio ≈ 6) with strong metabolic risk factors. MASLD is the front-runner. Confirm with a liver screen to exclude mimics (viral, iron, autoimmune), then risk-stratify for fibrosis with FIB-4 before reassuring.</a:t>
            </a:r>
            <a:endParaRPr lang="en-US" sz="1600" dirty="0"/>
          </a:p>
        </p:txBody>
      </p:sp>
      <p:sp>
        <p:nvSpPr>
          <p:cNvPr id="16" name="case1-text-15"/>
          <p:cNvSpPr/>
          <p:nvPr/>
        </p:nvSpPr>
        <p:spPr>
          <a:xfrm>
            <a:off x="14986000" y="8610600"/>
            <a:ext cx="762000" cy="254000"/>
          </a:xfrm>
          <a:prstGeom prst="rect">
            <a:avLst/>
          </a:prstGeom>
          <a:noFill/>
          <a:ln/>
        </p:spPr>
        <p:txBody>
          <a:bodyPr wrap="square" lIns="0" tIns="0" rIns="0" bIns="0" rtlCol="0" anchor="t"/>
          <a:lstStyle/>
          <a:p>
            <a:pPr marL="0" indent="0" algn="r">
              <a:buNone/>
            </a:pPr>
            <a:r>
              <a:rPr lang="en-US" sz="1400" dirty="0">
                <a:solidFill>
                  <a:srgbClr val="B9C7C7"/>
                </a:solidFill>
                <a:latin typeface="Inter" pitchFamily="34" charset="0"/>
                <a:ea typeface="Inter" pitchFamily="34" charset="-122"/>
                <a:cs typeface="Inter"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differential-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STEP 2 — THE DIFFERENTIAL</a:t>
            </a:r>
            <a:endParaRPr lang="en-US" sz="1600" dirty="0"/>
          </a:p>
        </p:txBody>
      </p:sp>
      <p:sp>
        <p:nvSpPr>
          <p:cNvPr id="3" name="differential-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The causes you'll actually see</a:t>
            </a:r>
            <a:endParaRPr lang="en-US" sz="3600" dirty="0"/>
          </a:p>
        </p:txBody>
      </p:sp>
      <p:sp>
        <p:nvSpPr>
          <p:cNvPr id="4" name="differential-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5</a:t>
            </a:r>
            <a:endParaRPr lang="en-US" sz="1400" dirty="0"/>
          </a:p>
        </p:txBody>
      </p:sp>
      <p:sp>
        <p:nvSpPr>
          <p:cNvPr id="5" name="differential-text-4"/>
          <p:cNvSpPr/>
          <p:nvPr/>
        </p:nvSpPr>
        <p:spPr>
          <a:xfrm>
            <a:off x="762000" y="1498600"/>
            <a:ext cx="14732000" cy="431800"/>
          </a:xfrm>
          <a:prstGeom prst="rect">
            <a:avLst/>
          </a:prstGeom>
          <a:noFill/>
          <a:ln/>
        </p:spPr>
        <p:txBody>
          <a:bodyPr wrap="square" lIns="0" tIns="0" rIns="0" bIns="0" rtlCol="0" anchor="t"/>
          <a:lstStyle/>
          <a:p>
            <a:pPr marL="0" indent="0" algn="l">
              <a:buNone/>
            </a:pPr>
            <a:r>
              <a:rPr lang="en-US" sz="1600" dirty="0">
                <a:solidFill>
                  <a:srgbClr val="5C6B6D"/>
                </a:solidFill>
                <a:latin typeface="Inter" pitchFamily="34" charset="0"/>
                <a:ea typeface="Inter" pitchFamily="34" charset="-122"/>
                <a:cs typeface="Inter" pitchFamily="34" charset="-120"/>
              </a:rPr>
              <a:t>A handful of conditions explain the overwhelming majority of abnormal LFTs in general practice.</a:t>
            </a:r>
            <a:endParaRPr lang="en-US" sz="1600" dirty="0"/>
          </a:p>
        </p:txBody>
      </p:sp>
      <p:sp>
        <p:nvSpPr>
          <p:cNvPr id="6" name="differential-shape-5"/>
          <p:cNvSpPr/>
          <p:nvPr/>
        </p:nvSpPr>
        <p:spPr>
          <a:xfrm>
            <a:off x="762000" y="2159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7" name="differential-shape-6"/>
          <p:cNvSpPr/>
          <p:nvPr/>
        </p:nvSpPr>
        <p:spPr>
          <a:xfrm>
            <a:off x="1066800" y="2463800"/>
            <a:ext cx="508000" cy="508000"/>
          </a:xfrm>
          <a:prstGeom prst="ellipse">
            <a:avLst/>
          </a:prstGeom>
          <a:solidFill>
            <a:srgbClr val="0F4C5C"/>
          </a:solidFill>
          <a:ln/>
        </p:spPr>
        <p:txBody>
          <a:bodyPr/>
          <a:lstStyle/>
          <a:p>
            <a:endParaRPr lang="en-AU"/>
          </a:p>
        </p:txBody>
      </p:sp>
      <p:pic>
        <p:nvPicPr>
          <p:cNvPr id="8" name="differential-icon-7" descr="preencoded.png"/>
          <p:cNvPicPr>
            <a:picLocks noChangeAspect="1"/>
          </p:cNvPicPr>
          <p:nvPr/>
        </p:nvPicPr>
        <p:blipFill>
          <a:blip r:embed="rId3"/>
          <a:stretch>
            <a:fillRect/>
          </a:stretch>
        </p:blipFill>
        <p:spPr>
          <a:xfrm>
            <a:off x="1193800" y="2590800"/>
            <a:ext cx="254000" cy="254000"/>
          </a:xfrm>
          <a:prstGeom prst="rect">
            <a:avLst/>
          </a:prstGeom>
        </p:spPr>
      </p:pic>
      <p:sp>
        <p:nvSpPr>
          <p:cNvPr id="9" name="differential-text-8"/>
          <p:cNvSpPr/>
          <p:nvPr/>
        </p:nvSpPr>
        <p:spPr>
          <a:xfrm>
            <a:off x="1727200" y="2438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MASLD / fatty liver</a:t>
            </a:r>
            <a:endParaRPr lang="en-US" sz="1600" dirty="0"/>
          </a:p>
        </p:txBody>
      </p:sp>
      <p:sp>
        <p:nvSpPr>
          <p:cNvPr id="10" name="differential-text-9"/>
          <p:cNvSpPr/>
          <p:nvPr/>
        </p:nvSpPr>
        <p:spPr>
          <a:xfrm>
            <a:off x="1727200" y="2819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By far the most common cause; linked to obesity, T2DM, dyslipidaemia.</a:t>
            </a:r>
            <a:endParaRPr lang="en-US" sz="1400" dirty="0"/>
          </a:p>
        </p:txBody>
      </p:sp>
      <p:sp>
        <p:nvSpPr>
          <p:cNvPr id="11" name="differential-shape-10"/>
          <p:cNvSpPr/>
          <p:nvPr/>
        </p:nvSpPr>
        <p:spPr>
          <a:xfrm>
            <a:off x="5588000" y="2159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2" name="differential-shape-11"/>
          <p:cNvSpPr/>
          <p:nvPr/>
        </p:nvSpPr>
        <p:spPr>
          <a:xfrm>
            <a:off x="5892800" y="2463800"/>
            <a:ext cx="508000" cy="508000"/>
          </a:xfrm>
          <a:prstGeom prst="ellipse">
            <a:avLst/>
          </a:prstGeom>
          <a:solidFill>
            <a:srgbClr val="E3A018"/>
          </a:solidFill>
          <a:ln/>
        </p:spPr>
        <p:txBody>
          <a:bodyPr/>
          <a:lstStyle/>
          <a:p>
            <a:endParaRPr lang="en-AU"/>
          </a:p>
        </p:txBody>
      </p:sp>
      <p:pic>
        <p:nvPicPr>
          <p:cNvPr id="13" name="differential-icon-12" descr="preencoded.png"/>
          <p:cNvPicPr>
            <a:picLocks noChangeAspect="1"/>
          </p:cNvPicPr>
          <p:nvPr/>
        </p:nvPicPr>
        <p:blipFill>
          <a:blip r:embed="rId4"/>
          <a:stretch>
            <a:fillRect/>
          </a:stretch>
        </p:blipFill>
        <p:spPr>
          <a:xfrm>
            <a:off x="6019800" y="2590800"/>
            <a:ext cx="254000" cy="254000"/>
          </a:xfrm>
          <a:prstGeom prst="rect">
            <a:avLst/>
          </a:prstGeom>
        </p:spPr>
      </p:pic>
      <p:sp>
        <p:nvSpPr>
          <p:cNvPr id="14" name="differential-text-13"/>
          <p:cNvSpPr/>
          <p:nvPr/>
        </p:nvSpPr>
        <p:spPr>
          <a:xfrm>
            <a:off x="6553200" y="2438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Alcohol / MetALD</a:t>
            </a:r>
            <a:endParaRPr lang="en-US" sz="1600" dirty="0"/>
          </a:p>
        </p:txBody>
      </p:sp>
      <p:sp>
        <p:nvSpPr>
          <p:cNvPr id="15" name="differential-text-14"/>
          <p:cNvSpPr/>
          <p:nvPr/>
        </p:nvSpPr>
        <p:spPr>
          <a:xfrm>
            <a:off x="6553200" y="2819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Often overlaps with metabolic risk — take a genuine drinking history.</a:t>
            </a:r>
            <a:endParaRPr lang="en-US" sz="1400" dirty="0"/>
          </a:p>
        </p:txBody>
      </p:sp>
      <p:sp>
        <p:nvSpPr>
          <p:cNvPr id="16" name="differential-shape-15"/>
          <p:cNvSpPr/>
          <p:nvPr/>
        </p:nvSpPr>
        <p:spPr>
          <a:xfrm>
            <a:off x="10414000" y="2159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7" name="differential-shape-16"/>
          <p:cNvSpPr/>
          <p:nvPr/>
        </p:nvSpPr>
        <p:spPr>
          <a:xfrm>
            <a:off x="10718800" y="2463800"/>
            <a:ext cx="508000" cy="508000"/>
          </a:xfrm>
          <a:prstGeom prst="ellipse">
            <a:avLst/>
          </a:prstGeom>
          <a:solidFill>
            <a:srgbClr val="5B9BD5"/>
          </a:solidFill>
          <a:ln/>
        </p:spPr>
        <p:txBody>
          <a:bodyPr/>
          <a:lstStyle/>
          <a:p>
            <a:endParaRPr lang="en-AU"/>
          </a:p>
        </p:txBody>
      </p:sp>
      <p:pic>
        <p:nvPicPr>
          <p:cNvPr id="18" name="differential-icon-17" descr="preencoded.png"/>
          <p:cNvPicPr>
            <a:picLocks noChangeAspect="1"/>
          </p:cNvPicPr>
          <p:nvPr/>
        </p:nvPicPr>
        <p:blipFill>
          <a:blip r:embed="rId5"/>
          <a:stretch>
            <a:fillRect/>
          </a:stretch>
        </p:blipFill>
        <p:spPr>
          <a:xfrm>
            <a:off x="10845800" y="2590800"/>
            <a:ext cx="254000" cy="254000"/>
          </a:xfrm>
          <a:prstGeom prst="rect">
            <a:avLst/>
          </a:prstGeom>
        </p:spPr>
      </p:pic>
      <p:sp>
        <p:nvSpPr>
          <p:cNvPr id="19" name="differential-text-18"/>
          <p:cNvSpPr/>
          <p:nvPr/>
        </p:nvSpPr>
        <p:spPr>
          <a:xfrm>
            <a:off x="11379200" y="2438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Medications (DILI)</a:t>
            </a:r>
            <a:endParaRPr lang="en-US" sz="1600" dirty="0"/>
          </a:p>
        </p:txBody>
      </p:sp>
      <p:sp>
        <p:nvSpPr>
          <p:cNvPr id="20" name="differential-text-19"/>
          <p:cNvSpPr/>
          <p:nvPr/>
        </p:nvSpPr>
        <p:spPr>
          <a:xfrm>
            <a:off x="11379200" y="2819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Prescription, OTC, herbal and supplement use — always ask.</a:t>
            </a:r>
            <a:endParaRPr lang="en-US" sz="1400" dirty="0"/>
          </a:p>
        </p:txBody>
      </p:sp>
      <p:sp>
        <p:nvSpPr>
          <p:cNvPr id="21" name="differential-shape-20"/>
          <p:cNvSpPr/>
          <p:nvPr/>
        </p:nvSpPr>
        <p:spPr>
          <a:xfrm>
            <a:off x="762000" y="4572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2" name="differential-shape-21"/>
          <p:cNvSpPr/>
          <p:nvPr/>
        </p:nvSpPr>
        <p:spPr>
          <a:xfrm>
            <a:off x="1066800" y="4876800"/>
            <a:ext cx="508000" cy="508000"/>
          </a:xfrm>
          <a:prstGeom prst="ellipse">
            <a:avLst/>
          </a:prstGeom>
          <a:solidFill>
            <a:srgbClr val="2E7D32"/>
          </a:solidFill>
          <a:ln/>
        </p:spPr>
        <p:txBody>
          <a:bodyPr/>
          <a:lstStyle/>
          <a:p>
            <a:endParaRPr lang="en-AU"/>
          </a:p>
        </p:txBody>
      </p:sp>
      <p:pic>
        <p:nvPicPr>
          <p:cNvPr id="23" name="differential-icon-22" descr="preencoded.png"/>
          <p:cNvPicPr>
            <a:picLocks noChangeAspect="1"/>
          </p:cNvPicPr>
          <p:nvPr/>
        </p:nvPicPr>
        <p:blipFill>
          <a:blip r:embed="rId6"/>
          <a:stretch>
            <a:fillRect/>
          </a:stretch>
        </p:blipFill>
        <p:spPr>
          <a:xfrm>
            <a:off x="1193800" y="5003800"/>
            <a:ext cx="254000" cy="254000"/>
          </a:xfrm>
          <a:prstGeom prst="rect">
            <a:avLst/>
          </a:prstGeom>
        </p:spPr>
      </p:pic>
      <p:sp>
        <p:nvSpPr>
          <p:cNvPr id="24" name="differential-text-23"/>
          <p:cNvSpPr/>
          <p:nvPr/>
        </p:nvSpPr>
        <p:spPr>
          <a:xfrm>
            <a:off x="1727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Viral hepatitis B &amp; C</a:t>
            </a:r>
            <a:endParaRPr lang="en-US" sz="1600" dirty="0"/>
          </a:p>
        </p:txBody>
      </p:sp>
      <p:sp>
        <p:nvSpPr>
          <p:cNvPr id="25" name="differential-text-24"/>
          <p:cNvSpPr/>
          <p:nvPr/>
        </p:nvSpPr>
        <p:spPr>
          <a:xfrm>
            <a:off x="1727200" y="5232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Both are treatable or curable — screen at least once in every adult.</a:t>
            </a:r>
            <a:endParaRPr lang="en-US" sz="1400" dirty="0"/>
          </a:p>
        </p:txBody>
      </p:sp>
      <p:sp>
        <p:nvSpPr>
          <p:cNvPr id="26" name="differential-shape-25"/>
          <p:cNvSpPr/>
          <p:nvPr/>
        </p:nvSpPr>
        <p:spPr>
          <a:xfrm>
            <a:off x="5588000" y="4572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7" name="differential-shape-26"/>
          <p:cNvSpPr/>
          <p:nvPr/>
        </p:nvSpPr>
        <p:spPr>
          <a:xfrm>
            <a:off x="5892800" y="4876800"/>
            <a:ext cx="508000" cy="508000"/>
          </a:xfrm>
          <a:prstGeom prst="ellipse">
            <a:avLst/>
          </a:prstGeom>
          <a:solidFill>
            <a:srgbClr val="D32F2F"/>
          </a:solidFill>
          <a:ln/>
        </p:spPr>
        <p:txBody>
          <a:bodyPr/>
          <a:lstStyle/>
          <a:p>
            <a:endParaRPr lang="en-AU"/>
          </a:p>
        </p:txBody>
      </p:sp>
      <p:pic>
        <p:nvPicPr>
          <p:cNvPr id="28" name="differential-icon-27" descr="preencoded.png"/>
          <p:cNvPicPr>
            <a:picLocks noChangeAspect="1"/>
          </p:cNvPicPr>
          <p:nvPr/>
        </p:nvPicPr>
        <p:blipFill>
          <a:blip r:embed="rId7"/>
          <a:stretch>
            <a:fillRect/>
          </a:stretch>
        </p:blipFill>
        <p:spPr>
          <a:xfrm>
            <a:off x="6019800" y="5003800"/>
            <a:ext cx="254000" cy="254000"/>
          </a:xfrm>
          <a:prstGeom prst="rect">
            <a:avLst/>
          </a:prstGeom>
        </p:spPr>
      </p:pic>
      <p:sp>
        <p:nvSpPr>
          <p:cNvPr id="29" name="differential-text-28"/>
          <p:cNvSpPr/>
          <p:nvPr/>
        </p:nvSpPr>
        <p:spPr>
          <a:xfrm>
            <a:off x="6553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Don't-miss rarer causes</a:t>
            </a:r>
            <a:endParaRPr lang="en-US" sz="1600" dirty="0"/>
          </a:p>
        </p:txBody>
      </p:sp>
      <p:sp>
        <p:nvSpPr>
          <p:cNvPr id="30" name="differential-text-29"/>
          <p:cNvSpPr/>
          <p:nvPr/>
        </p:nvSpPr>
        <p:spPr>
          <a:xfrm>
            <a:off x="6553200" y="5232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Haemochromatosis, autoimmune hepatitis, Wilson's, A1AT deficiency.</a:t>
            </a:r>
            <a:endParaRPr lang="en-US" sz="1400" dirty="0"/>
          </a:p>
        </p:txBody>
      </p:sp>
      <p:sp>
        <p:nvSpPr>
          <p:cNvPr id="31" name="differential-shape-30"/>
          <p:cNvSpPr/>
          <p:nvPr/>
        </p:nvSpPr>
        <p:spPr>
          <a:xfrm>
            <a:off x="10414000" y="4572000"/>
            <a:ext cx="4572000" cy="2159000"/>
          </a:xfrm>
          <a:prstGeom prst="roundRect">
            <a:avLst>
              <a:gd name="adj" fmla="val 588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32" name="differential-shape-31"/>
          <p:cNvSpPr/>
          <p:nvPr/>
        </p:nvSpPr>
        <p:spPr>
          <a:xfrm>
            <a:off x="10718800" y="4876800"/>
            <a:ext cx="508000" cy="508000"/>
          </a:xfrm>
          <a:prstGeom prst="ellipse">
            <a:avLst/>
          </a:prstGeom>
          <a:solidFill>
            <a:srgbClr val="E3A018"/>
          </a:solidFill>
          <a:ln/>
        </p:spPr>
        <p:txBody>
          <a:bodyPr/>
          <a:lstStyle/>
          <a:p>
            <a:endParaRPr lang="en-AU"/>
          </a:p>
        </p:txBody>
      </p:sp>
      <p:pic>
        <p:nvPicPr>
          <p:cNvPr id="33" name="differential-icon-32" descr="preencoded.png"/>
          <p:cNvPicPr>
            <a:picLocks noChangeAspect="1"/>
          </p:cNvPicPr>
          <p:nvPr/>
        </p:nvPicPr>
        <p:blipFill>
          <a:blip r:embed="rId8"/>
          <a:stretch>
            <a:fillRect/>
          </a:stretch>
        </p:blipFill>
        <p:spPr>
          <a:xfrm>
            <a:off x="10845800" y="5003800"/>
            <a:ext cx="254000" cy="254000"/>
          </a:xfrm>
          <a:prstGeom prst="rect">
            <a:avLst/>
          </a:prstGeom>
        </p:spPr>
      </p:pic>
      <p:sp>
        <p:nvSpPr>
          <p:cNvPr id="34" name="differential-text-33"/>
          <p:cNvSpPr/>
          <p:nvPr/>
        </p:nvSpPr>
        <p:spPr>
          <a:xfrm>
            <a:off x="11379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Cholestatic causes</a:t>
            </a:r>
            <a:endParaRPr lang="en-US" sz="1600" dirty="0"/>
          </a:p>
        </p:txBody>
      </p:sp>
      <p:sp>
        <p:nvSpPr>
          <p:cNvPr id="35" name="differential-text-34"/>
          <p:cNvSpPr/>
          <p:nvPr/>
        </p:nvSpPr>
        <p:spPr>
          <a:xfrm>
            <a:off x="11379200" y="5232400"/>
            <a:ext cx="3429000" cy="1270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Gallstones, PBC/PSC, drug-induced cholestasis, malignant obstruction.</a:t>
            </a:r>
            <a:endParaRPr lang="en-US" sz="1400" dirty="0"/>
          </a:p>
        </p:txBody>
      </p:sp>
      <p:sp>
        <p:nvSpPr>
          <p:cNvPr id="36" name="differential-shape-35"/>
          <p:cNvSpPr/>
          <p:nvPr/>
        </p:nvSpPr>
        <p:spPr>
          <a:xfrm>
            <a:off x="762000" y="7175500"/>
            <a:ext cx="14224000" cy="889000"/>
          </a:xfrm>
          <a:prstGeom prst="roundRect">
            <a:avLst>
              <a:gd name="adj" fmla="val 14286"/>
            </a:avLst>
          </a:prstGeom>
          <a:solidFill>
            <a:srgbClr val="0F4C5C"/>
          </a:solidFill>
          <a:ln/>
        </p:spPr>
        <p:txBody>
          <a:bodyPr/>
          <a:lstStyle/>
          <a:p>
            <a:endParaRPr lang="en-AU"/>
          </a:p>
        </p:txBody>
      </p:sp>
      <p:sp>
        <p:nvSpPr>
          <p:cNvPr id="37" name="differential-text-36"/>
          <p:cNvSpPr/>
          <p:nvPr/>
        </p:nvSpPr>
        <p:spPr>
          <a:xfrm>
            <a:off x="1143000" y="7404100"/>
            <a:ext cx="13462000" cy="4572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Inter" pitchFamily="34" charset="0"/>
                <a:ea typeface="Inter" pitchFamily="34" charset="-122"/>
                <a:cs typeface="Inter" pitchFamily="34" charset="-120"/>
              </a:rPr>
              <a:t>Most abnormal LFTs referred to gastroenterology have an identifiable, manageable cause once systematically worked through.</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masld-text-1"/>
          <p:cNvSpPr/>
          <p:nvPr/>
        </p:nvSpPr>
        <p:spPr>
          <a:xfrm>
            <a:off x="762000" y="457200"/>
            <a:ext cx="762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COMMON CAUSE #1</a:t>
            </a:r>
            <a:endParaRPr lang="en-US" sz="1600" dirty="0"/>
          </a:p>
        </p:txBody>
      </p:sp>
      <p:sp>
        <p:nvSpPr>
          <p:cNvPr id="3" name="masld-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MASLD: new name, same epidemic</a:t>
            </a:r>
            <a:endParaRPr lang="en-US" sz="3600" dirty="0"/>
          </a:p>
        </p:txBody>
      </p:sp>
      <p:sp>
        <p:nvSpPr>
          <p:cNvPr id="4" name="masld-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6</a:t>
            </a:r>
            <a:endParaRPr lang="en-US" sz="1400" dirty="0"/>
          </a:p>
        </p:txBody>
      </p:sp>
      <p:sp>
        <p:nvSpPr>
          <p:cNvPr id="5" name="masld-shape-4"/>
          <p:cNvSpPr/>
          <p:nvPr/>
        </p:nvSpPr>
        <p:spPr>
          <a:xfrm>
            <a:off x="762000" y="2032000"/>
            <a:ext cx="7112000" cy="5334000"/>
          </a:xfrm>
          <a:prstGeom prst="roundRect">
            <a:avLst>
              <a:gd name="adj" fmla="val 2381"/>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masld-text-5"/>
          <p:cNvSpPr/>
          <p:nvPr/>
        </p:nvSpPr>
        <p:spPr>
          <a:xfrm>
            <a:off x="1143000" y="2413000"/>
            <a:ext cx="6350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NAFLD is now MASLD</a:t>
            </a:r>
            <a:endParaRPr lang="en-US" sz="1800" dirty="0"/>
          </a:p>
        </p:txBody>
      </p:sp>
      <p:sp>
        <p:nvSpPr>
          <p:cNvPr id="7" name="masld-text-6"/>
          <p:cNvSpPr/>
          <p:nvPr/>
        </p:nvSpPr>
        <p:spPr>
          <a:xfrm>
            <a:off x="1143000" y="2895600"/>
            <a:ext cx="6350000" cy="4191000"/>
          </a:xfrm>
          <a:prstGeom prst="rect">
            <a:avLst/>
          </a:prstGeom>
          <a:noFill/>
          <a:ln/>
        </p:spPr>
        <p:txBody>
          <a:bodyPr wrap="square" lIns="0" tIns="0" rIns="0" bIns="0" rtlCol="0" anchor="t"/>
          <a:lstStyle/>
          <a:p>
            <a:pPr marL="0" indent="0" algn="l">
              <a:lnSpc>
                <a:spcPts val="2400"/>
              </a:lnSpc>
              <a:buNone/>
            </a:pPr>
            <a:r>
              <a:rPr lang="en-US" sz="1500" dirty="0">
                <a:solidFill>
                  <a:srgbClr val="1A2527"/>
                </a:solidFill>
                <a:latin typeface="Inter" pitchFamily="34" charset="0"/>
                <a:ea typeface="Inter" pitchFamily="34" charset="-122"/>
                <a:cs typeface="Inter" pitchFamily="34" charset="-120"/>
              </a:rPr>
              <a:t>The 2023 multisociety consensus renamed NAFLD to MASLD (metabolic dysfunction-associated steatotic liver disease) to reflect its true metabolic driver. Diagnosis requires hepatic steatosis (on imaging or biopsy) plus at least one cardiometabolic risk factor. Where significant alcohol intake coexists with metabolic risk, the term MetALD applies. This is now the single most common cause of chronic liver disease in Australia, affecting roughly one in four adults.</a:t>
            </a:r>
            <a:endParaRPr lang="en-US" sz="1500" dirty="0"/>
          </a:p>
        </p:txBody>
      </p:sp>
      <p:sp>
        <p:nvSpPr>
          <p:cNvPr id="8" name="masld-shape-7"/>
          <p:cNvSpPr/>
          <p:nvPr/>
        </p:nvSpPr>
        <p:spPr>
          <a:xfrm>
            <a:off x="8382000" y="2032000"/>
            <a:ext cx="7112000" cy="5334000"/>
          </a:xfrm>
          <a:prstGeom prst="roundRect">
            <a:avLst>
              <a:gd name="adj" fmla="val 2381"/>
            </a:avLst>
          </a:prstGeom>
          <a:solidFill>
            <a:srgbClr val="0F4C5C"/>
          </a:solidFill>
          <a:ln/>
        </p:spPr>
        <p:txBody>
          <a:bodyPr/>
          <a:lstStyle/>
          <a:p>
            <a:endParaRPr lang="en-AU"/>
          </a:p>
        </p:txBody>
      </p:sp>
      <p:sp>
        <p:nvSpPr>
          <p:cNvPr id="9" name="masld-text-8"/>
          <p:cNvSpPr/>
          <p:nvPr/>
        </p:nvSpPr>
        <p:spPr>
          <a:xfrm>
            <a:off x="8763000" y="2413000"/>
            <a:ext cx="6350000" cy="3302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CARDIOMETABOLIC CRITERIA (≥1 of)</a:t>
            </a:r>
            <a:endParaRPr lang="en-US" sz="1600" dirty="0"/>
          </a:p>
        </p:txBody>
      </p:sp>
      <p:sp>
        <p:nvSpPr>
          <p:cNvPr id="10" name="masld-text-9"/>
          <p:cNvSpPr/>
          <p:nvPr/>
        </p:nvSpPr>
        <p:spPr>
          <a:xfrm>
            <a:off x="8763000" y="2921000"/>
            <a:ext cx="6350000" cy="4191000"/>
          </a:xfrm>
          <a:prstGeom prst="rect">
            <a:avLst/>
          </a:prstGeom>
          <a:noFill/>
          <a:ln/>
        </p:spPr>
        <p:txBody>
          <a:bodyPr wrap="square" lIns="0" tIns="0" rIns="0" bIns="0" rtlCol="0" anchor="t"/>
          <a:lstStyle/>
          <a:p>
            <a:pPr marL="254000" indent="-254000" algn="l">
              <a:lnSpc>
                <a:spcPts val="2880"/>
              </a:lnSpc>
              <a:spcBef>
                <a:spcPts val="10"/>
              </a:spcBef>
              <a:buSzPct val="100000"/>
              <a:buChar char="•"/>
            </a:pPr>
            <a:r>
              <a:rPr lang="en-US" sz="1600" dirty="0">
                <a:solidFill>
                  <a:srgbClr val="FFFFFF"/>
                </a:solidFill>
                <a:latin typeface="Inter" pitchFamily="34" charset="0"/>
                <a:ea typeface="Inter" pitchFamily="34" charset="-122"/>
                <a:cs typeface="Inter" pitchFamily="34" charset="-120"/>
              </a:rPr>
              <a:t>Waist circumference above population threshold</a:t>
            </a:r>
            <a:endParaRPr lang="en-US" sz="1600" dirty="0"/>
          </a:p>
          <a:p>
            <a:pPr marL="254000" indent="-254000" algn="l">
              <a:lnSpc>
                <a:spcPts val="2880"/>
              </a:lnSpc>
              <a:spcBef>
                <a:spcPts val="10"/>
              </a:spcBef>
              <a:buSzPct val="100000"/>
              <a:buChar char="•"/>
            </a:pPr>
            <a:r>
              <a:rPr lang="en-US" sz="1600" dirty="0">
                <a:solidFill>
                  <a:srgbClr val="FFFFFF"/>
                </a:solidFill>
                <a:latin typeface="Inter" pitchFamily="34" charset="0"/>
                <a:ea typeface="Inter" pitchFamily="34" charset="-122"/>
                <a:cs typeface="Inter" pitchFamily="34" charset="-120"/>
              </a:rPr>
              <a:t>Fasting glucose ≥5.6 mmol/L or T2DM</a:t>
            </a:r>
            <a:endParaRPr lang="en-US" sz="1600" dirty="0"/>
          </a:p>
          <a:p>
            <a:pPr marL="254000" indent="-254000" algn="l">
              <a:lnSpc>
                <a:spcPts val="2880"/>
              </a:lnSpc>
              <a:spcBef>
                <a:spcPts val="10"/>
              </a:spcBef>
              <a:buSzPct val="100000"/>
              <a:buChar char="•"/>
            </a:pPr>
            <a:r>
              <a:rPr lang="en-US" sz="1600" dirty="0">
                <a:solidFill>
                  <a:srgbClr val="FFFFFF"/>
                </a:solidFill>
                <a:latin typeface="Inter" pitchFamily="34" charset="0"/>
                <a:ea typeface="Inter" pitchFamily="34" charset="-122"/>
                <a:cs typeface="Inter" pitchFamily="34" charset="-120"/>
              </a:rPr>
              <a:t>Blood pressure ≥130/85 or on treatment</a:t>
            </a:r>
            <a:endParaRPr lang="en-US" sz="1600" dirty="0"/>
          </a:p>
          <a:p>
            <a:pPr marL="254000" indent="-254000" algn="l">
              <a:lnSpc>
                <a:spcPts val="2880"/>
              </a:lnSpc>
              <a:spcBef>
                <a:spcPts val="10"/>
              </a:spcBef>
              <a:buSzPct val="100000"/>
              <a:buChar char="•"/>
            </a:pPr>
            <a:r>
              <a:rPr lang="en-US" sz="1600" dirty="0">
                <a:solidFill>
                  <a:srgbClr val="FFFFFF"/>
                </a:solidFill>
                <a:latin typeface="Inter" pitchFamily="34" charset="0"/>
                <a:ea typeface="Inter" pitchFamily="34" charset="-122"/>
                <a:cs typeface="Inter" pitchFamily="34" charset="-120"/>
              </a:rPr>
              <a:t>Triglycerides ≥1.7 mmol/L or on treatment</a:t>
            </a:r>
            <a:endParaRPr lang="en-US" sz="1600" dirty="0"/>
          </a:p>
          <a:p>
            <a:pPr marL="254000" indent="-254000" algn="l">
              <a:lnSpc>
                <a:spcPts val="2880"/>
              </a:lnSpc>
              <a:spcBef>
                <a:spcPts val="10"/>
              </a:spcBef>
              <a:buSzPct val="100000"/>
              <a:buChar char="•"/>
            </a:pPr>
            <a:r>
              <a:rPr lang="en-US" sz="1600" dirty="0">
                <a:solidFill>
                  <a:srgbClr val="FFFFFF"/>
                </a:solidFill>
                <a:latin typeface="Inter" pitchFamily="34" charset="0"/>
                <a:ea typeface="Inter" pitchFamily="34" charset="-122"/>
                <a:cs typeface="Inter" pitchFamily="34" charset="-120"/>
              </a:rPr>
              <a:t>HDL &lt;1.0 (men) / &lt;1.3 (women) mmol/L</a:t>
            </a:r>
            <a:endParaRPr lang="en-US" sz="1600" dirty="0"/>
          </a:p>
        </p:txBody>
      </p:sp>
      <p:sp>
        <p:nvSpPr>
          <p:cNvPr id="11" name="masld-text-10"/>
          <p:cNvSpPr/>
          <p:nvPr/>
        </p:nvSpPr>
        <p:spPr>
          <a:xfrm>
            <a:off x="762000" y="7620000"/>
            <a:ext cx="14224000" cy="431800"/>
          </a:xfrm>
          <a:prstGeom prst="rect">
            <a:avLst/>
          </a:prstGeom>
          <a:noFill/>
          <a:ln/>
        </p:spPr>
        <p:txBody>
          <a:bodyPr wrap="square" lIns="0" tIns="0" rIns="0" bIns="0" rtlCol="0" anchor="t"/>
          <a:lstStyle/>
          <a:p>
            <a:pPr marL="0" indent="0" algn="l">
              <a:buNone/>
            </a:pPr>
            <a:r>
              <a:rPr lang="en-US" sz="1500" i="1" dirty="0">
                <a:solidFill>
                  <a:srgbClr val="5C6B6D"/>
                </a:solidFill>
                <a:latin typeface="Inter" pitchFamily="34" charset="0"/>
                <a:ea typeface="Inter" pitchFamily="34" charset="-122"/>
                <a:cs typeface="Inter" pitchFamily="34" charset="-120"/>
              </a:rPr>
              <a:t>Most MASLD is benign, but a meaningful minority progress to fibrosis — that's why risk stratification matters, not the diagnosis alone.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alcohol_meds-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COMMON CAUSES #2 &amp; #3</a:t>
            </a:r>
            <a:endParaRPr lang="en-US" sz="1600" dirty="0"/>
          </a:p>
        </p:txBody>
      </p:sp>
      <p:sp>
        <p:nvSpPr>
          <p:cNvPr id="3" name="alcohol_meds-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Alcohol and medications</a:t>
            </a:r>
            <a:endParaRPr lang="en-US" sz="3600" dirty="0"/>
          </a:p>
        </p:txBody>
      </p:sp>
      <p:sp>
        <p:nvSpPr>
          <p:cNvPr id="4" name="alcohol_meds-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7</a:t>
            </a:r>
            <a:endParaRPr lang="en-US" sz="1400" dirty="0"/>
          </a:p>
        </p:txBody>
      </p:sp>
      <p:sp>
        <p:nvSpPr>
          <p:cNvPr id="5" name="alcohol_meds-shape-4"/>
          <p:cNvSpPr/>
          <p:nvPr/>
        </p:nvSpPr>
        <p:spPr>
          <a:xfrm>
            <a:off x="762000" y="2032000"/>
            <a:ext cx="7112000" cy="4826000"/>
          </a:xfrm>
          <a:prstGeom prst="roundRect">
            <a:avLst>
              <a:gd name="adj" fmla="val 263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alcohol_meds-shape-5"/>
          <p:cNvSpPr/>
          <p:nvPr/>
        </p:nvSpPr>
        <p:spPr>
          <a:xfrm>
            <a:off x="762000" y="2032000"/>
            <a:ext cx="7112000" cy="101600"/>
          </a:xfrm>
          <a:prstGeom prst="rect">
            <a:avLst/>
          </a:prstGeom>
          <a:solidFill>
            <a:srgbClr val="E3A018"/>
          </a:solidFill>
          <a:ln/>
        </p:spPr>
        <p:txBody>
          <a:bodyPr/>
          <a:lstStyle/>
          <a:p>
            <a:endParaRPr lang="en-AU"/>
          </a:p>
        </p:txBody>
      </p:sp>
      <p:sp>
        <p:nvSpPr>
          <p:cNvPr id="7" name="alcohol_meds-shape-6"/>
          <p:cNvSpPr/>
          <p:nvPr/>
        </p:nvSpPr>
        <p:spPr>
          <a:xfrm>
            <a:off x="1143000" y="2387600"/>
            <a:ext cx="558800" cy="558800"/>
          </a:xfrm>
          <a:prstGeom prst="ellipse">
            <a:avLst/>
          </a:prstGeom>
          <a:solidFill>
            <a:srgbClr val="E3A018"/>
          </a:solidFill>
          <a:ln/>
        </p:spPr>
        <p:txBody>
          <a:bodyPr/>
          <a:lstStyle/>
          <a:p>
            <a:endParaRPr lang="en-AU"/>
          </a:p>
        </p:txBody>
      </p:sp>
      <p:pic>
        <p:nvPicPr>
          <p:cNvPr id="8" name="alcohol_meds-icon-7" descr="preencoded.png"/>
          <p:cNvPicPr>
            <a:picLocks noChangeAspect="1"/>
          </p:cNvPicPr>
          <p:nvPr/>
        </p:nvPicPr>
        <p:blipFill>
          <a:blip r:embed="rId3"/>
          <a:stretch>
            <a:fillRect/>
          </a:stretch>
        </p:blipFill>
        <p:spPr>
          <a:xfrm>
            <a:off x="1295400" y="2540000"/>
            <a:ext cx="254000" cy="254000"/>
          </a:xfrm>
          <a:prstGeom prst="rect">
            <a:avLst/>
          </a:prstGeom>
        </p:spPr>
      </p:pic>
      <p:sp>
        <p:nvSpPr>
          <p:cNvPr id="9" name="alcohol_meds-text-8"/>
          <p:cNvSpPr/>
          <p:nvPr/>
        </p:nvSpPr>
        <p:spPr>
          <a:xfrm>
            <a:off x="1854200" y="2489200"/>
            <a:ext cx="5715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Alcohol-related</a:t>
            </a:r>
            <a:endParaRPr lang="en-US" sz="1800" dirty="0"/>
          </a:p>
        </p:txBody>
      </p:sp>
      <p:sp>
        <p:nvSpPr>
          <p:cNvPr id="10" name="alcohol_meds-text-9"/>
          <p:cNvSpPr/>
          <p:nvPr/>
        </p:nvSpPr>
        <p:spPr>
          <a:xfrm>
            <a:off x="1143000" y="3149600"/>
            <a:ext cx="6350000" cy="3429000"/>
          </a:xfrm>
          <a:prstGeom prst="rect">
            <a:avLst/>
          </a:prstGeom>
          <a:noFill/>
          <a:ln/>
        </p:spPr>
        <p:txBody>
          <a:bodyPr wrap="square" lIns="0" tIns="0" rIns="0" bIns="0" rtlCol="0" anchor="t"/>
          <a:lstStyle/>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AST:ALT ratio &gt;2 is suggestive, not diagnostic</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Raised GGT and macrocytosis (MCV) support the picture</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Use AUDIT-C to screen quickly and non-judgementally</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Ask about quantity </a:t>
            </a:r>
            <a:r>
              <a:rPr lang="en-US" sz="1500" b="1" dirty="0">
                <a:solidFill>
                  <a:srgbClr val="1A2527"/>
                </a:solidFill>
                <a:latin typeface="Inter" pitchFamily="34" charset="0"/>
                <a:ea typeface="Inter" pitchFamily="34" charset="-122"/>
                <a:cs typeface="Inter" pitchFamily="34" charset="-120"/>
              </a:rPr>
              <a:t>and</a:t>
            </a:r>
            <a:r>
              <a:rPr lang="en-US" sz="1500" dirty="0">
                <a:solidFill>
                  <a:srgbClr val="1A2527"/>
                </a:solidFill>
                <a:latin typeface="Inter" pitchFamily="34" charset="0"/>
                <a:ea typeface="Inter" pitchFamily="34" charset="-122"/>
                <a:cs typeface="Inter" pitchFamily="34" charset="-120"/>
              </a:rPr>
              <a:t> pattern (binge vs daily)</a:t>
            </a:r>
            <a:endParaRPr lang="en-US" sz="1500" dirty="0"/>
          </a:p>
        </p:txBody>
      </p:sp>
      <p:sp>
        <p:nvSpPr>
          <p:cNvPr id="11" name="alcohol_meds-shape-10"/>
          <p:cNvSpPr/>
          <p:nvPr/>
        </p:nvSpPr>
        <p:spPr>
          <a:xfrm>
            <a:off x="8382000" y="2032000"/>
            <a:ext cx="7112000" cy="4826000"/>
          </a:xfrm>
          <a:prstGeom prst="roundRect">
            <a:avLst>
              <a:gd name="adj" fmla="val 263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2" name="alcohol_meds-shape-11"/>
          <p:cNvSpPr/>
          <p:nvPr/>
        </p:nvSpPr>
        <p:spPr>
          <a:xfrm>
            <a:off x="8382000" y="2032000"/>
            <a:ext cx="7112000" cy="101600"/>
          </a:xfrm>
          <a:prstGeom prst="rect">
            <a:avLst/>
          </a:prstGeom>
          <a:solidFill>
            <a:srgbClr val="0F4C5C"/>
          </a:solidFill>
          <a:ln/>
        </p:spPr>
        <p:txBody>
          <a:bodyPr/>
          <a:lstStyle/>
          <a:p>
            <a:endParaRPr lang="en-AU"/>
          </a:p>
        </p:txBody>
      </p:sp>
      <p:sp>
        <p:nvSpPr>
          <p:cNvPr id="13" name="alcohol_meds-shape-12"/>
          <p:cNvSpPr/>
          <p:nvPr/>
        </p:nvSpPr>
        <p:spPr>
          <a:xfrm>
            <a:off x="8763000" y="2387600"/>
            <a:ext cx="558800" cy="558800"/>
          </a:xfrm>
          <a:prstGeom prst="ellipse">
            <a:avLst/>
          </a:prstGeom>
          <a:solidFill>
            <a:srgbClr val="0F4C5C"/>
          </a:solidFill>
          <a:ln/>
        </p:spPr>
        <p:txBody>
          <a:bodyPr/>
          <a:lstStyle/>
          <a:p>
            <a:endParaRPr lang="en-AU"/>
          </a:p>
        </p:txBody>
      </p:sp>
      <p:pic>
        <p:nvPicPr>
          <p:cNvPr id="14" name="alcohol_meds-icon-13" descr="preencoded.png"/>
          <p:cNvPicPr>
            <a:picLocks noChangeAspect="1"/>
          </p:cNvPicPr>
          <p:nvPr/>
        </p:nvPicPr>
        <p:blipFill>
          <a:blip r:embed="rId4"/>
          <a:stretch>
            <a:fillRect/>
          </a:stretch>
        </p:blipFill>
        <p:spPr>
          <a:xfrm>
            <a:off x="8915400" y="2540000"/>
            <a:ext cx="254000" cy="254000"/>
          </a:xfrm>
          <a:prstGeom prst="rect">
            <a:avLst/>
          </a:prstGeom>
        </p:spPr>
      </p:pic>
      <p:sp>
        <p:nvSpPr>
          <p:cNvPr id="15" name="alcohol_meds-text-14"/>
          <p:cNvSpPr/>
          <p:nvPr/>
        </p:nvSpPr>
        <p:spPr>
          <a:xfrm>
            <a:off x="9474200" y="2489200"/>
            <a:ext cx="5715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Drug-induced (DILI)</a:t>
            </a:r>
            <a:endParaRPr lang="en-US" sz="1800" dirty="0"/>
          </a:p>
        </p:txBody>
      </p:sp>
      <p:sp>
        <p:nvSpPr>
          <p:cNvPr id="16" name="alcohol_meds-text-15"/>
          <p:cNvSpPr/>
          <p:nvPr/>
        </p:nvSpPr>
        <p:spPr>
          <a:xfrm>
            <a:off x="8763000" y="3149600"/>
            <a:ext cx="6350000" cy="3429000"/>
          </a:xfrm>
          <a:prstGeom prst="rect">
            <a:avLst/>
          </a:prstGeom>
          <a:noFill/>
          <a:ln/>
        </p:spPr>
        <p:txBody>
          <a:bodyPr wrap="square" lIns="0" tIns="0" rIns="0" bIns="0" rtlCol="0" anchor="t"/>
          <a:lstStyle/>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Antibiotics (augmentin), statins, anti-TB drugs, methotrexate</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Don't forget herbal remedies, bodybuilding supplements, paracetamol</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Take a full medication and supplement timeline, including recent starts</a:t>
            </a:r>
            <a:endParaRPr lang="en-US" sz="1500" dirty="0"/>
          </a:p>
        </p:txBody>
      </p:sp>
      <p:sp>
        <p:nvSpPr>
          <p:cNvPr id="17" name="alcohol_meds-shape-16"/>
          <p:cNvSpPr/>
          <p:nvPr/>
        </p:nvSpPr>
        <p:spPr>
          <a:xfrm>
            <a:off x="762000" y="7112000"/>
            <a:ext cx="14732000" cy="1143000"/>
          </a:xfrm>
          <a:prstGeom prst="roundRect">
            <a:avLst>
              <a:gd name="adj" fmla="val 11111"/>
            </a:avLst>
          </a:prstGeom>
          <a:solidFill>
            <a:srgbClr val="0F4C5C"/>
          </a:solidFill>
          <a:ln/>
        </p:spPr>
        <p:txBody>
          <a:bodyPr/>
          <a:lstStyle/>
          <a:p>
            <a:endParaRPr lang="en-AU"/>
          </a:p>
        </p:txBody>
      </p:sp>
      <p:sp>
        <p:nvSpPr>
          <p:cNvPr id="18" name="alcohol_meds-text-17"/>
          <p:cNvSpPr/>
          <p:nvPr/>
        </p:nvSpPr>
        <p:spPr>
          <a:xfrm>
            <a:off x="1143000" y="7315200"/>
            <a:ext cx="381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MYTH-BUSTER</a:t>
            </a:r>
            <a:endParaRPr lang="en-US" sz="1600" dirty="0"/>
          </a:p>
        </p:txBody>
      </p:sp>
      <p:sp>
        <p:nvSpPr>
          <p:cNvPr id="19" name="alcohol_meds-text-18"/>
          <p:cNvSpPr/>
          <p:nvPr/>
        </p:nvSpPr>
        <p:spPr>
          <a:xfrm>
            <a:off x="1143000" y="7645400"/>
            <a:ext cx="13970000" cy="5080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Inter" pitchFamily="34" charset="0"/>
                <a:ea typeface="Inter" pitchFamily="34" charset="-122"/>
                <a:cs typeface="Inter" pitchFamily="34" charset="-120"/>
              </a:rPr>
              <a:t>Statins do not need to be routinely stopped for a mildly raised ALT — hepatotoxicity is rare, and cardiovascular benefit is usually far greater.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viral_rare-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COMMON CAUSE #4 + DON'T-MISS LIST</a:t>
            </a:r>
            <a:endParaRPr lang="en-US" sz="1600" dirty="0"/>
          </a:p>
        </p:txBody>
      </p:sp>
      <p:sp>
        <p:nvSpPr>
          <p:cNvPr id="3" name="viral_rare-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000" dirty="0">
                <a:solidFill>
                  <a:srgbClr val="0F4C5C"/>
                </a:solidFill>
                <a:latin typeface="Lora" pitchFamily="34" charset="0"/>
                <a:ea typeface="Microsoft YaHei" pitchFamily="34" charset="-122"/>
                <a:cs typeface="Lora" pitchFamily="34" charset="-120"/>
              </a:rPr>
              <a:t>Viral hepatitis and rarer causes</a:t>
            </a:r>
            <a:endParaRPr lang="en-US" sz="3000" dirty="0"/>
          </a:p>
        </p:txBody>
      </p:sp>
      <p:sp>
        <p:nvSpPr>
          <p:cNvPr id="4" name="viral_rare-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8</a:t>
            </a:r>
            <a:endParaRPr lang="en-US" sz="1400" dirty="0"/>
          </a:p>
        </p:txBody>
      </p:sp>
      <p:sp>
        <p:nvSpPr>
          <p:cNvPr id="5" name="viral_rare-shape-4"/>
          <p:cNvSpPr/>
          <p:nvPr/>
        </p:nvSpPr>
        <p:spPr>
          <a:xfrm>
            <a:off x="762000" y="2032000"/>
            <a:ext cx="5842000" cy="5842000"/>
          </a:xfrm>
          <a:prstGeom prst="roundRect">
            <a:avLst>
              <a:gd name="adj" fmla="val 2174"/>
            </a:avLst>
          </a:prstGeom>
          <a:solidFill>
            <a:srgbClr val="0F4C5C"/>
          </a:solidFill>
          <a:ln/>
        </p:spPr>
        <p:txBody>
          <a:bodyPr/>
          <a:lstStyle/>
          <a:p>
            <a:endParaRPr lang="en-AU"/>
          </a:p>
        </p:txBody>
      </p:sp>
      <p:pic>
        <p:nvPicPr>
          <p:cNvPr id="6" name="viral_rare-icon-5" descr="preencoded.png"/>
          <p:cNvPicPr>
            <a:picLocks noChangeAspect="1"/>
          </p:cNvPicPr>
          <p:nvPr/>
        </p:nvPicPr>
        <p:blipFill>
          <a:blip r:embed="rId3"/>
          <a:stretch>
            <a:fillRect/>
          </a:stretch>
        </p:blipFill>
        <p:spPr>
          <a:xfrm>
            <a:off x="1143000" y="2387600"/>
            <a:ext cx="381000" cy="381000"/>
          </a:xfrm>
          <a:prstGeom prst="rect">
            <a:avLst/>
          </a:prstGeom>
        </p:spPr>
      </p:pic>
      <p:sp>
        <p:nvSpPr>
          <p:cNvPr id="7" name="viral_rare-text-6"/>
          <p:cNvSpPr/>
          <p:nvPr/>
        </p:nvSpPr>
        <p:spPr>
          <a:xfrm>
            <a:off x="1143000" y="2921000"/>
            <a:ext cx="5080000" cy="330200"/>
          </a:xfrm>
          <a:prstGeom prst="rect">
            <a:avLst/>
          </a:prstGeom>
          <a:noFill/>
          <a:ln/>
        </p:spPr>
        <p:txBody>
          <a:bodyPr wrap="square" lIns="0" tIns="0" rIns="0" bIns="0" rtlCol="0" anchor="t"/>
          <a:lstStyle/>
          <a:p>
            <a:pPr marL="0" indent="0" algn="l">
              <a:buNone/>
            </a:pPr>
            <a:r>
              <a:rPr lang="en-US" sz="1700" b="1" dirty="0">
                <a:solidFill>
                  <a:srgbClr val="FFFFFF"/>
                </a:solidFill>
                <a:latin typeface="Inter" pitchFamily="34" charset="0"/>
                <a:ea typeface="Inter" pitchFamily="34" charset="-122"/>
                <a:cs typeface="Inter" pitchFamily="34" charset="-120"/>
              </a:rPr>
              <a:t>Hepatitis B</a:t>
            </a:r>
            <a:endParaRPr lang="en-US" sz="1700" dirty="0"/>
          </a:p>
        </p:txBody>
      </p:sp>
      <p:sp>
        <p:nvSpPr>
          <p:cNvPr id="8" name="viral_rare-text-7"/>
          <p:cNvSpPr/>
          <p:nvPr/>
        </p:nvSpPr>
        <p:spPr>
          <a:xfrm>
            <a:off x="1143000" y="3302000"/>
            <a:ext cx="5080000" cy="330200"/>
          </a:xfrm>
          <a:prstGeom prst="rect">
            <a:avLst/>
          </a:prstGeom>
          <a:noFill/>
          <a:ln/>
        </p:spPr>
        <p:txBody>
          <a:bodyPr wrap="square" lIns="0" tIns="0" rIns="0" bIns="0" rtlCol="0" anchor="t"/>
          <a:lstStyle/>
          <a:p>
            <a:pPr marL="0" indent="0" algn="l">
              <a:buNone/>
            </a:pPr>
            <a:r>
              <a:rPr lang="en-US" sz="1500" dirty="0">
                <a:solidFill>
                  <a:srgbClr val="E3A018"/>
                </a:solidFill>
                <a:latin typeface="Inter" pitchFamily="34" charset="0"/>
                <a:ea typeface="Inter" pitchFamily="34" charset="-122"/>
                <a:cs typeface="Inter" pitchFamily="34" charset="-120"/>
              </a:rPr>
              <a:t>HBsAg + anti-HBc + anti-HBs</a:t>
            </a:r>
            <a:endParaRPr lang="en-US" sz="1500" dirty="0"/>
          </a:p>
        </p:txBody>
      </p:sp>
      <p:sp>
        <p:nvSpPr>
          <p:cNvPr id="9" name="viral_rare-text-8"/>
          <p:cNvSpPr/>
          <p:nvPr/>
        </p:nvSpPr>
        <p:spPr>
          <a:xfrm>
            <a:off x="1143000" y="4191000"/>
            <a:ext cx="5080000" cy="330200"/>
          </a:xfrm>
          <a:prstGeom prst="rect">
            <a:avLst/>
          </a:prstGeom>
          <a:noFill/>
          <a:ln/>
        </p:spPr>
        <p:txBody>
          <a:bodyPr wrap="square" lIns="0" tIns="0" rIns="0" bIns="0" rtlCol="0" anchor="t"/>
          <a:lstStyle/>
          <a:p>
            <a:pPr marL="0" indent="0" algn="l">
              <a:buNone/>
            </a:pPr>
            <a:r>
              <a:rPr lang="en-US" sz="1700" b="1" dirty="0">
                <a:solidFill>
                  <a:srgbClr val="FFFFFF"/>
                </a:solidFill>
                <a:latin typeface="Inter" pitchFamily="34" charset="0"/>
                <a:ea typeface="Inter" pitchFamily="34" charset="-122"/>
                <a:cs typeface="Inter" pitchFamily="34" charset="-120"/>
              </a:rPr>
              <a:t>Hepatitis C</a:t>
            </a:r>
            <a:endParaRPr lang="en-US" sz="1700" dirty="0"/>
          </a:p>
        </p:txBody>
      </p:sp>
      <p:sp>
        <p:nvSpPr>
          <p:cNvPr id="10" name="viral_rare-text-9"/>
          <p:cNvSpPr/>
          <p:nvPr/>
        </p:nvSpPr>
        <p:spPr>
          <a:xfrm>
            <a:off x="1143000" y="4572000"/>
            <a:ext cx="5080000" cy="330200"/>
          </a:xfrm>
          <a:prstGeom prst="rect">
            <a:avLst/>
          </a:prstGeom>
          <a:noFill/>
          <a:ln/>
        </p:spPr>
        <p:txBody>
          <a:bodyPr wrap="square" lIns="0" tIns="0" rIns="0" bIns="0" rtlCol="0" anchor="t"/>
          <a:lstStyle/>
          <a:p>
            <a:pPr marL="0" indent="0" algn="l">
              <a:buNone/>
            </a:pPr>
            <a:r>
              <a:rPr lang="en-US" sz="1500" dirty="0">
                <a:solidFill>
                  <a:srgbClr val="E3A018"/>
                </a:solidFill>
                <a:latin typeface="Inter" pitchFamily="34" charset="0"/>
                <a:ea typeface="Inter" pitchFamily="34" charset="-122"/>
                <a:cs typeface="Inter" pitchFamily="34" charset="-120"/>
              </a:rPr>
              <a:t>anti-HCV → HCV RNA if positive</a:t>
            </a:r>
            <a:endParaRPr lang="en-US" sz="1500" dirty="0"/>
          </a:p>
        </p:txBody>
      </p:sp>
      <p:sp>
        <p:nvSpPr>
          <p:cNvPr id="11" name="viral_rare-text-10"/>
          <p:cNvSpPr/>
          <p:nvPr/>
        </p:nvSpPr>
        <p:spPr>
          <a:xfrm>
            <a:off x="1143000" y="5461000"/>
            <a:ext cx="5080000" cy="1905000"/>
          </a:xfrm>
          <a:prstGeom prst="rect">
            <a:avLst/>
          </a:prstGeom>
          <a:noFill/>
          <a:ln/>
        </p:spPr>
        <p:txBody>
          <a:bodyPr wrap="square" lIns="0" tIns="0" rIns="0" bIns="0" rtlCol="0" anchor="t"/>
          <a:lstStyle/>
          <a:p>
            <a:pPr marL="0" indent="0" algn="l">
              <a:lnSpc>
                <a:spcPts val="2250"/>
              </a:lnSpc>
              <a:buNone/>
            </a:pPr>
            <a:r>
              <a:rPr lang="en-US" sz="1500" dirty="0">
                <a:solidFill>
                  <a:srgbClr val="D8E3E3"/>
                </a:solidFill>
                <a:latin typeface="Inter" pitchFamily="34" charset="0"/>
                <a:ea typeface="Inter" pitchFamily="34" charset="-122"/>
                <a:cs typeface="Inter" pitchFamily="34" charset="-120"/>
              </a:rPr>
              <a:t>Both are now highly treatable or curable with short oral courses — a positive screen is good news, not a dead end. Screen once in every adult who hasn't been tested.</a:t>
            </a:r>
            <a:endParaRPr lang="en-US" sz="1500" dirty="0"/>
          </a:p>
        </p:txBody>
      </p:sp>
      <p:sp>
        <p:nvSpPr>
          <p:cNvPr id="12" name="viral_rare-shape-11"/>
          <p:cNvSpPr/>
          <p:nvPr/>
        </p:nvSpPr>
        <p:spPr>
          <a:xfrm>
            <a:off x="7112000" y="2032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13" name="viral_rare-icon-12" descr="preencoded.png"/>
          <p:cNvPicPr>
            <a:picLocks noChangeAspect="1"/>
          </p:cNvPicPr>
          <p:nvPr/>
        </p:nvPicPr>
        <p:blipFill>
          <a:blip r:embed="rId4"/>
          <a:stretch>
            <a:fillRect/>
          </a:stretch>
        </p:blipFill>
        <p:spPr>
          <a:xfrm>
            <a:off x="7366000" y="2286000"/>
            <a:ext cx="304800" cy="304800"/>
          </a:xfrm>
          <a:prstGeom prst="rect">
            <a:avLst/>
          </a:prstGeom>
        </p:spPr>
      </p:pic>
      <p:sp>
        <p:nvSpPr>
          <p:cNvPr id="14" name="viral_rare-text-13"/>
          <p:cNvSpPr/>
          <p:nvPr/>
        </p:nvSpPr>
        <p:spPr>
          <a:xfrm>
            <a:off x="7366000" y="2692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Haemochromatosis</a:t>
            </a:r>
            <a:endParaRPr lang="en-US" sz="1400" dirty="0"/>
          </a:p>
        </p:txBody>
      </p:sp>
      <p:sp>
        <p:nvSpPr>
          <p:cNvPr id="15" name="viral_rare-text-14"/>
          <p:cNvSpPr/>
          <p:nvPr/>
        </p:nvSpPr>
        <p:spPr>
          <a:xfrm>
            <a:off x="7366000" y="3022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Iron studies; ferritin + transferrin saturation</a:t>
            </a:r>
            <a:endParaRPr lang="en-US" sz="1200" dirty="0"/>
          </a:p>
        </p:txBody>
      </p:sp>
      <p:sp>
        <p:nvSpPr>
          <p:cNvPr id="16" name="viral_rare-shape-15"/>
          <p:cNvSpPr/>
          <p:nvPr/>
        </p:nvSpPr>
        <p:spPr>
          <a:xfrm>
            <a:off x="11049000" y="2032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17" name="viral_rare-icon-16" descr="preencoded.png"/>
          <p:cNvPicPr>
            <a:picLocks noChangeAspect="1"/>
          </p:cNvPicPr>
          <p:nvPr/>
        </p:nvPicPr>
        <p:blipFill>
          <a:blip r:embed="rId5"/>
          <a:stretch>
            <a:fillRect/>
          </a:stretch>
        </p:blipFill>
        <p:spPr>
          <a:xfrm>
            <a:off x="11303000" y="2286000"/>
            <a:ext cx="304800" cy="304800"/>
          </a:xfrm>
          <a:prstGeom prst="rect">
            <a:avLst/>
          </a:prstGeom>
        </p:spPr>
      </p:pic>
      <p:sp>
        <p:nvSpPr>
          <p:cNvPr id="18" name="viral_rare-text-17"/>
          <p:cNvSpPr/>
          <p:nvPr/>
        </p:nvSpPr>
        <p:spPr>
          <a:xfrm>
            <a:off x="11303000" y="2692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Autoimmune hepatitis</a:t>
            </a:r>
            <a:endParaRPr lang="en-US" sz="1400" dirty="0"/>
          </a:p>
        </p:txBody>
      </p:sp>
      <p:sp>
        <p:nvSpPr>
          <p:cNvPr id="19" name="viral_rare-text-18"/>
          <p:cNvSpPr/>
          <p:nvPr/>
        </p:nvSpPr>
        <p:spPr>
          <a:xfrm>
            <a:off x="11303000" y="3022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ANA, ASMA, immunoglobulins</a:t>
            </a:r>
            <a:endParaRPr lang="en-US" sz="1200" dirty="0"/>
          </a:p>
        </p:txBody>
      </p:sp>
      <p:sp>
        <p:nvSpPr>
          <p:cNvPr id="20" name="viral_rare-shape-19"/>
          <p:cNvSpPr/>
          <p:nvPr/>
        </p:nvSpPr>
        <p:spPr>
          <a:xfrm>
            <a:off x="7112000" y="4064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21" name="viral_rare-icon-20" descr="preencoded.png"/>
          <p:cNvPicPr>
            <a:picLocks noChangeAspect="1"/>
          </p:cNvPicPr>
          <p:nvPr/>
        </p:nvPicPr>
        <p:blipFill>
          <a:blip r:embed="rId6"/>
          <a:stretch>
            <a:fillRect/>
          </a:stretch>
        </p:blipFill>
        <p:spPr>
          <a:xfrm>
            <a:off x="7366000" y="4318000"/>
            <a:ext cx="304800" cy="304800"/>
          </a:xfrm>
          <a:prstGeom prst="rect">
            <a:avLst/>
          </a:prstGeom>
        </p:spPr>
      </p:pic>
      <p:sp>
        <p:nvSpPr>
          <p:cNvPr id="22" name="viral_rare-text-21"/>
          <p:cNvSpPr/>
          <p:nvPr/>
        </p:nvSpPr>
        <p:spPr>
          <a:xfrm>
            <a:off x="7366000" y="4724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PBC / PSC</a:t>
            </a:r>
            <a:endParaRPr lang="en-US" sz="1400" dirty="0"/>
          </a:p>
        </p:txBody>
      </p:sp>
      <p:sp>
        <p:nvSpPr>
          <p:cNvPr id="23" name="viral_rare-text-22"/>
          <p:cNvSpPr/>
          <p:nvPr/>
        </p:nvSpPr>
        <p:spPr>
          <a:xfrm>
            <a:off x="7366000" y="5054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Cholestatic pattern; AMA for PBC</a:t>
            </a:r>
            <a:endParaRPr lang="en-US" sz="1200" dirty="0"/>
          </a:p>
        </p:txBody>
      </p:sp>
      <p:sp>
        <p:nvSpPr>
          <p:cNvPr id="24" name="viral_rare-shape-23"/>
          <p:cNvSpPr/>
          <p:nvPr/>
        </p:nvSpPr>
        <p:spPr>
          <a:xfrm>
            <a:off x="11049000" y="4064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25" name="viral_rare-icon-24" descr="preencoded.png"/>
          <p:cNvPicPr>
            <a:picLocks noChangeAspect="1"/>
          </p:cNvPicPr>
          <p:nvPr/>
        </p:nvPicPr>
        <p:blipFill>
          <a:blip r:embed="rId7"/>
          <a:stretch>
            <a:fillRect/>
          </a:stretch>
        </p:blipFill>
        <p:spPr>
          <a:xfrm>
            <a:off x="11303000" y="4318000"/>
            <a:ext cx="304800" cy="304800"/>
          </a:xfrm>
          <a:prstGeom prst="rect">
            <a:avLst/>
          </a:prstGeom>
        </p:spPr>
      </p:pic>
      <p:sp>
        <p:nvSpPr>
          <p:cNvPr id="26" name="viral_rare-text-25"/>
          <p:cNvSpPr/>
          <p:nvPr/>
        </p:nvSpPr>
        <p:spPr>
          <a:xfrm>
            <a:off x="11303000" y="4724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Wilson's disease</a:t>
            </a:r>
            <a:endParaRPr lang="en-US" sz="1400" dirty="0"/>
          </a:p>
        </p:txBody>
      </p:sp>
      <p:sp>
        <p:nvSpPr>
          <p:cNvPr id="27" name="viral_rare-text-26"/>
          <p:cNvSpPr/>
          <p:nvPr/>
        </p:nvSpPr>
        <p:spPr>
          <a:xfrm>
            <a:off x="11303000" y="5054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Young patients; caeruloplasmin</a:t>
            </a:r>
            <a:endParaRPr lang="en-US" sz="1200" dirty="0"/>
          </a:p>
        </p:txBody>
      </p:sp>
      <p:sp>
        <p:nvSpPr>
          <p:cNvPr id="28" name="viral_rare-shape-27"/>
          <p:cNvSpPr/>
          <p:nvPr/>
        </p:nvSpPr>
        <p:spPr>
          <a:xfrm>
            <a:off x="7112000" y="6096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29" name="viral_rare-icon-28" descr="preencoded.png"/>
          <p:cNvPicPr>
            <a:picLocks noChangeAspect="1"/>
          </p:cNvPicPr>
          <p:nvPr/>
        </p:nvPicPr>
        <p:blipFill>
          <a:blip r:embed="rId8"/>
          <a:stretch>
            <a:fillRect/>
          </a:stretch>
        </p:blipFill>
        <p:spPr>
          <a:xfrm>
            <a:off x="7366000" y="6350000"/>
            <a:ext cx="304800" cy="304800"/>
          </a:xfrm>
          <a:prstGeom prst="rect">
            <a:avLst/>
          </a:prstGeom>
        </p:spPr>
      </p:pic>
      <p:sp>
        <p:nvSpPr>
          <p:cNvPr id="30" name="viral_rare-text-29"/>
          <p:cNvSpPr/>
          <p:nvPr/>
        </p:nvSpPr>
        <p:spPr>
          <a:xfrm>
            <a:off x="7366000" y="6756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A1AT deficiency</a:t>
            </a:r>
            <a:endParaRPr lang="en-US" sz="1400" dirty="0"/>
          </a:p>
        </p:txBody>
      </p:sp>
      <p:sp>
        <p:nvSpPr>
          <p:cNvPr id="31" name="viral_rare-text-30"/>
          <p:cNvSpPr/>
          <p:nvPr/>
        </p:nvSpPr>
        <p:spPr>
          <a:xfrm>
            <a:off x="7366000" y="7086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Consider with coexisting lung disease</a:t>
            </a:r>
            <a:endParaRPr lang="en-US" sz="1200" dirty="0"/>
          </a:p>
        </p:txBody>
      </p:sp>
      <p:sp>
        <p:nvSpPr>
          <p:cNvPr id="32" name="viral_rare-shape-31"/>
          <p:cNvSpPr/>
          <p:nvPr/>
        </p:nvSpPr>
        <p:spPr>
          <a:xfrm>
            <a:off x="11049000" y="6096000"/>
            <a:ext cx="3683000" cy="1778000"/>
          </a:xfrm>
          <a:prstGeom prst="roundRect">
            <a:avLst>
              <a:gd name="adj" fmla="val 5714"/>
            </a:avLst>
          </a:prstGeom>
          <a:solidFill>
            <a:srgbClr val="FDFBF7"/>
          </a:solidFill>
          <a:ln/>
          <a:effectLst>
            <a:outerShdw blurRad="152400" dist="50800" dir="5400000" algn="bl" rotWithShape="0">
              <a:srgbClr val="000000">
                <a:alpha val="35000"/>
              </a:srgbClr>
            </a:outerShdw>
          </a:effectLst>
        </p:spPr>
        <p:txBody>
          <a:bodyPr/>
          <a:lstStyle/>
          <a:p>
            <a:endParaRPr lang="en-AU"/>
          </a:p>
        </p:txBody>
      </p:sp>
      <p:pic>
        <p:nvPicPr>
          <p:cNvPr id="33" name="viral_rare-icon-32" descr="preencoded.png"/>
          <p:cNvPicPr>
            <a:picLocks noChangeAspect="1"/>
          </p:cNvPicPr>
          <p:nvPr/>
        </p:nvPicPr>
        <p:blipFill>
          <a:blip r:embed="rId9"/>
          <a:stretch>
            <a:fillRect/>
          </a:stretch>
        </p:blipFill>
        <p:spPr>
          <a:xfrm>
            <a:off x="11303000" y="6350000"/>
            <a:ext cx="304800" cy="304800"/>
          </a:xfrm>
          <a:prstGeom prst="rect">
            <a:avLst/>
          </a:prstGeom>
        </p:spPr>
      </p:pic>
      <p:sp>
        <p:nvSpPr>
          <p:cNvPr id="34" name="viral_rare-text-33"/>
          <p:cNvSpPr/>
          <p:nvPr/>
        </p:nvSpPr>
        <p:spPr>
          <a:xfrm>
            <a:off x="11303000" y="6756400"/>
            <a:ext cx="3175000" cy="304800"/>
          </a:xfrm>
          <a:prstGeom prst="rect">
            <a:avLst/>
          </a:prstGeom>
          <a:noFill/>
          <a:ln/>
        </p:spPr>
        <p:txBody>
          <a:bodyPr wrap="square" lIns="0" tIns="0" rIns="0" bIns="0" rtlCol="0" anchor="t"/>
          <a:lstStyle/>
          <a:p>
            <a:pPr marL="0" indent="0" algn="l">
              <a:buNone/>
            </a:pPr>
            <a:r>
              <a:rPr lang="en-US" sz="1400" b="1" dirty="0">
                <a:solidFill>
                  <a:srgbClr val="0F4C5C"/>
                </a:solidFill>
                <a:latin typeface="Inter" pitchFamily="34" charset="0"/>
                <a:ea typeface="Inter" pitchFamily="34" charset="-122"/>
                <a:cs typeface="Inter" pitchFamily="34" charset="-120"/>
              </a:rPr>
              <a:t>Coeliac / thyroid</a:t>
            </a:r>
            <a:endParaRPr lang="en-US" sz="1400" dirty="0"/>
          </a:p>
        </p:txBody>
      </p:sp>
      <p:sp>
        <p:nvSpPr>
          <p:cNvPr id="35" name="viral_rare-text-34"/>
          <p:cNvSpPr/>
          <p:nvPr/>
        </p:nvSpPr>
        <p:spPr>
          <a:xfrm>
            <a:off x="11303000" y="7086600"/>
            <a:ext cx="3175000" cy="635000"/>
          </a:xfrm>
          <a:prstGeom prst="rect">
            <a:avLst/>
          </a:prstGeom>
          <a:noFill/>
          <a:ln/>
        </p:spPr>
        <p:txBody>
          <a:bodyPr wrap="square" lIns="0" tIns="0" rIns="0" bIns="0" rtlCol="0" anchor="t"/>
          <a:lstStyle/>
          <a:p>
            <a:pPr marL="0" indent="0" algn="l">
              <a:lnSpc>
                <a:spcPts val="1560"/>
              </a:lnSpc>
              <a:buNone/>
            </a:pPr>
            <a:r>
              <a:rPr lang="en-US" sz="1200" dirty="0">
                <a:solidFill>
                  <a:srgbClr val="5C6B6D"/>
                </a:solidFill>
                <a:latin typeface="Inter" pitchFamily="34" charset="0"/>
                <a:ea typeface="Inter" pitchFamily="34" charset="-122"/>
                <a:cs typeface="Inter" pitchFamily="34" charset="-120"/>
              </a:rPr>
              <a:t>Easily missed, easily tested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fib4-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THE TOOL TO LEARN</a:t>
            </a:r>
            <a:endParaRPr lang="en-US" sz="1600" dirty="0"/>
          </a:p>
        </p:txBody>
      </p:sp>
      <p:sp>
        <p:nvSpPr>
          <p:cNvPr id="3" name="fib4-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FIB-4: free, fast, evidence-based</a:t>
            </a:r>
            <a:endParaRPr lang="en-US" sz="3600" dirty="0"/>
          </a:p>
        </p:txBody>
      </p:sp>
      <p:sp>
        <p:nvSpPr>
          <p:cNvPr id="4" name="fib4-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10</a:t>
            </a:r>
            <a:endParaRPr lang="en-US" sz="1400" dirty="0"/>
          </a:p>
        </p:txBody>
      </p:sp>
      <p:sp>
        <p:nvSpPr>
          <p:cNvPr id="5" name="fib4-shape-4"/>
          <p:cNvSpPr/>
          <p:nvPr/>
        </p:nvSpPr>
        <p:spPr>
          <a:xfrm>
            <a:off x="762000" y="2032000"/>
            <a:ext cx="5842000" cy="4826000"/>
          </a:xfrm>
          <a:prstGeom prst="roundRect">
            <a:avLst>
              <a:gd name="adj" fmla="val 2632"/>
            </a:avLst>
          </a:prstGeom>
          <a:solidFill>
            <a:srgbClr val="0F4C5C"/>
          </a:solidFill>
          <a:ln/>
        </p:spPr>
        <p:txBody>
          <a:bodyPr/>
          <a:lstStyle/>
          <a:p>
            <a:endParaRPr lang="en-AU"/>
          </a:p>
        </p:txBody>
      </p:sp>
      <p:sp>
        <p:nvSpPr>
          <p:cNvPr id="6" name="fib4-text-5"/>
          <p:cNvSpPr/>
          <p:nvPr/>
        </p:nvSpPr>
        <p:spPr>
          <a:xfrm>
            <a:off x="1143000" y="2413000"/>
            <a:ext cx="508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THE FORMULA</a:t>
            </a:r>
            <a:endParaRPr lang="en-US" sz="1600" dirty="0"/>
          </a:p>
        </p:txBody>
      </p:sp>
      <p:sp>
        <p:nvSpPr>
          <p:cNvPr id="7" name="fib4-text-6"/>
          <p:cNvSpPr/>
          <p:nvPr/>
        </p:nvSpPr>
        <p:spPr>
          <a:xfrm>
            <a:off x="1143000" y="3048000"/>
            <a:ext cx="5080000" cy="1143000"/>
          </a:xfrm>
          <a:prstGeom prst="rect">
            <a:avLst/>
          </a:prstGeom>
          <a:noFill/>
          <a:ln/>
        </p:spPr>
        <p:txBody>
          <a:bodyPr wrap="square" lIns="0" tIns="0" rIns="0" bIns="0" rtlCol="0" anchor="t"/>
          <a:lstStyle/>
          <a:p>
            <a:pPr marL="0" indent="0" algn="l">
              <a:lnSpc>
                <a:spcPts val="3360"/>
              </a:lnSpc>
              <a:buNone/>
            </a:pPr>
            <a:r>
              <a:rPr lang="en-US" sz="2400" dirty="0">
                <a:solidFill>
                  <a:srgbClr val="FFFFFF"/>
                </a:solidFill>
                <a:latin typeface="Lora" pitchFamily="34" charset="0"/>
                <a:ea typeface="Microsoft YaHei" pitchFamily="34" charset="-122"/>
                <a:cs typeface="Lora" pitchFamily="34" charset="-120"/>
              </a:rPr>
              <a:t>Age × AST ÷ (Platelets × √ALT)</a:t>
            </a:r>
            <a:endParaRPr lang="en-US" sz="2400" dirty="0"/>
          </a:p>
        </p:txBody>
      </p:sp>
      <p:sp>
        <p:nvSpPr>
          <p:cNvPr id="8" name="fib4-text-7"/>
          <p:cNvSpPr/>
          <p:nvPr/>
        </p:nvSpPr>
        <p:spPr>
          <a:xfrm>
            <a:off x="1143000" y="4572000"/>
            <a:ext cx="5080000" cy="1905000"/>
          </a:xfrm>
          <a:prstGeom prst="rect">
            <a:avLst/>
          </a:prstGeom>
          <a:noFill/>
          <a:ln/>
        </p:spPr>
        <p:txBody>
          <a:bodyPr wrap="square" lIns="0" tIns="0" rIns="0" bIns="0" rtlCol="0" anchor="t"/>
          <a:lstStyle/>
          <a:p>
            <a:pPr marL="0" indent="0" algn="l">
              <a:lnSpc>
                <a:spcPts val="2100"/>
              </a:lnSpc>
              <a:buNone/>
            </a:pPr>
            <a:r>
              <a:rPr lang="en-US" sz="1400" i="1" dirty="0">
                <a:solidFill>
                  <a:srgbClr val="D8E3E3"/>
                </a:solidFill>
                <a:latin typeface="Inter" pitchFamily="34" charset="0"/>
                <a:ea typeface="Inter" pitchFamily="34" charset="-122"/>
                <a:cs typeface="Inter" pitchFamily="34" charset="-120"/>
              </a:rPr>
              <a:t>Calculated instantly from bloods you already have — no extra cost, no extra blood draw.</a:t>
            </a:r>
            <a:endParaRPr lang="en-US" sz="1400" dirty="0"/>
          </a:p>
        </p:txBody>
      </p:sp>
      <p:sp>
        <p:nvSpPr>
          <p:cNvPr id="9" name="fib4-shape-8"/>
          <p:cNvSpPr/>
          <p:nvPr/>
        </p:nvSpPr>
        <p:spPr>
          <a:xfrm>
            <a:off x="7112000" y="2032000"/>
            <a:ext cx="7874000" cy="1333500"/>
          </a:xfrm>
          <a:prstGeom prst="roundRect">
            <a:avLst>
              <a:gd name="adj" fmla="val 7619"/>
            </a:avLst>
          </a:prstGeom>
          <a:solidFill>
            <a:srgbClr val="FDFBF7"/>
          </a:solidFill>
          <a:ln w="25400">
            <a:solidFill>
              <a:srgbClr val="2E7D32"/>
            </a:solidFill>
            <a:prstDash val="solid"/>
          </a:ln>
        </p:spPr>
        <p:txBody>
          <a:bodyPr/>
          <a:lstStyle/>
          <a:p>
            <a:endParaRPr lang="en-AU"/>
          </a:p>
        </p:txBody>
      </p:sp>
      <p:sp>
        <p:nvSpPr>
          <p:cNvPr id="10" name="fib4-text-9"/>
          <p:cNvSpPr/>
          <p:nvPr/>
        </p:nvSpPr>
        <p:spPr>
          <a:xfrm>
            <a:off x="7493000" y="2311400"/>
            <a:ext cx="7112000" cy="330200"/>
          </a:xfrm>
          <a:prstGeom prst="rect">
            <a:avLst/>
          </a:prstGeom>
          <a:noFill/>
          <a:ln/>
        </p:spPr>
        <p:txBody>
          <a:bodyPr wrap="square" lIns="0" tIns="0" rIns="0" bIns="0" rtlCol="0" anchor="t"/>
          <a:lstStyle/>
          <a:p>
            <a:pPr marL="0" indent="0" algn="l">
              <a:buNone/>
            </a:pPr>
            <a:r>
              <a:rPr lang="en-US" sz="1700" b="1" dirty="0">
                <a:solidFill>
                  <a:srgbClr val="2E7D32"/>
                </a:solidFill>
                <a:latin typeface="Inter" pitchFamily="34" charset="0"/>
                <a:ea typeface="Inter" pitchFamily="34" charset="-122"/>
                <a:cs typeface="Inter" pitchFamily="34" charset="-120"/>
              </a:rPr>
              <a:t>Low risk — FIB-4 &lt; 1.3</a:t>
            </a:r>
            <a:endParaRPr lang="en-US" sz="1700" dirty="0"/>
          </a:p>
        </p:txBody>
      </p:sp>
      <p:sp>
        <p:nvSpPr>
          <p:cNvPr id="11" name="fib4-text-10"/>
          <p:cNvSpPr/>
          <p:nvPr/>
        </p:nvSpPr>
        <p:spPr>
          <a:xfrm>
            <a:off x="7493000" y="2692400"/>
            <a:ext cx="7112000" cy="508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Significant fibrosis unlikely — safe to manage and monitor in primary care.</a:t>
            </a:r>
            <a:endParaRPr lang="en-US" sz="1400" dirty="0"/>
          </a:p>
        </p:txBody>
      </p:sp>
      <p:sp>
        <p:nvSpPr>
          <p:cNvPr id="12" name="fib4-shape-11"/>
          <p:cNvSpPr/>
          <p:nvPr/>
        </p:nvSpPr>
        <p:spPr>
          <a:xfrm>
            <a:off x="7112000" y="3530600"/>
            <a:ext cx="7874000" cy="1333500"/>
          </a:xfrm>
          <a:prstGeom prst="roundRect">
            <a:avLst>
              <a:gd name="adj" fmla="val 7619"/>
            </a:avLst>
          </a:prstGeom>
          <a:solidFill>
            <a:srgbClr val="FDFBF7"/>
          </a:solidFill>
          <a:ln w="25400">
            <a:solidFill>
              <a:srgbClr val="E3A018"/>
            </a:solidFill>
            <a:prstDash val="solid"/>
          </a:ln>
        </p:spPr>
        <p:txBody>
          <a:bodyPr/>
          <a:lstStyle/>
          <a:p>
            <a:endParaRPr lang="en-AU"/>
          </a:p>
        </p:txBody>
      </p:sp>
      <p:sp>
        <p:nvSpPr>
          <p:cNvPr id="13" name="fib4-text-12"/>
          <p:cNvSpPr/>
          <p:nvPr/>
        </p:nvSpPr>
        <p:spPr>
          <a:xfrm>
            <a:off x="7493000" y="3810000"/>
            <a:ext cx="7112000" cy="330200"/>
          </a:xfrm>
          <a:prstGeom prst="rect">
            <a:avLst/>
          </a:prstGeom>
          <a:noFill/>
          <a:ln/>
        </p:spPr>
        <p:txBody>
          <a:bodyPr wrap="square" lIns="0" tIns="0" rIns="0" bIns="0" rtlCol="0" anchor="t"/>
          <a:lstStyle/>
          <a:p>
            <a:pPr marL="0" indent="0" algn="l">
              <a:buNone/>
            </a:pPr>
            <a:r>
              <a:rPr lang="en-US" sz="1700" b="1" dirty="0">
                <a:solidFill>
                  <a:srgbClr val="B8860B"/>
                </a:solidFill>
                <a:latin typeface="Inter" pitchFamily="34" charset="0"/>
                <a:ea typeface="Inter" pitchFamily="34" charset="-122"/>
                <a:cs typeface="Inter" pitchFamily="34" charset="-120"/>
              </a:rPr>
              <a:t>Indeterminate — 1.3 to 2.67</a:t>
            </a:r>
            <a:endParaRPr lang="en-US" sz="1700" dirty="0"/>
          </a:p>
        </p:txBody>
      </p:sp>
      <p:sp>
        <p:nvSpPr>
          <p:cNvPr id="14" name="fib4-text-13"/>
          <p:cNvSpPr/>
          <p:nvPr/>
        </p:nvSpPr>
        <p:spPr>
          <a:xfrm>
            <a:off x="7493000" y="4191000"/>
            <a:ext cx="7112000" cy="508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Further work-up needed — elastography (FibroScan) to refine risk.</a:t>
            </a:r>
            <a:endParaRPr lang="en-US" sz="1400" dirty="0"/>
          </a:p>
        </p:txBody>
      </p:sp>
      <p:sp>
        <p:nvSpPr>
          <p:cNvPr id="15" name="fib4-shape-14"/>
          <p:cNvSpPr/>
          <p:nvPr/>
        </p:nvSpPr>
        <p:spPr>
          <a:xfrm>
            <a:off x="7112000" y="5029200"/>
            <a:ext cx="7874000" cy="1333500"/>
          </a:xfrm>
          <a:prstGeom prst="roundRect">
            <a:avLst>
              <a:gd name="adj" fmla="val 7619"/>
            </a:avLst>
          </a:prstGeom>
          <a:solidFill>
            <a:srgbClr val="FDFBF7"/>
          </a:solidFill>
          <a:ln w="25400">
            <a:solidFill>
              <a:srgbClr val="D32F2F"/>
            </a:solidFill>
            <a:prstDash val="solid"/>
          </a:ln>
        </p:spPr>
        <p:txBody>
          <a:bodyPr/>
          <a:lstStyle/>
          <a:p>
            <a:endParaRPr lang="en-AU"/>
          </a:p>
        </p:txBody>
      </p:sp>
      <p:sp>
        <p:nvSpPr>
          <p:cNvPr id="16" name="fib4-text-15"/>
          <p:cNvSpPr/>
          <p:nvPr/>
        </p:nvSpPr>
        <p:spPr>
          <a:xfrm>
            <a:off x="7493000" y="5308600"/>
            <a:ext cx="7112000" cy="3302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High risk — FIB-4 &gt; 2.67</a:t>
            </a:r>
            <a:endParaRPr lang="en-US" sz="1700" dirty="0"/>
          </a:p>
        </p:txBody>
      </p:sp>
      <p:sp>
        <p:nvSpPr>
          <p:cNvPr id="17" name="fib4-text-16"/>
          <p:cNvSpPr/>
          <p:nvPr/>
        </p:nvSpPr>
        <p:spPr>
          <a:xfrm>
            <a:off x="7493000" y="5689600"/>
            <a:ext cx="7112000" cy="508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Significant fibrosis likely — refer to hepatology/gastroenterology.</a:t>
            </a:r>
            <a:endParaRPr lang="en-US" sz="1400" dirty="0"/>
          </a:p>
        </p:txBody>
      </p:sp>
      <p:sp>
        <p:nvSpPr>
          <p:cNvPr id="18" name="fib4-shape-17"/>
          <p:cNvSpPr/>
          <p:nvPr/>
        </p:nvSpPr>
        <p:spPr>
          <a:xfrm>
            <a:off x="762000" y="7112000"/>
            <a:ext cx="14224000" cy="1016000"/>
          </a:xfrm>
          <a:prstGeom prst="roundRect">
            <a:avLst>
              <a:gd name="adj" fmla="val 12500"/>
            </a:avLst>
          </a:prstGeom>
          <a:solidFill>
            <a:srgbClr val="0F4C5C"/>
          </a:solidFill>
          <a:ln/>
        </p:spPr>
        <p:txBody>
          <a:bodyPr/>
          <a:lstStyle/>
          <a:p>
            <a:endParaRPr lang="en-AU"/>
          </a:p>
        </p:txBody>
      </p:sp>
      <p:sp>
        <p:nvSpPr>
          <p:cNvPr id="19" name="fib4-text-18"/>
          <p:cNvSpPr/>
          <p:nvPr/>
        </p:nvSpPr>
        <p:spPr>
          <a:xfrm>
            <a:off x="1143000" y="7366000"/>
            <a:ext cx="13462000" cy="50800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Inter" pitchFamily="34" charset="0"/>
                <a:ea typeface="Inter" pitchFamily="34" charset="-122"/>
                <a:cs typeface="Inter" pitchFamily="34" charset="-120"/>
              </a:rPr>
              <a:t>Age caveat:</a:t>
            </a:r>
            <a:r>
              <a:rPr lang="en-US" sz="1500" dirty="0">
                <a:solidFill>
                  <a:srgbClr val="FFFFFF"/>
                </a:solidFill>
                <a:latin typeface="Inter" pitchFamily="34" charset="0"/>
                <a:ea typeface="Inter" pitchFamily="34" charset="-122"/>
                <a:cs typeface="Inter" pitchFamily="34" charset="-120"/>
              </a:rPr>
              <a:t> in patients over 65, use a lower cut-off of &lt; 2.0 for the low-risk category to avoid false reassurance.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fibrosis-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STEP 3 — RISK STRATIFY</a:t>
            </a:r>
            <a:endParaRPr lang="en-US" sz="1600" dirty="0"/>
          </a:p>
        </p:txBody>
      </p:sp>
      <p:sp>
        <p:nvSpPr>
          <p:cNvPr id="3" name="fibrosis-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Fibrosis is the prognosis</a:t>
            </a:r>
            <a:endParaRPr lang="en-US" sz="3600" dirty="0"/>
          </a:p>
        </p:txBody>
      </p:sp>
      <p:sp>
        <p:nvSpPr>
          <p:cNvPr id="4" name="fibrosis-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9</a:t>
            </a:r>
            <a:endParaRPr lang="en-US" sz="1400" dirty="0"/>
          </a:p>
        </p:txBody>
      </p:sp>
      <p:sp>
        <p:nvSpPr>
          <p:cNvPr id="5" name="fibrosis-text-4"/>
          <p:cNvSpPr/>
          <p:nvPr/>
        </p:nvSpPr>
        <p:spPr>
          <a:xfrm>
            <a:off x="762000" y="1524000"/>
            <a:ext cx="14732000" cy="431800"/>
          </a:xfrm>
          <a:prstGeom prst="rect">
            <a:avLst/>
          </a:prstGeom>
          <a:noFill/>
          <a:ln/>
        </p:spPr>
        <p:txBody>
          <a:bodyPr wrap="square" lIns="0" tIns="0" rIns="0" bIns="0" rtlCol="0" anchor="t"/>
          <a:lstStyle/>
          <a:p>
            <a:pPr marL="0" indent="0" algn="l">
              <a:buNone/>
            </a:pPr>
            <a:r>
              <a:rPr lang="en-US" sz="1600" dirty="0">
                <a:solidFill>
                  <a:srgbClr val="5C6B6D"/>
                </a:solidFill>
                <a:latin typeface="Inter" pitchFamily="34" charset="0"/>
                <a:ea typeface="Inter" pitchFamily="34" charset="-122"/>
                <a:cs typeface="Inter" pitchFamily="34" charset="-120"/>
              </a:rPr>
              <a:t>ALT and AST tell you about inflammation today. Fibrosis stage tells you what happens over the next decade.</a:t>
            </a:r>
            <a:endParaRPr lang="en-US" sz="1600" dirty="0"/>
          </a:p>
        </p:txBody>
      </p:sp>
      <p:sp>
        <p:nvSpPr>
          <p:cNvPr id="6" name="fibrosis-shape-5"/>
          <p:cNvSpPr/>
          <p:nvPr/>
        </p:nvSpPr>
        <p:spPr>
          <a:xfrm>
            <a:off x="762000" y="2794000"/>
            <a:ext cx="2413000" cy="1778000"/>
          </a:xfrm>
          <a:prstGeom prst="roundRect">
            <a:avLst>
              <a:gd name="adj" fmla="val 5714"/>
            </a:avLst>
          </a:prstGeom>
          <a:solidFill>
            <a:srgbClr val="2E7D32"/>
          </a:solidFill>
          <a:ln/>
        </p:spPr>
        <p:txBody>
          <a:bodyPr/>
          <a:lstStyle/>
          <a:p>
            <a:endParaRPr lang="en-AU"/>
          </a:p>
        </p:txBody>
      </p:sp>
      <p:sp>
        <p:nvSpPr>
          <p:cNvPr id="7" name="fibrosis-text-6"/>
          <p:cNvSpPr/>
          <p:nvPr/>
        </p:nvSpPr>
        <p:spPr>
          <a:xfrm>
            <a:off x="762000" y="3429000"/>
            <a:ext cx="2413000" cy="508000"/>
          </a:xfrm>
          <a:prstGeom prst="rect">
            <a:avLst/>
          </a:prstGeom>
          <a:noFill/>
          <a:ln/>
        </p:spPr>
        <p:txBody>
          <a:bodyPr wrap="square" lIns="0" tIns="0" rIns="0" bIns="0" rtlCol="0" anchor="t"/>
          <a:lstStyle/>
          <a:p>
            <a:pPr marL="0" indent="0" algn="ctr">
              <a:buNone/>
            </a:pPr>
            <a:r>
              <a:rPr lang="en-US" sz="2800" dirty="0">
                <a:solidFill>
                  <a:srgbClr val="FFFFFF"/>
                </a:solidFill>
                <a:latin typeface="Lora" pitchFamily="34" charset="0"/>
                <a:ea typeface="Microsoft YaHei" pitchFamily="34" charset="-122"/>
                <a:cs typeface="Lora" pitchFamily="34" charset="-120"/>
              </a:rPr>
              <a:t>F0</a:t>
            </a:r>
            <a:endParaRPr lang="en-US" sz="2800" dirty="0"/>
          </a:p>
        </p:txBody>
      </p:sp>
      <p:sp>
        <p:nvSpPr>
          <p:cNvPr id="8" name="fibrosis-text-7"/>
          <p:cNvSpPr/>
          <p:nvPr/>
        </p:nvSpPr>
        <p:spPr>
          <a:xfrm>
            <a:off x="762000" y="3962400"/>
            <a:ext cx="2413000" cy="381000"/>
          </a:xfrm>
          <a:prstGeom prst="rect">
            <a:avLst/>
          </a:prstGeom>
          <a:noFill/>
          <a:ln/>
        </p:spPr>
        <p:txBody>
          <a:bodyPr wrap="square" lIns="0" tIns="0" rIns="0" bIns="0" rtlCol="0" anchor="t"/>
          <a:lstStyle/>
          <a:p>
            <a:pPr marL="0" indent="0" algn="ctr">
              <a:buNone/>
            </a:pPr>
            <a:r>
              <a:rPr lang="en-US" sz="1200" dirty="0">
                <a:solidFill>
                  <a:srgbClr val="FFFFFF"/>
                </a:solidFill>
                <a:latin typeface="Inter" pitchFamily="34" charset="0"/>
                <a:ea typeface="Inter" pitchFamily="34" charset="-122"/>
                <a:cs typeface="Inter" pitchFamily="34" charset="-120"/>
              </a:rPr>
              <a:t>No fibrosis</a:t>
            </a:r>
            <a:endParaRPr lang="en-US" sz="1200" dirty="0"/>
          </a:p>
        </p:txBody>
      </p:sp>
      <p:sp>
        <p:nvSpPr>
          <p:cNvPr id="9" name="fibrosis-text-8"/>
          <p:cNvSpPr/>
          <p:nvPr/>
        </p:nvSpPr>
        <p:spPr>
          <a:xfrm>
            <a:off x="3251200" y="3429000"/>
            <a:ext cx="431800" cy="508000"/>
          </a:xfrm>
          <a:prstGeom prst="rect">
            <a:avLst/>
          </a:prstGeom>
          <a:noFill/>
          <a:ln/>
        </p:spPr>
        <p:txBody>
          <a:bodyPr wrap="square" lIns="0" tIns="0" rIns="0" bIns="0" rtlCol="0" anchor="t"/>
          <a:lstStyle/>
          <a:p>
            <a:pPr marL="0" indent="0" algn="ctr">
              <a:buNone/>
            </a:pPr>
            <a:r>
              <a:rPr lang="en-US" sz="2400" dirty="0">
                <a:solidFill>
                  <a:srgbClr val="5C6B6D"/>
                </a:solidFill>
                <a:latin typeface="Lora" pitchFamily="34" charset="0"/>
                <a:ea typeface="Microsoft YaHei" pitchFamily="34" charset="-122"/>
                <a:cs typeface="Lora" pitchFamily="34" charset="-120"/>
              </a:rPr>
              <a:t>→</a:t>
            </a:r>
            <a:endParaRPr lang="en-US" sz="2400" dirty="0"/>
          </a:p>
        </p:txBody>
      </p:sp>
      <p:sp>
        <p:nvSpPr>
          <p:cNvPr id="10" name="fibrosis-shape-9"/>
          <p:cNvSpPr/>
          <p:nvPr/>
        </p:nvSpPr>
        <p:spPr>
          <a:xfrm>
            <a:off x="3759200" y="2794000"/>
            <a:ext cx="2413000" cy="1778000"/>
          </a:xfrm>
          <a:prstGeom prst="roundRect">
            <a:avLst>
              <a:gd name="adj" fmla="val 5714"/>
            </a:avLst>
          </a:prstGeom>
          <a:solidFill>
            <a:srgbClr val="7CB342"/>
          </a:solidFill>
          <a:ln/>
        </p:spPr>
        <p:txBody>
          <a:bodyPr/>
          <a:lstStyle/>
          <a:p>
            <a:endParaRPr lang="en-AU"/>
          </a:p>
        </p:txBody>
      </p:sp>
      <p:sp>
        <p:nvSpPr>
          <p:cNvPr id="11" name="fibrosis-text-10"/>
          <p:cNvSpPr/>
          <p:nvPr/>
        </p:nvSpPr>
        <p:spPr>
          <a:xfrm>
            <a:off x="3759200" y="3429000"/>
            <a:ext cx="2413000" cy="508000"/>
          </a:xfrm>
          <a:prstGeom prst="rect">
            <a:avLst/>
          </a:prstGeom>
          <a:noFill/>
          <a:ln/>
        </p:spPr>
        <p:txBody>
          <a:bodyPr wrap="square" lIns="0" tIns="0" rIns="0" bIns="0" rtlCol="0" anchor="t"/>
          <a:lstStyle/>
          <a:p>
            <a:pPr marL="0" indent="0" algn="ctr">
              <a:buNone/>
            </a:pPr>
            <a:r>
              <a:rPr lang="en-US" sz="2800" dirty="0">
                <a:solidFill>
                  <a:srgbClr val="FFFFFF"/>
                </a:solidFill>
                <a:latin typeface="Lora" pitchFamily="34" charset="0"/>
                <a:ea typeface="Microsoft YaHei" pitchFamily="34" charset="-122"/>
                <a:cs typeface="Lora" pitchFamily="34" charset="-120"/>
              </a:rPr>
              <a:t>F1</a:t>
            </a:r>
            <a:endParaRPr lang="en-US" sz="2800" dirty="0"/>
          </a:p>
        </p:txBody>
      </p:sp>
      <p:sp>
        <p:nvSpPr>
          <p:cNvPr id="12" name="fibrosis-text-11"/>
          <p:cNvSpPr/>
          <p:nvPr/>
        </p:nvSpPr>
        <p:spPr>
          <a:xfrm>
            <a:off x="3759200" y="3962400"/>
            <a:ext cx="2413000" cy="381000"/>
          </a:xfrm>
          <a:prstGeom prst="rect">
            <a:avLst/>
          </a:prstGeom>
          <a:noFill/>
          <a:ln/>
        </p:spPr>
        <p:txBody>
          <a:bodyPr wrap="square" lIns="0" tIns="0" rIns="0" bIns="0" rtlCol="0" anchor="t"/>
          <a:lstStyle/>
          <a:p>
            <a:pPr marL="0" indent="0" algn="ctr">
              <a:buNone/>
            </a:pPr>
            <a:r>
              <a:rPr lang="en-US" sz="1200" dirty="0">
                <a:solidFill>
                  <a:srgbClr val="FFFFFF"/>
                </a:solidFill>
                <a:latin typeface="Inter" pitchFamily="34" charset="0"/>
                <a:ea typeface="Inter" pitchFamily="34" charset="-122"/>
                <a:cs typeface="Inter" pitchFamily="34" charset="-120"/>
              </a:rPr>
              <a:t>Mild fibrosis</a:t>
            </a:r>
            <a:endParaRPr lang="en-US" sz="1200" dirty="0"/>
          </a:p>
        </p:txBody>
      </p:sp>
      <p:sp>
        <p:nvSpPr>
          <p:cNvPr id="13" name="fibrosis-text-12"/>
          <p:cNvSpPr/>
          <p:nvPr/>
        </p:nvSpPr>
        <p:spPr>
          <a:xfrm>
            <a:off x="6248400" y="3429000"/>
            <a:ext cx="431800" cy="508000"/>
          </a:xfrm>
          <a:prstGeom prst="rect">
            <a:avLst/>
          </a:prstGeom>
          <a:noFill/>
          <a:ln/>
        </p:spPr>
        <p:txBody>
          <a:bodyPr wrap="square" lIns="0" tIns="0" rIns="0" bIns="0" rtlCol="0" anchor="t"/>
          <a:lstStyle/>
          <a:p>
            <a:pPr marL="0" indent="0" algn="ctr">
              <a:buNone/>
            </a:pPr>
            <a:r>
              <a:rPr lang="en-US" sz="2400" dirty="0">
                <a:solidFill>
                  <a:srgbClr val="5C6B6D"/>
                </a:solidFill>
                <a:latin typeface="Lora" pitchFamily="34" charset="0"/>
                <a:ea typeface="Microsoft YaHei" pitchFamily="34" charset="-122"/>
                <a:cs typeface="Lora" pitchFamily="34" charset="-120"/>
              </a:rPr>
              <a:t>→</a:t>
            </a:r>
            <a:endParaRPr lang="en-US" sz="2400" dirty="0"/>
          </a:p>
        </p:txBody>
      </p:sp>
      <p:sp>
        <p:nvSpPr>
          <p:cNvPr id="14" name="fibrosis-shape-13"/>
          <p:cNvSpPr/>
          <p:nvPr/>
        </p:nvSpPr>
        <p:spPr>
          <a:xfrm>
            <a:off x="6756400" y="2794000"/>
            <a:ext cx="2413000" cy="1778000"/>
          </a:xfrm>
          <a:prstGeom prst="roundRect">
            <a:avLst>
              <a:gd name="adj" fmla="val 5714"/>
            </a:avLst>
          </a:prstGeom>
          <a:solidFill>
            <a:srgbClr val="E3A018"/>
          </a:solidFill>
          <a:ln/>
        </p:spPr>
        <p:txBody>
          <a:bodyPr/>
          <a:lstStyle/>
          <a:p>
            <a:endParaRPr lang="en-AU"/>
          </a:p>
        </p:txBody>
      </p:sp>
      <p:sp>
        <p:nvSpPr>
          <p:cNvPr id="15" name="fibrosis-text-14"/>
          <p:cNvSpPr/>
          <p:nvPr/>
        </p:nvSpPr>
        <p:spPr>
          <a:xfrm>
            <a:off x="6756400" y="3429000"/>
            <a:ext cx="2413000" cy="508000"/>
          </a:xfrm>
          <a:prstGeom prst="rect">
            <a:avLst/>
          </a:prstGeom>
          <a:noFill/>
          <a:ln/>
        </p:spPr>
        <p:txBody>
          <a:bodyPr wrap="square" lIns="0" tIns="0" rIns="0" bIns="0" rtlCol="0" anchor="t"/>
          <a:lstStyle/>
          <a:p>
            <a:pPr marL="0" indent="0" algn="ctr">
              <a:buNone/>
            </a:pPr>
            <a:r>
              <a:rPr lang="en-US" sz="2800" dirty="0">
                <a:solidFill>
                  <a:srgbClr val="0F4C5C"/>
                </a:solidFill>
                <a:latin typeface="Lora" pitchFamily="34" charset="0"/>
                <a:ea typeface="Microsoft YaHei" pitchFamily="34" charset="-122"/>
                <a:cs typeface="Lora" pitchFamily="34" charset="-120"/>
              </a:rPr>
              <a:t>F2</a:t>
            </a:r>
            <a:endParaRPr lang="en-US" sz="2800" dirty="0"/>
          </a:p>
        </p:txBody>
      </p:sp>
      <p:sp>
        <p:nvSpPr>
          <p:cNvPr id="16" name="fibrosis-text-15"/>
          <p:cNvSpPr/>
          <p:nvPr/>
        </p:nvSpPr>
        <p:spPr>
          <a:xfrm>
            <a:off x="6756400" y="3962400"/>
            <a:ext cx="2413000" cy="381000"/>
          </a:xfrm>
          <a:prstGeom prst="rect">
            <a:avLst/>
          </a:prstGeom>
          <a:noFill/>
          <a:ln/>
        </p:spPr>
        <p:txBody>
          <a:bodyPr wrap="square" lIns="0" tIns="0" rIns="0" bIns="0" rtlCol="0" anchor="t"/>
          <a:lstStyle/>
          <a:p>
            <a:pPr marL="0" indent="0" algn="ctr">
              <a:buNone/>
            </a:pPr>
            <a:r>
              <a:rPr lang="en-US" sz="1200" dirty="0">
                <a:solidFill>
                  <a:srgbClr val="0F4C5C"/>
                </a:solidFill>
                <a:latin typeface="Inter" pitchFamily="34" charset="0"/>
                <a:ea typeface="Inter" pitchFamily="34" charset="-122"/>
                <a:cs typeface="Inter" pitchFamily="34" charset="-120"/>
              </a:rPr>
              <a:t>Significant fibrosis</a:t>
            </a:r>
            <a:endParaRPr lang="en-US" sz="1200" dirty="0"/>
          </a:p>
        </p:txBody>
      </p:sp>
      <p:sp>
        <p:nvSpPr>
          <p:cNvPr id="17" name="fibrosis-text-16"/>
          <p:cNvSpPr/>
          <p:nvPr/>
        </p:nvSpPr>
        <p:spPr>
          <a:xfrm>
            <a:off x="9245600" y="3429000"/>
            <a:ext cx="431800" cy="508000"/>
          </a:xfrm>
          <a:prstGeom prst="rect">
            <a:avLst/>
          </a:prstGeom>
          <a:noFill/>
          <a:ln/>
        </p:spPr>
        <p:txBody>
          <a:bodyPr wrap="square" lIns="0" tIns="0" rIns="0" bIns="0" rtlCol="0" anchor="t"/>
          <a:lstStyle/>
          <a:p>
            <a:pPr marL="0" indent="0" algn="ctr">
              <a:buNone/>
            </a:pPr>
            <a:r>
              <a:rPr lang="en-US" sz="2400" dirty="0">
                <a:solidFill>
                  <a:srgbClr val="5C6B6D"/>
                </a:solidFill>
                <a:latin typeface="Lora" pitchFamily="34" charset="0"/>
                <a:ea typeface="Microsoft YaHei" pitchFamily="34" charset="-122"/>
                <a:cs typeface="Lora" pitchFamily="34" charset="-120"/>
              </a:rPr>
              <a:t>→</a:t>
            </a:r>
            <a:endParaRPr lang="en-US" sz="2400" dirty="0"/>
          </a:p>
        </p:txBody>
      </p:sp>
      <p:sp>
        <p:nvSpPr>
          <p:cNvPr id="18" name="fibrosis-shape-17"/>
          <p:cNvSpPr/>
          <p:nvPr/>
        </p:nvSpPr>
        <p:spPr>
          <a:xfrm>
            <a:off x="9753600" y="2794000"/>
            <a:ext cx="2413000" cy="1778000"/>
          </a:xfrm>
          <a:prstGeom prst="roundRect">
            <a:avLst>
              <a:gd name="adj" fmla="val 5714"/>
            </a:avLst>
          </a:prstGeom>
          <a:solidFill>
            <a:srgbClr val="E07B39"/>
          </a:solidFill>
          <a:ln/>
        </p:spPr>
        <p:txBody>
          <a:bodyPr/>
          <a:lstStyle/>
          <a:p>
            <a:endParaRPr lang="en-AU"/>
          </a:p>
        </p:txBody>
      </p:sp>
      <p:sp>
        <p:nvSpPr>
          <p:cNvPr id="19" name="fibrosis-text-18"/>
          <p:cNvSpPr/>
          <p:nvPr/>
        </p:nvSpPr>
        <p:spPr>
          <a:xfrm>
            <a:off x="9753600" y="3429000"/>
            <a:ext cx="2413000" cy="508000"/>
          </a:xfrm>
          <a:prstGeom prst="rect">
            <a:avLst/>
          </a:prstGeom>
          <a:noFill/>
          <a:ln/>
        </p:spPr>
        <p:txBody>
          <a:bodyPr wrap="square" lIns="0" tIns="0" rIns="0" bIns="0" rtlCol="0" anchor="t"/>
          <a:lstStyle/>
          <a:p>
            <a:pPr marL="0" indent="0" algn="ctr">
              <a:buNone/>
            </a:pPr>
            <a:r>
              <a:rPr lang="en-US" sz="2800" dirty="0">
                <a:solidFill>
                  <a:srgbClr val="FFFFFF"/>
                </a:solidFill>
                <a:latin typeface="Lora" pitchFamily="34" charset="0"/>
                <a:ea typeface="Microsoft YaHei" pitchFamily="34" charset="-122"/>
                <a:cs typeface="Lora" pitchFamily="34" charset="-120"/>
              </a:rPr>
              <a:t>F3</a:t>
            </a:r>
            <a:endParaRPr lang="en-US" sz="2800" dirty="0"/>
          </a:p>
        </p:txBody>
      </p:sp>
      <p:sp>
        <p:nvSpPr>
          <p:cNvPr id="20" name="fibrosis-text-19"/>
          <p:cNvSpPr/>
          <p:nvPr/>
        </p:nvSpPr>
        <p:spPr>
          <a:xfrm>
            <a:off x="9753600" y="3962400"/>
            <a:ext cx="2413000" cy="381000"/>
          </a:xfrm>
          <a:prstGeom prst="rect">
            <a:avLst/>
          </a:prstGeom>
          <a:noFill/>
          <a:ln/>
        </p:spPr>
        <p:txBody>
          <a:bodyPr wrap="square" lIns="0" tIns="0" rIns="0" bIns="0" rtlCol="0" anchor="t"/>
          <a:lstStyle/>
          <a:p>
            <a:pPr marL="0" indent="0" algn="ctr">
              <a:buNone/>
            </a:pPr>
            <a:r>
              <a:rPr lang="en-US" sz="1200" dirty="0">
                <a:solidFill>
                  <a:srgbClr val="FFFFFF"/>
                </a:solidFill>
                <a:latin typeface="Inter" pitchFamily="34" charset="0"/>
                <a:ea typeface="Inter" pitchFamily="34" charset="-122"/>
                <a:cs typeface="Inter" pitchFamily="34" charset="-120"/>
              </a:rPr>
              <a:t>Advanced fibrosis</a:t>
            </a:r>
            <a:endParaRPr lang="en-US" sz="1200" dirty="0"/>
          </a:p>
        </p:txBody>
      </p:sp>
      <p:sp>
        <p:nvSpPr>
          <p:cNvPr id="21" name="fibrosis-text-20"/>
          <p:cNvSpPr/>
          <p:nvPr/>
        </p:nvSpPr>
        <p:spPr>
          <a:xfrm>
            <a:off x="12242800" y="3429000"/>
            <a:ext cx="431800" cy="508000"/>
          </a:xfrm>
          <a:prstGeom prst="rect">
            <a:avLst/>
          </a:prstGeom>
          <a:noFill/>
          <a:ln/>
        </p:spPr>
        <p:txBody>
          <a:bodyPr wrap="square" lIns="0" tIns="0" rIns="0" bIns="0" rtlCol="0" anchor="t"/>
          <a:lstStyle/>
          <a:p>
            <a:pPr marL="0" indent="0" algn="ctr">
              <a:buNone/>
            </a:pPr>
            <a:r>
              <a:rPr lang="en-US" sz="2400" dirty="0">
                <a:solidFill>
                  <a:srgbClr val="5C6B6D"/>
                </a:solidFill>
                <a:latin typeface="Lora" pitchFamily="34" charset="0"/>
                <a:ea typeface="Microsoft YaHei" pitchFamily="34" charset="-122"/>
                <a:cs typeface="Lora" pitchFamily="34" charset="-120"/>
              </a:rPr>
              <a:t>→</a:t>
            </a:r>
            <a:endParaRPr lang="en-US" sz="2400" dirty="0"/>
          </a:p>
        </p:txBody>
      </p:sp>
      <p:sp>
        <p:nvSpPr>
          <p:cNvPr id="22" name="fibrosis-shape-21"/>
          <p:cNvSpPr/>
          <p:nvPr/>
        </p:nvSpPr>
        <p:spPr>
          <a:xfrm>
            <a:off x="12750800" y="2794000"/>
            <a:ext cx="2413000" cy="1778000"/>
          </a:xfrm>
          <a:prstGeom prst="roundRect">
            <a:avLst>
              <a:gd name="adj" fmla="val 5714"/>
            </a:avLst>
          </a:prstGeom>
          <a:solidFill>
            <a:srgbClr val="D32F2F"/>
          </a:solidFill>
          <a:ln/>
        </p:spPr>
        <p:txBody>
          <a:bodyPr/>
          <a:lstStyle/>
          <a:p>
            <a:endParaRPr lang="en-AU"/>
          </a:p>
        </p:txBody>
      </p:sp>
      <p:sp>
        <p:nvSpPr>
          <p:cNvPr id="23" name="fibrosis-text-22"/>
          <p:cNvSpPr/>
          <p:nvPr/>
        </p:nvSpPr>
        <p:spPr>
          <a:xfrm>
            <a:off x="12750800" y="3429000"/>
            <a:ext cx="2413000" cy="508000"/>
          </a:xfrm>
          <a:prstGeom prst="rect">
            <a:avLst/>
          </a:prstGeom>
          <a:noFill/>
          <a:ln/>
        </p:spPr>
        <p:txBody>
          <a:bodyPr wrap="square" lIns="0" tIns="0" rIns="0" bIns="0" rtlCol="0" anchor="t"/>
          <a:lstStyle/>
          <a:p>
            <a:pPr marL="0" indent="0" algn="ctr">
              <a:buNone/>
            </a:pPr>
            <a:r>
              <a:rPr lang="en-US" sz="2800" dirty="0">
                <a:solidFill>
                  <a:srgbClr val="FFFFFF"/>
                </a:solidFill>
                <a:latin typeface="Lora" pitchFamily="34" charset="0"/>
                <a:ea typeface="Microsoft YaHei" pitchFamily="34" charset="-122"/>
                <a:cs typeface="Lora" pitchFamily="34" charset="-120"/>
              </a:rPr>
              <a:t>F4</a:t>
            </a:r>
            <a:endParaRPr lang="en-US" sz="2800" dirty="0"/>
          </a:p>
        </p:txBody>
      </p:sp>
      <p:sp>
        <p:nvSpPr>
          <p:cNvPr id="24" name="fibrosis-text-23"/>
          <p:cNvSpPr/>
          <p:nvPr/>
        </p:nvSpPr>
        <p:spPr>
          <a:xfrm>
            <a:off x="12750800" y="3962400"/>
            <a:ext cx="2413000" cy="381000"/>
          </a:xfrm>
          <a:prstGeom prst="rect">
            <a:avLst/>
          </a:prstGeom>
          <a:noFill/>
          <a:ln/>
        </p:spPr>
        <p:txBody>
          <a:bodyPr wrap="square" lIns="0" tIns="0" rIns="0" bIns="0" rtlCol="0" anchor="t"/>
          <a:lstStyle/>
          <a:p>
            <a:pPr marL="0" indent="0" algn="ctr">
              <a:buNone/>
            </a:pPr>
            <a:r>
              <a:rPr lang="en-US" sz="1200" dirty="0">
                <a:solidFill>
                  <a:srgbClr val="FFFFFF"/>
                </a:solidFill>
                <a:latin typeface="Inter" pitchFamily="34" charset="0"/>
                <a:ea typeface="Inter" pitchFamily="34" charset="-122"/>
                <a:cs typeface="Inter" pitchFamily="34" charset="-120"/>
              </a:rPr>
              <a:t>Cirrhosis</a:t>
            </a:r>
            <a:endParaRPr lang="en-US" sz="1200" dirty="0"/>
          </a:p>
        </p:txBody>
      </p:sp>
      <p:sp>
        <p:nvSpPr>
          <p:cNvPr id="25" name="fibrosis-shape-24"/>
          <p:cNvSpPr/>
          <p:nvPr/>
        </p:nvSpPr>
        <p:spPr>
          <a:xfrm>
            <a:off x="762000" y="5334000"/>
            <a:ext cx="14224000" cy="2286000"/>
          </a:xfrm>
          <a:prstGeom prst="roundRect">
            <a:avLst>
              <a:gd name="adj" fmla="val 5556"/>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6" name="fibrosis-text-25"/>
          <p:cNvSpPr/>
          <p:nvPr/>
        </p:nvSpPr>
        <p:spPr>
          <a:xfrm>
            <a:off x="1143000" y="5715000"/>
            <a:ext cx="13462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The clinically meaningful threshold is F2 and above</a:t>
            </a:r>
            <a:endParaRPr lang="en-US" sz="1800" dirty="0"/>
          </a:p>
        </p:txBody>
      </p:sp>
      <p:sp>
        <p:nvSpPr>
          <p:cNvPr id="27" name="fibrosis-text-26"/>
          <p:cNvSpPr/>
          <p:nvPr/>
        </p:nvSpPr>
        <p:spPr>
          <a:xfrm>
            <a:off x="1143000" y="6172200"/>
            <a:ext cx="13462000" cy="1270000"/>
          </a:xfrm>
          <a:prstGeom prst="rect">
            <a:avLst/>
          </a:prstGeom>
          <a:noFill/>
          <a:ln/>
        </p:spPr>
        <p:txBody>
          <a:bodyPr wrap="square" lIns="0" tIns="0" rIns="0" bIns="0" rtlCol="0" anchor="t"/>
          <a:lstStyle/>
          <a:p>
            <a:pPr marL="0" indent="0" algn="l">
              <a:lnSpc>
                <a:spcPts val="2250"/>
              </a:lnSpc>
              <a:buNone/>
            </a:pPr>
            <a:r>
              <a:rPr lang="en-US" sz="1500" dirty="0">
                <a:solidFill>
                  <a:srgbClr val="5C6B6D"/>
                </a:solidFill>
                <a:latin typeface="Inter" pitchFamily="34" charset="0"/>
                <a:ea typeface="Inter" pitchFamily="34" charset="-122"/>
                <a:cs typeface="Inter" pitchFamily="34" charset="-120"/>
              </a:rPr>
              <a:t>This is where liver-related morbidity and mortality rise meaningfully. Our job in primary care is to find these patients early — while F0–F1 can usually be safely managed and monitored, F2+ warrants further work-up and often specialist input.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a:effectLst/>
      </p:bgPr>
    </p:bg>
    <p:spTree>
      <p:nvGrpSpPr>
        <p:cNvPr id="1" name=""/>
        <p:cNvGrpSpPr/>
        <p:nvPr/>
      </p:nvGrpSpPr>
      <p:grpSpPr>
        <a:xfrm>
          <a:off x="0" y="0"/>
          <a:ext cx="0" cy="0"/>
          <a:chOff x="0" y="0"/>
          <a:chExt cx="0" cy="0"/>
        </a:xfrm>
      </p:grpSpPr>
      <p:sp>
        <p:nvSpPr>
          <p:cNvPr id="2" name="case2-shape-1"/>
          <p:cNvSpPr/>
          <p:nvPr/>
        </p:nvSpPr>
        <p:spPr>
          <a:xfrm>
            <a:off x="12446000" y="-1270000"/>
            <a:ext cx="5334000" cy="5334000"/>
          </a:xfrm>
          <a:prstGeom prst="ellipse">
            <a:avLst/>
          </a:prstGeom>
          <a:solidFill>
            <a:srgbClr val="FFFFFF">
              <a:alpha val="6000"/>
            </a:srgbClr>
          </a:solidFill>
          <a:ln/>
        </p:spPr>
        <p:txBody>
          <a:bodyPr/>
          <a:lstStyle/>
          <a:p>
            <a:endParaRPr lang="en-AU"/>
          </a:p>
        </p:txBody>
      </p:sp>
      <p:sp>
        <p:nvSpPr>
          <p:cNvPr id="3" name="case2-shape-2"/>
          <p:cNvSpPr/>
          <p:nvPr/>
        </p:nvSpPr>
        <p:spPr>
          <a:xfrm>
            <a:off x="13970000" y="3048000"/>
            <a:ext cx="4064000" cy="4064000"/>
          </a:xfrm>
          <a:prstGeom prst="ellipse">
            <a:avLst/>
          </a:prstGeom>
          <a:solidFill>
            <a:srgbClr val="FFFFFF">
              <a:alpha val="5000"/>
            </a:srgbClr>
          </a:solidFill>
          <a:ln/>
        </p:spPr>
        <p:txBody>
          <a:bodyPr/>
          <a:lstStyle/>
          <a:p>
            <a:endParaRPr lang="en-AU"/>
          </a:p>
        </p:txBody>
      </p:sp>
      <p:sp>
        <p:nvSpPr>
          <p:cNvPr id="4" name="case2-text-3"/>
          <p:cNvSpPr/>
          <p:nvPr/>
        </p:nvSpPr>
        <p:spPr>
          <a:xfrm>
            <a:off x="762000" y="6350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CASE STUDY 2</a:t>
            </a:r>
            <a:endParaRPr lang="en-US" sz="1600" dirty="0"/>
          </a:p>
        </p:txBody>
      </p:sp>
      <p:sp>
        <p:nvSpPr>
          <p:cNvPr id="5" name="case2-text-4"/>
          <p:cNvSpPr/>
          <p:nvPr/>
        </p:nvSpPr>
        <p:spPr>
          <a:xfrm>
            <a:off x="762000" y="965200"/>
            <a:ext cx="11430000" cy="711200"/>
          </a:xfrm>
          <a:prstGeom prst="rect">
            <a:avLst/>
          </a:prstGeom>
          <a:noFill/>
          <a:ln/>
        </p:spPr>
        <p:txBody>
          <a:bodyPr wrap="square" lIns="0" tIns="0" rIns="0" bIns="0" rtlCol="0" anchor="t"/>
          <a:lstStyle/>
          <a:p>
            <a:pPr marL="0" indent="0" algn="l">
              <a:buNone/>
            </a:pPr>
            <a:r>
              <a:rPr lang="en-US" sz="3400" dirty="0">
                <a:solidFill>
                  <a:srgbClr val="FFFFFF"/>
                </a:solidFill>
                <a:latin typeface="Lora" pitchFamily="34" charset="0"/>
                <a:ea typeface="Microsoft YaHei" pitchFamily="34" charset="-122"/>
                <a:cs typeface="Lora" pitchFamily="34" charset="-120"/>
              </a:rPr>
              <a:t>Back to the accountant</a:t>
            </a:r>
            <a:endParaRPr lang="en-US" sz="3400" dirty="0"/>
          </a:p>
        </p:txBody>
      </p:sp>
      <p:sp>
        <p:nvSpPr>
          <p:cNvPr id="6" name="case2-shape-5"/>
          <p:cNvSpPr/>
          <p:nvPr/>
        </p:nvSpPr>
        <p:spPr>
          <a:xfrm>
            <a:off x="14325600" y="635000"/>
            <a:ext cx="660400" cy="660400"/>
          </a:xfrm>
          <a:prstGeom prst="ellipse">
            <a:avLst/>
          </a:prstGeom>
          <a:solidFill>
            <a:srgbClr val="E3A018"/>
          </a:solidFill>
          <a:ln/>
        </p:spPr>
        <p:txBody>
          <a:bodyPr/>
          <a:lstStyle/>
          <a:p>
            <a:endParaRPr lang="en-AU"/>
          </a:p>
        </p:txBody>
      </p:sp>
      <p:pic>
        <p:nvPicPr>
          <p:cNvPr id="7" name="case2-icon-6" descr="preencoded.png"/>
          <p:cNvPicPr>
            <a:picLocks noChangeAspect="1"/>
          </p:cNvPicPr>
          <p:nvPr/>
        </p:nvPicPr>
        <p:blipFill>
          <a:blip r:embed="rId3"/>
          <a:stretch>
            <a:fillRect/>
          </a:stretch>
        </p:blipFill>
        <p:spPr>
          <a:xfrm>
            <a:off x="14490700" y="800100"/>
            <a:ext cx="330200" cy="330200"/>
          </a:xfrm>
          <a:prstGeom prst="rect">
            <a:avLst/>
          </a:prstGeom>
        </p:spPr>
      </p:pic>
      <p:sp>
        <p:nvSpPr>
          <p:cNvPr id="8" name="case2-shape-7"/>
          <p:cNvSpPr/>
          <p:nvPr/>
        </p:nvSpPr>
        <p:spPr>
          <a:xfrm>
            <a:off x="762000" y="2032000"/>
            <a:ext cx="6985000" cy="5207000"/>
          </a:xfrm>
          <a:prstGeom prst="roundRect">
            <a:avLst>
              <a:gd name="adj" fmla="val 2439"/>
            </a:avLst>
          </a:prstGeom>
          <a:solidFill>
            <a:srgbClr val="FFFFFF"/>
          </a:solidFill>
          <a:ln/>
        </p:spPr>
        <p:txBody>
          <a:bodyPr/>
          <a:lstStyle/>
          <a:p>
            <a:endParaRPr lang="en-AU"/>
          </a:p>
        </p:txBody>
      </p:sp>
      <p:sp>
        <p:nvSpPr>
          <p:cNvPr id="9" name="case2-text-8"/>
          <p:cNvSpPr/>
          <p:nvPr/>
        </p:nvSpPr>
        <p:spPr>
          <a:xfrm>
            <a:off x="1143000" y="2387600"/>
            <a:ext cx="6223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Clinical vignette</a:t>
            </a:r>
            <a:endParaRPr lang="en-US" sz="1800" dirty="0"/>
          </a:p>
        </p:txBody>
      </p:sp>
      <p:sp>
        <p:nvSpPr>
          <p:cNvPr id="10" name="case2-text-9"/>
          <p:cNvSpPr/>
          <p:nvPr/>
        </p:nvSpPr>
        <p:spPr>
          <a:xfrm>
            <a:off x="1143000" y="2946400"/>
            <a:ext cx="6223000" cy="4064000"/>
          </a:xfrm>
          <a:prstGeom prst="rect">
            <a:avLst/>
          </a:prstGeom>
          <a:noFill/>
          <a:ln/>
        </p:spPr>
        <p:txBody>
          <a:bodyPr wrap="square" lIns="0" tIns="0" rIns="0" bIns="0" rtlCol="0" anchor="t"/>
          <a:lstStyle/>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Same 52M: ALT 78, AST 52, platelets 150, age 52</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Liver screen negative; ultrasound shows fatty liver</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You calculate his FIB-4 = 1.9</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He asks: "Is my liver going to be a problem?"</a:t>
            </a:r>
            <a:endParaRPr lang="en-US" sz="1500" dirty="0"/>
          </a:p>
        </p:txBody>
      </p:sp>
      <p:sp>
        <p:nvSpPr>
          <p:cNvPr id="11" name="case2-shape-10"/>
          <p:cNvSpPr/>
          <p:nvPr/>
        </p:nvSpPr>
        <p:spPr>
          <a:xfrm>
            <a:off x="8255000" y="2032000"/>
            <a:ext cx="7239000" cy="1397000"/>
          </a:xfrm>
          <a:prstGeom prst="roundRect">
            <a:avLst>
              <a:gd name="adj" fmla="val 9091"/>
            </a:avLst>
          </a:prstGeom>
          <a:solidFill>
            <a:srgbClr val="E3A018"/>
          </a:solidFill>
          <a:ln/>
        </p:spPr>
        <p:txBody>
          <a:bodyPr/>
          <a:lstStyle/>
          <a:p>
            <a:endParaRPr lang="en-AU"/>
          </a:p>
        </p:txBody>
      </p:sp>
      <p:sp>
        <p:nvSpPr>
          <p:cNvPr id="12" name="case2-text-11"/>
          <p:cNvSpPr/>
          <p:nvPr/>
        </p:nvSpPr>
        <p:spPr>
          <a:xfrm>
            <a:off x="8610600" y="2311400"/>
            <a:ext cx="6527800" cy="889000"/>
          </a:xfrm>
          <a:prstGeom prst="rect">
            <a:avLst/>
          </a:prstGeom>
          <a:noFill/>
          <a:ln/>
        </p:spPr>
        <p:txBody>
          <a:bodyPr wrap="square" lIns="0" tIns="0" rIns="0" bIns="0" rtlCol="0" anchor="ctr"/>
          <a:lstStyle/>
          <a:p>
            <a:pPr marL="0" indent="0" algn="l">
              <a:buNone/>
            </a:pPr>
            <a:r>
              <a:rPr lang="en-US" sz="1900" b="1" dirty="0">
                <a:solidFill>
                  <a:srgbClr val="0F4C5C"/>
                </a:solidFill>
                <a:latin typeface="Inter" pitchFamily="34" charset="0"/>
                <a:ea typeface="Inter" pitchFamily="34" charset="-122"/>
                <a:cs typeface="Inter" pitchFamily="34" charset="-120"/>
              </a:rPr>
              <a:t>FIB-4 1.9 — what now?</a:t>
            </a:r>
            <a:endParaRPr lang="en-US" sz="1900" dirty="0"/>
          </a:p>
        </p:txBody>
      </p:sp>
      <p:sp>
        <p:nvSpPr>
          <p:cNvPr id="13" name="case2-shape-12"/>
          <p:cNvSpPr/>
          <p:nvPr/>
        </p:nvSpPr>
        <p:spPr>
          <a:xfrm>
            <a:off x="8255000" y="3683000"/>
            <a:ext cx="7239000" cy="3556000"/>
          </a:xfrm>
          <a:prstGeom prst="roundRect">
            <a:avLst>
              <a:gd name="adj" fmla="val 3571"/>
            </a:avLst>
          </a:prstGeom>
          <a:solidFill>
            <a:srgbClr val="0F4C5C"/>
          </a:solidFill>
          <a:ln w="25400">
            <a:solidFill>
              <a:srgbClr val="E3A018"/>
            </a:solidFill>
            <a:prstDash val="solid"/>
          </a:ln>
        </p:spPr>
        <p:txBody>
          <a:bodyPr/>
          <a:lstStyle/>
          <a:p>
            <a:endParaRPr lang="en-AU"/>
          </a:p>
        </p:txBody>
      </p:sp>
      <p:sp>
        <p:nvSpPr>
          <p:cNvPr id="14" name="case2-text-13"/>
          <p:cNvSpPr/>
          <p:nvPr/>
        </p:nvSpPr>
        <p:spPr>
          <a:xfrm>
            <a:off x="8610600" y="40132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DISCUSSION</a:t>
            </a:r>
            <a:endParaRPr lang="en-US" sz="1600" dirty="0"/>
          </a:p>
        </p:txBody>
      </p:sp>
      <p:sp>
        <p:nvSpPr>
          <p:cNvPr id="15" name="case2-text-14"/>
          <p:cNvSpPr/>
          <p:nvPr/>
        </p:nvSpPr>
        <p:spPr>
          <a:xfrm>
            <a:off x="8610600" y="4419600"/>
            <a:ext cx="6527800" cy="2667000"/>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Inter" pitchFamily="34" charset="0"/>
                <a:ea typeface="Inter" pitchFamily="34" charset="-122"/>
                <a:cs typeface="Inter" pitchFamily="34" charset="-120"/>
              </a:rPr>
              <a:t>1.9 sits in the indeterminate zone (1.3–2.67). Don't reassure and don't panic — arrange elastography (FibroScan) to refine risk, optimise metabolic factors, and refer if fibrosis is confirmed.</a:t>
            </a:r>
            <a:endParaRPr lang="en-US" sz="1600" dirty="0"/>
          </a:p>
        </p:txBody>
      </p:sp>
      <p:sp>
        <p:nvSpPr>
          <p:cNvPr id="16" name="case2-text-15"/>
          <p:cNvSpPr/>
          <p:nvPr/>
        </p:nvSpPr>
        <p:spPr>
          <a:xfrm>
            <a:off x="14986000" y="8610600"/>
            <a:ext cx="762000" cy="254000"/>
          </a:xfrm>
          <a:prstGeom prst="rect">
            <a:avLst/>
          </a:prstGeom>
          <a:noFill/>
          <a:ln/>
        </p:spPr>
        <p:txBody>
          <a:bodyPr wrap="square" lIns="0" tIns="0" rIns="0" bIns="0" rtlCol="0" anchor="t"/>
          <a:lstStyle/>
          <a:p>
            <a:pPr marL="0" indent="0" algn="r">
              <a:buNone/>
            </a:pPr>
            <a:r>
              <a:rPr lang="en-US" sz="1400" dirty="0">
                <a:solidFill>
                  <a:srgbClr val="B9C7C7"/>
                </a:solidFill>
                <a:latin typeface="Inter" pitchFamily="34" charset="0"/>
                <a:ea typeface="Inter" pitchFamily="34" charset="-122"/>
                <a:cs typeface="Inter"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red_flags-text-1"/>
          <p:cNvSpPr/>
          <p:nvPr/>
        </p:nvSpPr>
        <p:spPr>
          <a:xfrm>
            <a:off x="762000" y="457200"/>
            <a:ext cx="3810000" cy="279400"/>
          </a:xfrm>
          <a:prstGeom prst="rect">
            <a:avLst/>
          </a:prstGeom>
          <a:noFill/>
          <a:ln/>
        </p:spPr>
        <p:txBody>
          <a:bodyPr wrap="square" lIns="0" tIns="0" rIns="0" bIns="0" rtlCol="0" anchor="t"/>
          <a:lstStyle/>
          <a:p>
            <a:pPr marL="0" indent="0" algn="l">
              <a:buNone/>
            </a:pPr>
            <a:r>
              <a:rPr lang="en-US" sz="1600" dirty="0">
                <a:solidFill>
                  <a:srgbClr val="D32F2F"/>
                </a:solidFill>
                <a:latin typeface="Inter" pitchFamily="34" charset="0"/>
                <a:ea typeface="Inter" pitchFamily="34" charset="-122"/>
                <a:cs typeface="Inter" pitchFamily="34" charset="-120"/>
              </a:rPr>
              <a:t>URGENT</a:t>
            </a:r>
            <a:endParaRPr lang="en-US" sz="1600" dirty="0"/>
          </a:p>
        </p:txBody>
      </p:sp>
      <p:sp>
        <p:nvSpPr>
          <p:cNvPr id="3" name="red_flags-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D32F2F"/>
                </a:solidFill>
                <a:latin typeface="Lora" pitchFamily="34" charset="0"/>
                <a:ea typeface="Microsoft YaHei" pitchFamily="34" charset="-122"/>
                <a:cs typeface="Lora" pitchFamily="34" charset="-120"/>
              </a:rPr>
              <a:t>Red flags — refer urgently</a:t>
            </a:r>
            <a:endParaRPr lang="en-US" sz="3600" dirty="0"/>
          </a:p>
        </p:txBody>
      </p:sp>
      <p:sp>
        <p:nvSpPr>
          <p:cNvPr id="4" name="red_flags-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12</a:t>
            </a:r>
            <a:endParaRPr lang="en-US" sz="1400" dirty="0"/>
          </a:p>
        </p:txBody>
      </p:sp>
      <p:sp>
        <p:nvSpPr>
          <p:cNvPr id="5" name="red_flags-shape-4"/>
          <p:cNvSpPr/>
          <p:nvPr/>
        </p:nvSpPr>
        <p:spPr>
          <a:xfrm>
            <a:off x="762000" y="2159000"/>
            <a:ext cx="7112000" cy="1905000"/>
          </a:xfrm>
          <a:prstGeom prst="roundRect">
            <a:avLst>
              <a:gd name="adj" fmla="val 6667"/>
            </a:avLst>
          </a:prstGeom>
          <a:solidFill>
            <a:srgbClr val="FADCDC"/>
          </a:solidFill>
          <a:ln/>
        </p:spPr>
        <p:txBody>
          <a:bodyPr/>
          <a:lstStyle/>
          <a:p>
            <a:endParaRPr lang="en-AU"/>
          </a:p>
        </p:txBody>
      </p:sp>
      <p:sp>
        <p:nvSpPr>
          <p:cNvPr id="6" name="red_flags-shape-5"/>
          <p:cNvSpPr/>
          <p:nvPr/>
        </p:nvSpPr>
        <p:spPr>
          <a:xfrm>
            <a:off x="1066800" y="2463800"/>
            <a:ext cx="558800" cy="558800"/>
          </a:xfrm>
          <a:prstGeom prst="ellipse">
            <a:avLst/>
          </a:prstGeom>
          <a:solidFill>
            <a:srgbClr val="D32F2F"/>
          </a:solidFill>
          <a:ln/>
        </p:spPr>
        <p:txBody>
          <a:bodyPr/>
          <a:lstStyle/>
          <a:p>
            <a:endParaRPr lang="en-AU"/>
          </a:p>
        </p:txBody>
      </p:sp>
      <p:pic>
        <p:nvPicPr>
          <p:cNvPr id="7" name="red_flags-icon-6" descr="preencoded.png"/>
          <p:cNvPicPr>
            <a:picLocks noChangeAspect="1"/>
          </p:cNvPicPr>
          <p:nvPr/>
        </p:nvPicPr>
        <p:blipFill>
          <a:blip r:embed="rId3"/>
          <a:stretch>
            <a:fillRect/>
          </a:stretch>
        </p:blipFill>
        <p:spPr>
          <a:xfrm>
            <a:off x="1219200" y="2616200"/>
            <a:ext cx="254000" cy="254000"/>
          </a:xfrm>
          <a:prstGeom prst="rect">
            <a:avLst/>
          </a:prstGeom>
        </p:spPr>
      </p:pic>
      <p:sp>
        <p:nvSpPr>
          <p:cNvPr id="8" name="red_flags-text-7"/>
          <p:cNvSpPr/>
          <p:nvPr/>
        </p:nvSpPr>
        <p:spPr>
          <a:xfrm>
            <a:off x="1778000" y="2438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Jaundice</a:t>
            </a:r>
            <a:endParaRPr lang="en-US" sz="1700" dirty="0"/>
          </a:p>
        </p:txBody>
      </p:sp>
      <p:sp>
        <p:nvSpPr>
          <p:cNvPr id="9" name="red_flags-text-8"/>
          <p:cNvSpPr/>
          <p:nvPr/>
        </p:nvSpPr>
        <p:spPr>
          <a:xfrm>
            <a:off x="1778000" y="2844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New jaundice or pale stools / dark urine.</a:t>
            </a:r>
            <a:endParaRPr lang="en-US" sz="1400" dirty="0"/>
          </a:p>
        </p:txBody>
      </p:sp>
      <p:sp>
        <p:nvSpPr>
          <p:cNvPr id="10" name="red_flags-shape-9"/>
          <p:cNvSpPr/>
          <p:nvPr/>
        </p:nvSpPr>
        <p:spPr>
          <a:xfrm>
            <a:off x="8382000" y="2159000"/>
            <a:ext cx="7112000" cy="1905000"/>
          </a:xfrm>
          <a:prstGeom prst="roundRect">
            <a:avLst>
              <a:gd name="adj" fmla="val 6667"/>
            </a:avLst>
          </a:prstGeom>
          <a:solidFill>
            <a:srgbClr val="FADCDC"/>
          </a:solidFill>
          <a:ln/>
        </p:spPr>
        <p:txBody>
          <a:bodyPr/>
          <a:lstStyle/>
          <a:p>
            <a:endParaRPr lang="en-AU"/>
          </a:p>
        </p:txBody>
      </p:sp>
      <p:sp>
        <p:nvSpPr>
          <p:cNvPr id="11" name="red_flags-shape-10"/>
          <p:cNvSpPr/>
          <p:nvPr/>
        </p:nvSpPr>
        <p:spPr>
          <a:xfrm>
            <a:off x="8686800" y="2463800"/>
            <a:ext cx="558800" cy="558800"/>
          </a:xfrm>
          <a:prstGeom prst="ellipse">
            <a:avLst/>
          </a:prstGeom>
          <a:solidFill>
            <a:srgbClr val="D32F2F"/>
          </a:solidFill>
          <a:ln/>
        </p:spPr>
        <p:txBody>
          <a:bodyPr/>
          <a:lstStyle/>
          <a:p>
            <a:endParaRPr lang="en-AU"/>
          </a:p>
        </p:txBody>
      </p:sp>
      <p:pic>
        <p:nvPicPr>
          <p:cNvPr id="12" name="red_flags-icon-11" descr="preencoded.png"/>
          <p:cNvPicPr>
            <a:picLocks noChangeAspect="1"/>
          </p:cNvPicPr>
          <p:nvPr/>
        </p:nvPicPr>
        <p:blipFill>
          <a:blip r:embed="rId4"/>
          <a:stretch>
            <a:fillRect/>
          </a:stretch>
        </p:blipFill>
        <p:spPr>
          <a:xfrm>
            <a:off x="8839200" y="2616200"/>
            <a:ext cx="254000" cy="254000"/>
          </a:xfrm>
          <a:prstGeom prst="rect">
            <a:avLst/>
          </a:prstGeom>
        </p:spPr>
      </p:pic>
      <p:sp>
        <p:nvSpPr>
          <p:cNvPr id="13" name="red_flags-text-12"/>
          <p:cNvSpPr/>
          <p:nvPr/>
        </p:nvSpPr>
        <p:spPr>
          <a:xfrm>
            <a:off x="9398000" y="2438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Marked transaminitis</a:t>
            </a:r>
            <a:endParaRPr lang="en-US" sz="1700" dirty="0"/>
          </a:p>
        </p:txBody>
      </p:sp>
      <p:sp>
        <p:nvSpPr>
          <p:cNvPr id="14" name="red_flags-text-13"/>
          <p:cNvSpPr/>
          <p:nvPr/>
        </p:nvSpPr>
        <p:spPr>
          <a:xfrm>
            <a:off x="9398000" y="2844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ALT/AST &gt;10–15× ULN — think acute injury.</a:t>
            </a:r>
            <a:endParaRPr lang="en-US" sz="1400" dirty="0"/>
          </a:p>
        </p:txBody>
      </p:sp>
      <p:sp>
        <p:nvSpPr>
          <p:cNvPr id="15" name="red_flags-shape-14"/>
          <p:cNvSpPr/>
          <p:nvPr/>
        </p:nvSpPr>
        <p:spPr>
          <a:xfrm>
            <a:off x="762000" y="4318000"/>
            <a:ext cx="7112000" cy="1905000"/>
          </a:xfrm>
          <a:prstGeom prst="roundRect">
            <a:avLst>
              <a:gd name="adj" fmla="val 6667"/>
            </a:avLst>
          </a:prstGeom>
          <a:solidFill>
            <a:srgbClr val="FADCDC"/>
          </a:solidFill>
          <a:ln/>
        </p:spPr>
        <p:txBody>
          <a:bodyPr/>
          <a:lstStyle/>
          <a:p>
            <a:endParaRPr lang="en-AU"/>
          </a:p>
        </p:txBody>
      </p:sp>
      <p:sp>
        <p:nvSpPr>
          <p:cNvPr id="16" name="red_flags-shape-15"/>
          <p:cNvSpPr/>
          <p:nvPr/>
        </p:nvSpPr>
        <p:spPr>
          <a:xfrm>
            <a:off x="1066800" y="4622800"/>
            <a:ext cx="558800" cy="558800"/>
          </a:xfrm>
          <a:prstGeom prst="ellipse">
            <a:avLst/>
          </a:prstGeom>
          <a:solidFill>
            <a:srgbClr val="D32F2F"/>
          </a:solidFill>
          <a:ln/>
        </p:spPr>
        <p:txBody>
          <a:bodyPr/>
          <a:lstStyle/>
          <a:p>
            <a:endParaRPr lang="en-AU"/>
          </a:p>
        </p:txBody>
      </p:sp>
      <p:pic>
        <p:nvPicPr>
          <p:cNvPr id="17" name="red_flags-icon-16" descr="preencoded.png"/>
          <p:cNvPicPr>
            <a:picLocks noChangeAspect="1"/>
          </p:cNvPicPr>
          <p:nvPr/>
        </p:nvPicPr>
        <p:blipFill>
          <a:blip r:embed="rId5"/>
          <a:stretch>
            <a:fillRect/>
          </a:stretch>
        </p:blipFill>
        <p:spPr>
          <a:xfrm>
            <a:off x="1219200" y="4775200"/>
            <a:ext cx="254000" cy="254000"/>
          </a:xfrm>
          <a:prstGeom prst="rect">
            <a:avLst/>
          </a:prstGeom>
        </p:spPr>
      </p:pic>
      <p:sp>
        <p:nvSpPr>
          <p:cNvPr id="18" name="red_flags-text-17"/>
          <p:cNvSpPr/>
          <p:nvPr/>
        </p:nvSpPr>
        <p:spPr>
          <a:xfrm>
            <a:off x="1778000" y="4597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Synthetic dysfunction</a:t>
            </a:r>
            <a:endParaRPr lang="en-US" sz="1700" dirty="0"/>
          </a:p>
        </p:txBody>
      </p:sp>
      <p:sp>
        <p:nvSpPr>
          <p:cNvPr id="19" name="red_flags-text-18"/>
          <p:cNvSpPr/>
          <p:nvPr/>
        </p:nvSpPr>
        <p:spPr>
          <a:xfrm>
            <a:off x="1778000" y="5003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Rising INR, falling albumin, low platelets.</a:t>
            </a:r>
            <a:endParaRPr lang="en-US" sz="1400" dirty="0"/>
          </a:p>
        </p:txBody>
      </p:sp>
      <p:sp>
        <p:nvSpPr>
          <p:cNvPr id="20" name="red_flags-shape-19"/>
          <p:cNvSpPr/>
          <p:nvPr/>
        </p:nvSpPr>
        <p:spPr>
          <a:xfrm>
            <a:off x="8382000" y="4318000"/>
            <a:ext cx="7112000" cy="1905000"/>
          </a:xfrm>
          <a:prstGeom prst="roundRect">
            <a:avLst>
              <a:gd name="adj" fmla="val 6667"/>
            </a:avLst>
          </a:prstGeom>
          <a:solidFill>
            <a:srgbClr val="FADCDC"/>
          </a:solidFill>
          <a:ln/>
        </p:spPr>
        <p:txBody>
          <a:bodyPr/>
          <a:lstStyle/>
          <a:p>
            <a:endParaRPr lang="en-AU"/>
          </a:p>
        </p:txBody>
      </p:sp>
      <p:sp>
        <p:nvSpPr>
          <p:cNvPr id="21" name="red_flags-shape-20"/>
          <p:cNvSpPr/>
          <p:nvPr/>
        </p:nvSpPr>
        <p:spPr>
          <a:xfrm>
            <a:off x="8686800" y="4622800"/>
            <a:ext cx="558800" cy="558800"/>
          </a:xfrm>
          <a:prstGeom prst="ellipse">
            <a:avLst/>
          </a:prstGeom>
          <a:solidFill>
            <a:srgbClr val="D32F2F"/>
          </a:solidFill>
          <a:ln/>
        </p:spPr>
        <p:txBody>
          <a:bodyPr/>
          <a:lstStyle/>
          <a:p>
            <a:endParaRPr lang="en-AU"/>
          </a:p>
        </p:txBody>
      </p:sp>
      <p:pic>
        <p:nvPicPr>
          <p:cNvPr id="22" name="red_flags-icon-21" descr="preencoded.png"/>
          <p:cNvPicPr>
            <a:picLocks noChangeAspect="1"/>
          </p:cNvPicPr>
          <p:nvPr/>
        </p:nvPicPr>
        <p:blipFill>
          <a:blip r:embed="rId6"/>
          <a:stretch>
            <a:fillRect/>
          </a:stretch>
        </p:blipFill>
        <p:spPr>
          <a:xfrm>
            <a:off x="8839200" y="4775200"/>
            <a:ext cx="254000" cy="254000"/>
          </a:xfrm>
          <a:prstGeom prst="rect">
            <a:avLst/>
          </a:prstGeom>
        </p:spPr>
      </p:pic>
      <p:sp>
        <p:nvSpPr>
          <p:cNvPr id="23" name="red_flags-text-22"/>
          <p:cNvSpPr/>
          <p:nvPr/>
        </p:nvSpPr>
        <p:spPr>
          <a:xfrm>
            <a:off x="9398000" y="4597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Signs of decompensation</a:t>
            </a:r>
            <a:endParaRPr lang="en-US" sz="1700" dirty="0"/>
          </a:p>
        </p:txBody>
      </p:sp>
      <p:sp>
        <p:nvSpPr>
          <p:cNvPr id="24" name="red_flags-text-23"/>
          <p:cNvSpPr/>
          <p:nvPr/>
        </p:nvSpPr>
        <p:spPr>
          <a:xfrm>
            <a:off x="9398000" y="5003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Ascites, encephalopathy, variceal bleeding.</a:t>
            </a:r>
            <a:endParaRPr lang="en-US" sz="1400" dirty="0"/>
          </a:p>
        </p:txBody>
      </p:sp>
      <p:sp>
        <p:nvSpPr>
          <p:cNvPr id="25" name="red_flags-shape-24"/>
          <p:cNvSpPr/>
          <p:nvPr/>
        </p:nvSpPr>
        <p:spPr>
          <a:xfrm>
            <a:off x="762000" y="6477000"/>
            <a:ext cx="7112000" cy="1905000"/>
          </a:xfrm>
          <a:prstGeom prst="roundRect">
            <a:avLst>
              <a:gd name="adj" fmla="val 6667"/>
            </a:avLst>
          </a:prstGeom>
          <a:solidFill>
            <a:srgbClr val="FADCDC"/>
          </a:solidFill>
          <a:ln/>
        </p:spPr>
        <p:txBody>
          <a:bodyPr/>
          <a:lstStyle/>
          <a:p>
            <a:endParaRPr lang="en-AU"/>
          </a:p>
        </p:txBody>
      </p:sp>
      <p:sp>
        <p:nvSpPr>
          <p:cNvPr id="26" name="red_flags-shape-25"/>
          <p:cNvSpPr/>
          <p:nvPr/>
        </p:nvSpPr>
        <p:spPr>
          <a:xfrm>
            <a:off x="1066800" y="6781800"/>
            <a:ext cx="558800" cy="558800"/>
          </a:xfrm>
          <a:prstGeom prst="ellipse">
            <a:avLst/>
          </a:prstGeom>
          <a:solidFill>
            <a:srgbClr val="D32F2F"/>
          </a:solidFill>
          <a:ln/>
        </p:spPr>
        <p:txBody>
          <a:bodyPr/>
          <a:lstStyle/>
          <a:p>
            <a:endParaRPr lang="en-AU"/>
          </a:p>
        </p:txBody>
      </p:sp>
      <p:pic>
        <p:nvPicPr>
          <p:cNvPr id="27" name="red_flags-icon-26" descr="preencoded.png"/>
          <p:cNvPicPr>
            <a:picLocks noChangeAspect="1"/>
          </p:cNvPicPr>
          <p:nvPr/>
        </p:nvPicPr>
        <p:blipFill>
          <a:blip r:embed="rId7"/>
          <a:stretch>
            <a:fillRect/>
          </a:stretch>
        </p:blipFill>
        <p:spPr>
          <a:xfrm>
            <a:off x="1219200" y="6934200"/>
            <a:ext cx="254000" cy="254000"/>
          </a:xfrm>
          <a:prstGeom prst="rect">
            <a:avLst/>
          </a:prstGeom>
        </p:spPr>
      </p:pic>
      <p:sp>
        <p:nvSpPr>
          <p:cNvPr id="28" name="red_flags-text-27"/>
          <p:cNvSpPr/>
          <p:nvPr/>
        </p:nvSpPr>
        <p:spPr>
          <a:xfrm>
            <a:off x="1778000" y="6756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Suspected obstruction / mass</a:t>
            </a:r>
            <a:endParaRPr lang="en-US" sz="1700" dirty="0"/>
          </a:p>
        </p:txBody>
      </p:sp>
      <p:sp>
        <p:nvSpPr>
          <p:cNvPr id="29" name="red_flags-text-28"/>
          <p:cNvSpPr/>
          <p:nvPr/>
        </p:nvSpPr>
        <p:spPr>
          <a:xfrm>
            <a:off x="1778000" y="7162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Cholestasis with pain, weight loss, dilated ducts.</a:t>
            </a:r>
            <a:endParaRPr lang="en-US" sz="1400" dirty="0"/>
          </a:p>
        </p:txBody>
      </p:sp>
      <p:sp>
        <p:nvSpPr>
          <p:cNvPr id="30" name="red_flags-shape-29"/>
          <p:cNvSpPr/>
          <p:nvPr/>
        </p:nvSpPr>
        <p:spPr>
          <a:xfrm>
            <a:off x="8382000" y="6477000"/>
            <a:ext cx="7112000" cy="1905000"/>
          </a:xfrm>
          <a:prstGeom prst="roundRect">
            <a:avLst>
              <a:gd name="adj" fmla="val 6667"/>
            </a:avLst>
          </a:prstGeom>
          <a:solidFill>
            <a:srgbClr val="FADCDC"/>
          </a:solidFill>
          <a:ln/>
        </p:spPr>
        <p:txBody>
          <a:bodyPr/>
          <a:lstStyle/>
          <a:p>
            <a:endParaRPr lang="en-AU"/>
          </a:p>
        </p:txBody>
      </p:sp>
      <p:sp>
        <p:nvSpPr>
          <p:cNvPr id="31" name="red_flags-shape-30"/>
          <p:cNvSpPr/>
          <p:nvPr/>
        </p:nvSpPr>
        <p:spPr>
          <a:xfrm>
            <a:off x="8686800" y="6781800"/>
            <a:ext cx="558800" cy="558800"/>
          </a:xfrm>
          <a:prstGeom prst="ellipse">
            <a:avLst/>
          </a:prstGeom>
          <a:solidFill>
            <a:srgbClr val="D32F2F"/>
          </a:solidFill>
          <a:ln/>
        </p:spPr>
        <p:txBody>
          <a:bodyPr/>
          <a:lstStyle/>
          <a:p>
            <a:endParaRPr lang="en-AU"/>
          </a:p>
        </p:txBody>
      </p:sp>
      <p:pic>
        <p:nvPicPr>
          <p:cNvPr id="32" name="red_flags-icon-31" descr="preencoded.png"/>
          <p:cNvPicPr>
            <a:picLocks noChangeAspect="1"/>
          </p:cNvPicPr>
          <p:nvPr/>
        </p:nvPicPr>
        <p:blipFill>
          <a:blip r:embed="rId4"/>
          <a:stretch>
            <a:fillRect/>
          </a:stretch>
        </p:blipFill>
        <p:spPr>
          <a:xfrm>
            <a:off x="8839200" y="6934200"/>
            <a:ext cx="254000" cy="254000"/>
          </a:xfrm>
          <a:prstGeom prst="rect">
            <a:avLst/>
          </a:prstGeom>
        </p:spPr>
      </p:pic>
      <p:sp>
        <p:nvSpPr>
          <p:cNvPr id="33" name="red_flags-text-32"/>
          <p:cNvSpPr/>
          <p:nvPr/>
        </p:nvSpPr>
        <p:spPr>
          <a:xfrm>
            <a:off x="9398000" y="6756400"/>
            <a:ext cx="5842000" cy="355600"/>
          </a:xfrm>
          <a:prstGeom prst="rect">
            <a:avLst/>
          </a:prstGeom>
          <a:noFill/>
          <a:ln/>
        </p:spPr>
        <p:txBody>
          <a:bodyPr wrap="square" lIns="0" tIns="0" rIns="0" bIns="0" rtlCol="0" anchor="t"/>
          <a:lstStyle/>
          <a:p>
            <a:pPr marL="0" indent="0" algn="l">
              <a:buNone/>
            </a:pPr>
            <a:r>
              <a:rPr lang="en-US" sz="1700" b="1" dirty="0">
                <a:solidFill>
                  <a:srgbClr val="D32F2F"/>
                </a:solidFill>
                <a:latin typeface="Inter" pitchFamily="34" charset="0"/>
                <a:ea typeface="Inter" pitchFamily="34" charset="-122"/>
                <a:cs typeface="Inter" pitchFamily="34" charset="-120"/>
              </a:rPr>
              <a:t>Acute liver failure</a:t>
            </a:r>
            <a:endParaRPr lang="en-US" sz="1700" dirty="0"/>
          </a:p>
        </p:txBody>
      </p:sp>
      <p:sp>
        <p:nvSpPr>
          <p:cNvPr id="34" name="red_flags-text-33"/>
          <p:cNvSpPr/>
          <p:nvPr/>
        </p:nvSpPr>
        <p:spPr>
          <a:xfrm>
            <a:off x="9398000" y="7162800"/>
            <a:ext cx="5842000" cy="889000"/>
          </a:xfrm>
          <a:prstGeom prst="rect">
            <a:avLst/>
          </a:prstGeom>
          <a:noFill/>
          <a:ln/>
        </p:spPr>
        <p:txBody>
          <a:bodyPr wrap="square" lIns="0" tIns="0" rIns="0" bIns="0" rtlCol="0" anchor="t"/>
          <a:lstStyle/>
          <a:p>
            <a:pPr marL="0" indent="0" algn="l">
              <a:buNone/>
            </a:pPr>
            <a:r>
              <a:rPr lang="en-US" sz="1400" dirty="0">
                <a:solidFill>
                  <a:srgbClr val="1A2527"/>
                </a:solidFill>
                <a:latin typeface="Inter" pitchFamily="34" charset="0"/>
                <a:ea typeface="Inter" pitchFamily="34" charset="-122"/>
                <a:cs typeface="Inter" pitchFamily="34" charset="-120"/>
              </a:rPr>
              <a:t>Coagulopathy + encephalopathy = emergency.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liver_screen-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STEP 4 — INVESTIGATE SMART</a:t>
            </a:r>
            <a:endParaRPr lang="en-US" sz="1600" dirty="0"/>
          </a:p>
        </p:txBody>
      </p:sp>
      <p:sp>
        <p:nvSpPr>
          <p:cNvPr id="3" name="liver_screen-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The targeted liver screen</a:t>
            </a:r>
            <a:endParaRPr lang="en-US" sz="3600" dirty="0"/>
          </a:p>
        </p:txBody>
      </p:sp>
      <p:sp>
        <p:nvSpPr>
          <p:cNvPr id="4" name="liver_screen-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13</a:t>
            </a:r>
            <a:endParaRPr lang="en-US" sz="1400" dirty="0"/>
          </a:p>
        </p:txBody>
      </p:sp>
      <p:sp>
        <p:nvSpPr>
          <p:cNvPr id="5" name="liver_screen-text-4"/>
          <p:cNvSpPr/>
          <p:nvPr/>
        </p:nvSpPr>
        <p:spPr>
          <a:xfrm>
            <a:off x="762000" y="1524000"/>
            <a:ext cx="14732000" cy="431800"/>
          </a:xfrm>
          <a:prstGeom prst="rect">
            <a:avLst/>
          </a:prstGeom>
          <a:noFill/>
          <a:ln/>
        </p:spPr>
        <p:txBody>
          <a:bodyPr wrap="square" lIns="0" tIns="0" rIns="0" bIns="0" rtlCol="0" anchor="t"/>
          <a:lstStyle/>
          <a:p>
            <a:pPr marL="0" indent="0" algn="l">
              <a:buNone/>
            </a:pPr>
            <a:r>
              <a:rPr lang="en-US" sz="1600" dirty="0">
                <a:solidFill>
                  <a:srgbClr val="5C6B6D"/>
                </a:solidFill>
                <a:latin typeface="Inter" pitchFamily="34" charset="0"/>
                <a:ea typeface="Inter" pitchFamily="34" charset="-122"/>
                <a:cs typeface="Inter" pitchFamily="34" charset="-120"/>
              </a:rPr>
              <a:t>When LFTs are persistently abnormal (and there are no red flags), send a focused first-line panel rather than scattering tests.</a:t>
            </a:r>
            <a:endParaRPr lang="en-US" sz="1600" dirty="0"/>
          </a:p>
        </p:txBody>
      </p:sp>
      <p:sp>
        <p:nvSpPr>
          <p:cNvPr id="6" name="liver_screen-shape-5"/>
          <p:cNvSpPr/>
          <p:nvPr/>
        </p:nvSpPr>
        <p:spPr>
          <a:xfrm>
            <a:off x="762000" y="2413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7" name="liver_screen-shape-6"/>
          <p:cNvSpPr/>
          <p:nvPr/>
        </p:nvSpPr>
        <p:spPr>
          <a:xfrm>
            <a:off x="1066800" y="2717800"/>
            <a:ext cx="508000" cy="508000"/>
          </a:xfrm>
          <a:prstGeom prst="ellipse">
            <a:avLst/>
          </a:prstGeom>
          <a:solidFill>
            <a:srgbClr val="0F4C5C"/>
          </a:solidFill>
          <a:ln/>
        </p:spPr>
        <p:txBody>
          <a:bodyPr/>
          <a:lstStyle/>
          <a:p>
            <a:endParaRPr lang="en-AU"/>
          </a:p>
        </p:txBody>
      </p:sp>
      <p:pic>
        <p:nvPicPr>
          <p:cNvPr id="8" name="liver_screen-icon-7" descr="preencoded.png"/>
          <p:cNvPicPr>
            <a:picLocks noChangeAspect="1"/>
          </p:cNvPicPr>
          <p:nvPr/>
        </p:nvPicPr>
        <p:blipFill>
          <a:blip r:embed="rId3"/>
          <a:stretch>
            <a:fillRect/>
          </a:stretch>
        </p:blipFill>
        <p:spPr>
          <a:xfrm>
            <a:off x="1193800" y="2844800"/>
            <a:ext cx="254000" cy="254000"/>
          </a:xfrm>
          <a:prstGeom prst="rect">
            <a:avLst/>
          </a:prstGeom>
        </p:spPr>
      </p:pic>
      <p:sp>
        <p:nvSpPr>
          <p:cNvPr id="9" name="liver_screen-text-8"/>
          <p:cNvSpPr/>
          <p:nvPr/>
        </p:nvSpPr>
        <p:spPr>
          <a:xfrm>
            <a:off x="1727200" y="2692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Viral</a:t>
            </a:r>
            <a:endParaRPr lang="en-US" sz="1600" dirty="0"/>
          </a:p>
        </p:txBody>
      </p:sp>
      <p:sp>
        <p:nvSpPr>
          <p:cNvPr id="10" name="liver_screen-text-9"/>
          <p:cNvSpPr/>
          <p:nvPr/>
        </p:nvSpPr>
        <p:spPr>
          <a:xfrm>
            <a:off x="1727200" y="3073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Hep B surface antigen + core Ab, Hep C antibody</a:t>
            </a:r>
            <a:endParaRPr lang="en-US" sz="1400" dirty="0"/>
          </a:p>
        </p:txBody>
      </p:sp>
      <p:sp>
        <p:nvSpPr>
          <p:cNvPr id="11" name="liver_screen-shape-10"/>
          <p:cNvSpPr/>
          <p:nvPr/>
        </p:nvSpPr>
        <p:spPr>
          <a:xfrm>
            <a:off x="5588000" y="2413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2" name="liver_screen-shape-11"/>
          <p:cNvSpPr/>
          <p:nvPr/>
        </p:nvSpPr>
        <p:spPr>
          <a:xfrm>
            <a:off x="5892800" y="2717800"/>
            <a:ext cx="508000" cy="508000"/>
          </a:xfrm>
          <a:prstGeom prst="ellipse">
            <a:avLst/>
          </a:prstGeom>
          <a:solidFill>
            <a:srgbClr val="0F4C5C"/>
          </a:solidFill>
          <a:ln/>
        </p:spPr>
        <p:txBody>
          <a:bodyPr/>
          <a:lstStyle/>
          <a:p>
            <a:endParaRPr lang="en-AU"/>
          </a:p>
        </p:txBody>
      </p:sp>
      <p:pic>
        <p:nvPicPr>
          <p:cNvPr id="13" name="liver_screen-icon-12" descr="preencoded.png"/>
          <p:cNvPicPr>
            <a:picLocks noChangeAspect="1"/>
          </p:cNvPicPr>
          <p:nvPr/>
        </p:nvPicPr>
        <p:blipFill>
          <a:blip r:embed="rId4"/>
          <a:stretch>
            <a:fillRect/>
          </a:stretch>
        </p:blipFill>
        <p:spPr>
          <a:xfrm>
            <a:off x="6019800" y="2844800"/>
            <a:ext cx="254000" cy="254000"/>
          </a:xfrm>
          <a:prstGeom prst="rect">
            <a:avLst/>
          </a:prstGeom>
        </p:spPr>
      </p:pic>
      <p:sp>
        <p:nvSpPr>
          <p:cNvPr id="14" name="liver_screen-text-13"/>
          <p:cNvSpPr/>
          <p:nvPr/>
        </p:nvSpPr>
        <p:spPr>
          <a:xfrm>
            <a:off x="6553200" y="2692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Iron studies</a:t>
            </a:r>
            <a:endParaRPr lang="en-US" sz="1600" dirty="0"/>
          </a:p>
        </p:txBody>
      </p:sp>
      <p:sp>
        <p:nvSpPr>
          <p:cNvPr id="15" name="liver_screen-text-14"/>
          <p:cNvSpPr/>
          <p:nvPr/>
        </p:nvSpPr>
        <p:spPr>
          <a:xfrm>
            <a:off x="6553200" y="3073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Ferritin + transferrin saturation</a:t>
            </a:r>
            <a:endParaRPr lang="en-US" sz="1400" dirty="0"/>
          </a:p>
        </p:txBody>
      </p:sp>
      <p:sp>
        <p:nvSpPr>
          <p:cNvPr id="16" name="liver_screen-shape-15"/>
          <p:cNvSpPr/>
          <p:nvPr/>
        </p:nvSpPr>
        <p:spPr>
          <a:xfrm>
            <a:off x="10414000" y="2413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7" name="liver_screen-shape-16"/>
          <p:cNvSpPr/>
          <p:nvPr/>
        </p:nvSpPr>
        <p:spPr>
          <a:xfrm>
            <a:off x="10718800" y="2717800"/>
            <a:ext cx="508000" cy="508000"/>
          </a:xfrm>
          <a:prstGeom prst="ellipse">
            <a:avLst/>
          </a:prstGeom>
          <a:solidFill>
            <a:srgbClr val="0F4C5C"/>
          </a:solidFill>
          <a:ln/>
        </p:spPr>
        <p:txBody>
          <a:bodyPr/>
          <a:lstStyle/>
          <a:p>
            <a:endParaRPr lang="en-AU"/>
          </a:p>
        </p:txBody>
      </p:sp>
      <p:pic>
        <p:nvPicPr>
          <p:cNvPr id="18" name="liver_screen-icon-17" descr="preencoded.png"/>
          <p:cNvPicPr>
            <a:picLocks noChangeAspect="1"/>
          </p:cNvPicPr>
          <p:nvPr/>
        </p:nvPicPr>
        <p:blipFill>
          <a:blip r:embed="rId5"/>
          <a:stretch>
            <a:fillRect/>
          </a:stretch>
        </p:blipFill>
        <p:spPr>
          <a:xfrm>
            <a:off x="10845800" y="2844800"/>
            <a:ext cx="254000" cy="254000"/>
          </a:xfrm>
          <a:prstGeom prst="rect">
            <a:avLst/>
          </a:prstGeom>
        </p:spPr>
      </p:pic>
      <p:sp>
        <p:nvSpPr>
          <p:cNvPr id="19" name="liver_screen-text-18"/>
          <p:cNvSpPr/>
          <p:nvPr/>
        </p:nvSpPr>
        <p:spPr>
          <a:xfrm>
            <a:off x="11379200" y="2692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Autoimmune</a:t>
            </a:r>
            <a:endParaRPr lang="en-US" sz="1600" dirty="0"/>
          </a:p>
        </p:txBody>
      </p:sp>
      <p:sp>
        <p:nvSpPr>
          <p:cNvPr id="20" name="liver_screen-text-19"/>
          <p:cNvSpPr/>
          <p:nvPr/>
        </p:nvSpPr>
        <p:spPr>
          <a:xfrm>
            <a:off x="11379200" y="3073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Immunoglobulins, ANA, ASMA (± AMA if cholestatic)</a:t>
            </a:r>
            <a:endParaRPr lang="en-US" sz="1400" dirty="0"/>
          </a:p>
        </p:txBody>
      </p:sp>
      <p:sp>
        <p:nvSpPr>
          <p:cNvPr id="21" name="liver_screen-shape-20"/>
          <p:cNvSpPr/>
          <p:nvPr/>
        </p:nvSpPr>
        <p:spPr>
          <a:xfrm>
            <a:off x="762000" y="4572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2" name="liver_screen-shape-21"/>
          <p:cNvSpPr/>
          <p:nvPr/>
        </p:nvSpPr>
        <p:spPr>
          <a:xfrm>
            <a:off x="1066800" y="4876800"/>
            <a:ext cx="508000" cy="508000"/>
          </a:xfrm>
          <a:prstGeom prst="ellipse">
            <a:avLst/>
          </a:prstGeom>
          <a:solidFill>
            <a:srgbClr val="0F4C5C"/>
          </a:solidFill>
          <a:ln/>
        </p:spPr>
        <p:txBody>
          <a:bodyPr/>
          <a:lstStyle/>
          <a:p>
            <a:endParaRPr lang="en-AU"/>
          </a:p>
        </p:txBody>
      </p:sp>
      <p:pic>
        <p:nvPicPr>
          <p:cNvPr id="23" name="liver_screen-icon-22" descr="preencoded.png"/>
          <p:cNvPicPr>
            <a:picLocks noChangeAspect="1"/>
          </p:cNvPicPr>
          <p:nvPr/>
        </p:nvPicPr>
        <p:blipFill>
          <a:blip r:embed="rId6"/>
          <a:stretch>
            <a:fillRect/>
          </a:stretch>
        </p:blipFill>
        <p:spPr>
          <a:xfrm>
            <a:off x="1193800" y="5003800"/>
            <a:ext cx="254000" cy="254000"/>
          </a:xfrm>
          <a:prstGeom prst="rect">
            <a:avLst/>
          </a:prstGeom>
        </p:spPr>
      </p:pic>
      <p:sp>
        <p:nvSpPr>
          <p:cNvPr id="24" name="liver_screen-text-23"/>
          <p:cNvSpPr/>
          <p:nvPr/>
        </p:nvSpPr>
        <p:spPr>
          <a:xfrm>
            <a:off x="1727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Metabolic</a:t>
            </a:r>
            <a:endParaRPr lang="en-US" sz="1600" dirty="0"/>
          </a:p>
        </p:txBody>
      </p:sp>
      <p:sp>
        <p:nvSpPr>
          <p:cNvPr id="25" name="liver_screen-text-24"/>
          <p:cNvSpPr/>
          <p:nvPr/>
        </p:nvSpPr>
        <p:spPr>
          <a:xfrm>
            <a:off x="1727200" y="5232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Lipids, HbA1c, fasting glucose</a:t>
            </a:r>
            <a:endParaRPr lang="en-US" sz="1400" dirty="0"/>
          </a:p>
        </p:txBody>
      </p:sp>
      <p:sp>
        <p:nvSpPr>
          <p:cNvPr id="26" name="liver_screen-shape-25"/>
          <p:cNvSpPr/>
          <p:nvPr/>
        </p:nvSpPr>
        <p:spPr>
          <a:xfrm>
            <a:off x="5588000" y="4572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7" name="liver_screen-shape-26"/>
          <p:cNvSpPr/>
          <p:nvPr/>
        </p:nvSpPr>
        <p:spPr>
          <a:xfrm>
            <a:off x="5892800" y="4876800"/>
            <a:ext cx="508000" cy="508000"/>
          </a:xfrm>
          <a:prstGeom prst="ellipse">
            <a:avLst/>
          </a:prstGeom>
          <a:solidFill>
            <a:srgbClr val="0F4C5C"/>
          </a:solidFill>
          <a:ln/>
        </p:spPr>
        <p:txBody>
          <a:bodyPr/>
          <a:lstStyle/>
          <a:p>
            <a:endParaRPr lang="en-AU"/>
          </a:p>
        </p:txBody>
      </p:sp>
      <p:pic>
        <p:nvPicPr>
          <p:cNvPr id="28" name="liver_screen-icon-27" descr="preencoded.png"/>
          <p:cNvPicPr>
            <a:picLocks noChangeAspect="1"/>
          </p:cNvPicPr>
          <p:nvPr/>
        </p:nvPicPr>
        <p:blipFill>
          <a:blip r:embed="rId7"/>
          <a:stretch>
            <a:fillRect/>
          </a:stretch>
        </p:blipFill>
        <p:spPr>
          <a:xfrm>
            <a:off x="6019800" y="5003800"/>
            <a:ext cx="254000" cy="254000"/>
          </a:xfrm>
          <a:prstGeom prst="rect">
            <a:avLst/>
          </a:prstGeom>
        </p:spPr>
      </p:pic>
      <p:sp>
        <p:nvSpPr>
          <p:cNvPr id="29" name="liver_screen-text-28"/>
          <p:cNvSpPr/>
          <p:nvPr/>
        </p:nvSpPr>
        <p:spPr>
          <a:xfrm>
            <a:off x="6553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Imaging</a:t>
            </a:r>
            <a:endParaRPr lang="en-US" sz="1600" dirty="0"/>
          </a:p>
        </p:txBody>
      </p:sp>
      <p:sp>
        <p:nvSpPr>
          <p:cNvPr id="30" name="liver_screen-text-29"/>
          <p:cNvSpPr/>
          <p:nvPr/>
        </p:nvSpPr>
        <p:spPr>
          <a:xfrm>
            <a:off x="6553200" y="5232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Liver ultrasound (steatosis, focal lesions, ducts)</a:t>
            </a:r>
            <a:endParaRPr lang="en-US" sz="1400" dirty="0"/>
          </a:p>
        </p:txBody>
      </p:sp>
      <p:sp>
        <p:nvSpPr>
          <p:cNvPr id="31" name="liver_screen-shape-30"/>
          <p:cNvSpPr/>
          <p:nvPr/>
        </p:nvSpPr>
        <p:spPr>
          <a:xfrm>
            <a:off x="10414000" y="4572000"/>
            <a:ext cx="4572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32" name="liver_screen-shape-31"/>
          <p:cNvSpPr/>
          <p:nvPr/>
        </p:nvSpPr>
        <p:spPr>
          <a:xfrm>
            <a:off x="10718800" y="4876800"/>
            <a:ext cx="508000" cy="508000"/>
          </a:xfrm>
          <a:prstGeom prst="ellipse">
            <a:avLst/>
          </a:prstGeom>
          <a:solidFill>
            <a:srgbClr val="0F4C5C"/>
          </a:solidFill>
          <a:ln/>
        </p:spPr>
        <p:txBody>
          <a:bodyPr/>
          <a:lstStyle/>
          <a:p>
            <a:endParaRPr lang="en-AU"/>
          </a:p>
        </p:txBody>
      </p:sp>
      <p:pic>
        <p:nvPicPr>
          <p:cNvPr id="33" name="liver_screen-icon-32" descr="preencoded.png"/>
          <p:cNvPicPr>
            <a:picLocks noChangeAspect="1"/>
          </p:cNvPicPr>
          <p:nvPr/>
        </p:nvPicPr>
        <p:blipFill>
          <a:blip r:embed="rId8"/>
          <a:stretch>
            <a:fillRect/>
          </a:stretch>
        </p:blipFill>
        <p:spPr>
          <a:xfrm>
            <a:off x="10845800" y="5003800"/>
            <a:ext cx="254000" cy="254000"/>
          </a:xfrm>
          <a:prstGeom prst="rect">
            <a:avLst/>
          </a:prstGeom>
        </p:spPr>
      </p:pic>
      <p:sp>
        <p:nvSpPr>
          <p:cNvPr id="34" name="liver_screen-text-33"/>
          <p:cNvSpPr/>
          <p:nvPr/>
        </p:nvSpPr>
        <p:spPr>
          <a:xfrm>
            <a:off x="11379200" y="4851400"/>
            <a:ext cx="3429000" cy="330200"/>
          </a:xfrm>
          <a:prstGeom prst="rect">
            <a:avLst/>
          </a:prstGeom>
          <a:noFill/>
          <a:ln/>
        </p:spPr>
        <p:txBody>
          <a:bodyPr wrap="square" lIns="0" tIns="0" rIns="0" bIns="0" rtlCol="0" anchor="t"/>
          <a:lstStyle/>
          <a:p>
            <a:pPr marL="0" indent="0" algn="l">
              <a:buNone/>
            </a:pPr>
            <a:r>
              <a:rPr lang="en-US" sz="1600" b="1" dirty="0">
                <a:solidFill>
                  <a:srgbClr val="0F4C5C"/>
                </a:solidFill>
                <a:latin typeface="Inter" pitchFamily="34" charset="0"/>
                <a:ea typeface="Inter" pitchFamily="34" charset="-122"/>
                <a:cs typeface="Inter" pitchFamily="34" charset="-120"/>
              </a:rPr>
              <a:t>Stratify</a:t>
            </a:r>
            <a:endParaRPr lang="en-US" sz="1600" dirty="0"/>
          </a:p>
        </p:txBody>
      </p:sp>
      <p:sp>
        <p:nvSpPr>
          <p:cNvPr id="35" name="liver_screen-text-34"/>
          <p:cNvSpPr/>
          <p:nvPr/>
        </p:nvSpPr>
        <p:spPr>
          <a:xfrm>
            <a:off x="11379200" y="5232400"/>
            <a:ext cx="3429000" cy="1016000"/>
          </a:xfrm>
          <a:prstGeom prst="rect">
            <a:avLst/>
          </a:prstGeom>
          <a:noFill/>
          <a:ln/>
        </p:spPr>
        <p:txBody>
          <a:bodyPr wrap="square" lIns="0" tIns="0" rIns="0" bIns="0" rtlCol="0" anchor="t"/>
          <a:lstStyle/>
          <a:p>
            <a:pPr marL="0" indent="0" algn="l">
              <a:lnSpc>
                <a:spcPts val="1960"/>
              </a:lnSpc>
              <a:buNone/>
            </a:pPr>
            <a:r>
              <a:rPr lang="en-US" sz="1400" dirty="0">
                <a:solidFill>
                  <a:srgbClr val="5C6B6D"/>
                </a:solidFill>
                <a:latin typeface="Inter" pitchFamily="34" charset="0"/>
                <a:ea typeface="Inter" pitchFamily="34" charset="-122"/>
                <a:cs typeface="Inter" pitchFamily="34" charset="-120"/>
              </a:rPr>
              <a:t>Calculate FIB-4 from existing results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what_not-text-1"/>
          <p:cNvSpPr/>
          <p:nvPr/>
        </p:nvSpPr>
        <p:spPr>
          <a:xfrm>
            <a:off x="762000" y="457200"/>
            <a:ext cx="762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JUST AS IMPORTANT</a:t>
            </a:r>
            <a:endParaRPr lang="en-US" sz="1600" dirty="0"/>
          </a:p>
        </p:txBody>
      </p:sp>
      <p:sp>
        <p:nvSpPr>
          <p:cNvPr id="3" name="what_not-text-2"/>
          <p:cNvSpPr/>
          <p:nvPr/>
        </p:nvSpPr>
        <p:spPr>
          <a:xfrm>
            <a:off x="762000" y="762000"/>
            <a:ext cx="1143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What NOT to do</a:t>
            </a:r>
            <a:endParaRPr lang="en-US" sz="3600" dirty="0"/>
          </a:p>
        </p:txBody>
      </p:sp>
      <p:sp>
        <p:nvSpPr>
          <p:cNvPr id="4" name="what_not-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14</a:t>
            </a:r>
            <a:endParaRPr lang="en-US" sz="1400" dirty="0"/>
          </a:p>
        </p:txBody>
      </p:sp>
      <p:sp>
        <p:nvSpPr>
          <p:cNvPr id="5" name="what_not-shape-4"/>
          <p:cNvSpPr/>
          <p:nvPr/>
        </p:nvSpPr>
        <p:spPr>
          <a:xfrm>
            <a:off x="762000" y="1905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what_not-shape-5"/>
          <p:cNvSpPr/>
          <p:nvPr/>
        </p:nvSpPr>
        <p:spPr>
          <a:xfrm>
            <a:off x="1066800" y="2209800"/>
            <a:ext cx="558800" cy="558800"/>
          </a:xfrm>
          <a:prstGeom prst="ellipse">
            <a:avLst/>
          </a:prstGeom>
          <a:solidFill>
            <a:srgbClr val="E3A018"/>
          </a:solidFill>
          <a:ln/>
        </p:spPr>
        <p:txBody>
          <a:bodyPr/>
          <a:lstStyle/>
          <a:p>
            <a:endParaRPr lang="en-AU"/>
          </a:p>
        </p:txBody>
      </p:sp>
      <p:pic>
        <p:nvPicPr>
          <p:cNvPr id="7" name="what_not-icon-6" descr="preencoded.png"/>
          <p:cNvPicPr>
            <a:picLocks noChangeAspect="1"/>
          </p:cNvPicPr>
          <p:nvPr/>
        </p:nvPicPr>
        <p:blipFill>
          <a:blip r:embed="rId3"/>
          <a:stretch>
            <a:fillRect/>
          </a:stretch>
        </p:blipFill>
        <p:spPr>
          <a:xfrm>
            <a:off x="1219200" y="2362200"/>
            <a:ext cx="254000" cy="254000"/>
          </a:xfrm>
          <a:prstGeom prst="rect">
            <a:avLst/>
          </a:prstGeom>
        </p:spPr>
      </p:pic>
      <p:sp>
        <p:nvSpPr>
          <p:cNvPr id="8" name="what_not-text-7"/>
          <p:cNvSpPr/>
          <p:nvPr/>
        </p:nvSpPr>
        <p:spPr>
          <a:xfrm>
            <a:off x="1778000" y="2184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over-image</a:t>
            </a:r>
            <a:endParaRPr lang="en-US" sz="1700" dirty="0"/>
          </a:p>
        </p:txBody>
      </p:sp>
      <p:sp>
        <p:nvSpPr>
          <p:cNvPr id="9" name="what_not-text-8"/>
          <p:cNvSpPr/>
          <p:nvPr/>
        </p:nvSpPr>
        <p:spPr>
          <a:xfrm>
            <a:off x="1778000" y="2590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No need for CT/MRI for mild stable LFTs with a normal ultrasound.</a:t>
            </a:r>
            <a:endParaRPr lang="en-US" sz="1400" dirty="0"/>
          </a:p>
        </p:txBody>
      </p:sp>
      <p:sp>
        <p:nvSpPr>
          <p:cNvPr id="10" name="what_not-shape-9"/>
          <p:cNvSpPr/>
          <p:nvPr/>
        </p:nvSpPr>
        <p:spPr>
          <a:xfrm>
            <a:off x="8382000" y="1905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1" name="what_not-shape-10"/>
          <p:cNvSpPr/>
          <p:nvPr/>
        </p:nvSpPr>
        <p:spPr>
          <a:xfrm>
            <a:off x="8686800" y="2209800"/>
            <a:ext cx="558800" cy="558800"/>
          </a:xfrm>
          <a:prstGeom prst="ellipse">
            <a:avLst/>
          </a:prstGeom>
          <a:solidFill>
            <a:srgbClr val="E3A018"/>
          </a:solidFill>
          <a:ln/>
        </p:spPr>
        <p:txBody>
          <a:bodyPr/>
          <a:lstStyle/>
          <a:p>
            <a:endParaRPr lang="en-AU"/>
          </a:p>
        </p:txBody>
      </p:sp>
      <p:pic>
        <p:nvPicPr>
          <p:cNvPr id="12" name="what_not-icon-11" descr="preencoded.png"/>
          <p:cNvPicPr>
            <a:picLocks noChangeAspect="1"/>
          </p:cNvPicPr>
          <p:nvPr/>
        </p:nvPicPr>
        <p:blipFill>
          <a:blip r:embed="rId3"/>
          <a:stretch>
            <a:fillRect/>
          </a:stretch>
        </p:blipFill>
        <p:spPr>
          <a:xfrm>
            <a:off x="8839200" y="2362200"/>
            <a:ext cx="254000" cy="254000"/>
          </a:xfrm>
          <a:prstGeom prst="rect">
            <a:avLst/>
          </a:prstGeom>
        </p:spPr>
      </p:pic>
      <p:sp>
        <p:nvSpPr>
          <p:cNvPr id="13" name="what_not-text-12"/>
          <p:cNvSpPr/>
          <p:nvPr/>
        </p:nvSpPr>
        <p:spPr>
          <a:xfrm>
            <a:off x="9398000" y="2184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reflex-refer everything</a:t>
            </a:r>
            <a:endParaRPr lang="en-US" sz="1700" dirty="0"/>
          </a:p>
        </p:txBody>
      </p:sp>
      <p:sp>
        <p:nvSpPr>
          <p:cNvPr id="14" name="what_not-text-13"/>
          <p:cNvSpPr/>
          <p:nvPr/>
        </p:nvSpPr>
        <p:spPr>
          <a:xfrm>
            <a:off x="9398000" y="2590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A low FIB-4 with clear metabolic cause can stay in primary care.</a:t>
            </a:r>
            <a:endParaRPr lang="en-US" sz="1400" dirty="0"/>
          </a:p>
        </p:txBody>
      </p:sp>
      <p:sp>
        <p:nvSpPr>
          <p:cNvPr id="15" name="what_not-shape-14"/>
          <p:cNvSpPr/>
          <p:nvPr/>
        </p:nvSpPr>
        <p:spPr>
          <a:xfrm>
            <a:off x="762000" y="4064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6" name="what_not-shape-15"/>
          <p:cNvSpPr/>
          <p:nvPr/>
        </p:nvSpPr>
        <p:spPr>
          <a:xfrm>
            <a:off x="1066800" y="4368800"/>
            <a:ext cx="558800" cy="558800"/>
          </a:xfrm>
          <a:prstGeom prst="ellipse">
            <a:avLst/>
          </a:prstGeom>
          <a:solidFill>
            <a:srgbClr val="E3A018"/>
          </a:solidFill>
          <a:ln/>
        </p:spPr>
        <p:txBody>
          <a:bodyPr/>
          <a:lstStyle/>
          <a:p>
            <a:endParaRPr lang="en-AU"/>
          </a:p>
        </p:txBody>
      </p:sp>
      <p:pic>
        <p:nvPicPr>
          <p:cNvPr id="17" name="what_not-icon-16" descr="preencoded.png"/>
          <p:cNvPicPr>
            <a:picLocks noChangeAspect="1"/>
          </p:cNvPicPr>
          <p:nvPr/>
        </p:nvPicPr>
        <p:blipFill>
          <a:blip r:embed="rId3"/>
          <a:stretch>
            <a:fillRect/>
          </a:stretch>
        </p:blipFill>
        <p:spPr>
          <a:xfrm>
            <a:off x="1219200" y="4521200"/>
            <a:ext cx="254000" cy="254000"/>
          </a:xfrm>
          <a:prstGeom prst="rect">
            <a:avLst/>
          </a:prstGeom>
        </p:spPr>
      </p:pic>
      <p:sp>
        <p:nvSpPr>
          <p:cNvPr id="18" name="what_not-text-17"/>
          <p:cNvSpPr/>
          <p:nvPr/>
        </p:nvSpPr>
        <p:spPr>
          <a:xfrm>
            <a:off x="1778000" y="4343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chase tiny isolated rises</a:t>
            </a:r>
            <a:endParaRPr lang="en-US" sz="1700" dirty="0"/>
          </a:p>
        </p:txBody>
      </p:sp>
      <p:sp>
        <p:nvSpPr>
          <p:cNvPr id="19" name="what_not-text-18"/>
          <p:cNvSpPr/>
          <p:nvPr/>
        </p:nvSpPr>
        <p:spPr>
          <a:xfrm>
            <a:off x="1778000" y="4749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An isolated, mild, stable GGT rarely needs a full work-up — recheck.</a:t>
            </a:r>
            <a:endParaRPr lang="en-US" sz="1400" dirty="0"/>
          </a:p>
        </p:txBody>
      </p:sp>
      <p:sp>
        <p:nvSpPr>
          <p:cNvPr id="20" name="what_not-shape-19"/>
          <p:cNvSpPr/>
          <p:nvPr/>
        </p:nvSpPr>
        <p:spPr>
          <a:xfrm>
            <a:off x="8382000" y="4064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1" name="what_not-shape-20"/>
          <p:cNvSpPr/>
          <p:nvPr/>
        </p:nvSpPr>
        <p:spPr>
          <a:xfrm>
            <a:off x="8686800" y="4368800"/>
            <a:ext cx="558800" cy="558800"/>
          </a:xfrm>
          <a:prstGeom prst="ellipse">
            <a:avLst/>
          </a:prstGeom>
          <a:solidFill>
            <a:srgbClr val="E3A018"/>
          </a:solidFill>
          <a:ln/>
        </p:spPr>
        <p:txBody>
          <a:bodyPr/>
          <a:lstStyle/>
          <a:p>
            <a:endParaRPr lang="en-AU"/>
          </a:p>
        </p:txBody>
      </p:sp>
      <p:pic>
        <p:nvPicPr>
          <p:cNvPr id="22" name="what_not-icon-21" descr="preencoded.png"/>
          <p:cNvPicPr>
            <a:picLocks noChangeAspect="1"/>
          </p:cNvPicPr>
          <p:nvPr/>
        </p:nvPicPr>
        <p:blipFill>
          <a:blip r:embed="rId3"/>
          <a:stretch>
            <a:fillRect/>
          </a:stretch>
        </p:blipFill>
        <p:spPr>
          <a:xfrm>
            <a:off x="8839200" y="4521200"/>
            <a:ext cx="254000" cy="254000"/>
          </a:xfrm>
          <a:prstGeom prst="rect">
            <a:avLst/>
          </a:prstGeom>
        </p:spPr>
      </p:pic>
      <p:sp>
        <p:nvSpPr>
          <p:cNvPr id="23" name="what_not-text-22"/>
          <p:cNvSpPr/>
          <p:nvPr/>
        </p:nvSpPr>
        <p:spPr>
          <a:xfrm>
            <a:off x="9398000" y="4343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ignore a normal ALT</a:t>
            </a:r>
            <a:endParaRPr lang="en-US" sz="1700" dirty="0"/>
          </a:p>
        </p:txBody>
      </p:sp>
      <p:sp>
        <p:nvSpPr>
          <p:cNvPr id="24" name="what_not-text-23"/>
          <p:cNvSpPr/>
          <p:nvPr/>
        </p:nvSpPr>
        <p:spPr>
          <a:xfrm>
            <a:off x="9398000" y="4749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Normal enzymes don't exclude fibrosis — still risk-stratify high-risk patients.</a:t>
            </a:r>
            <a:endParaRPr lang="en-US" sz="1400" dirty="0"/>
          </a:p>
        </p:txBody>
      </p:sp>
      <p:sp>
        <p:nvSpPr>
          <p:cNvPr id="25" name="what_not-shape-24"/>
          <p:cNvSpPr/>
          <p:nvPr/>
        </p:nvSpPr>
        <p:spPr>
          <a:xfrm>
            <a:off x="762000" y="6223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26" name="what_not-shape-25"/>
          <p:cNvSpPr/>
          <p:nvPr/>
        </p:nvSpPr>
        <p:spPr>
          <a:xfrm>
            <a:off x="1066800" y="6527800"/>
            <a:ext cx="558800" cy="558800"/>
          </a:xfrm>
          <a:prstGeom prst="ellipse">
            <a:avLst/>
          </a:prstGeom>
          <a:solidFill>
            <a:srgbClr val="E3A018"/>
          </a:solidFill>
          <a:ln/>
        </p:spPr>
        <p:txBody>
          <a:bodyPr/>
          <a:lstStyle/>
          <a:p>
            <a:endParaRPr lang="en-AU"/>
          </a:p>
        </p:txBody>
      </p:sp>
      <p:pic>
        <p:nvPicPr>
          <p:cNvPr id="27" name="what_not-icon-26" descr="preencoded.png"/>
          <p:cNvPicPr>
            <a:picLocks noChangeAspect="1"/>
          </p:cNvPicPr>
          <p:nvPr/>
        </p:nvPicPr>
        <p:blipFill>
          <a:blip r:embed="rId3"/>
          <a:stretch>
            <a:fillRect/>
          </a:stretch>
        </p:blipFill>
        <p:spPr>
          <a:xfrm>
            <a:off x="1219200" y="6680200"/>
            <a:ext cx="254000" cy="254000"/>
          </a:xfrm>
          <a:prstGeom prst="rect">
            <a:avLst/>
          </a:prstGeom>
        </p:spPr>
      </p:pic>
      <p:sp>
        <p:nvSpPr>
          <p:cNvPr id="28" name="what_not-text-27"/>
          <p:cNvSpPr/>
          <p:nvPr/>
        </p:nvSpPr>
        <p:spPr>
          <a:xfrm>
            <a:off x="1778000" y="6502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stop statins reflexively</a:t>
            </a:r>
            <a:endParaRPr lang="en-US" sz="1700" dirty="0"/>
          </a:p>
        </p:txBody>
      </p:sp>
      <p:sp>
        <p:nvSpPr>
          <p:cNvPr id="29" name="what_not-text-28"/>
          <p:cNvSpPr/>
          <p:nvPr/>
        </p:nvSpPr>
        <p:spPr>
          <a:xfrm>
            <a:off x="1778000" y="6908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Mild asymptomatic ALT rise is usually fine to continue and monitor.</a:t>
            </a:r>
            <a:endParaRPr lang="en-US" sz="1400" dirty="0"/>
          </a:p>
        </p:txBody>
      </p:sp>
      <p:sp>
        <p:nvSpPr>
          <p:cNvPr id="30" name="what_not-shape-29"/>
          <p:cNvSpPr/>
          <p:nvPr/>
        </p:nvSpPr>
        <p:spPr>
          <a:xfrm>
            <a:off x="8382000" y="6223000"/>
            <a:ext cx="6858000" cy="1905000"/>
          </a:xfrm>
          <a:prstGeom prst="roundRect">
            <a:avLst>
              <a:gd name="adj" fmla="val 6667"/>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31" name="what_not-shape-30"/>
          <p:cNvSpPr/>
          <p:nvPr/>
        </p:nvSpPr>
        <p:spPr>
          <a:xfrm>
            <a:off x="8686800" y="6527800"/>
            <a:ext cx="558800" cy="558800"/>
          </a:xfrm>
          <a:prstGeom prst="ellipse">
            <a:avLst/>
          </a:prstGeom>
          <a:solidFill>
            <a:srgbClr val="E3A018"/>
          </a:solidFill>
          <a:ln/>
        </p:spPr>
        <p:txBody>
          <a:bodyPr/>
          <a:lstStyle/>
          <a:p>
            <a:endParaRPr lang="en-AU"/>
          </a:p>
        </p:txBody>
      </p:sp>
      <p:pic>
        <p:nvPicPr>
          <p:cNvPr id="32" name="what_not-icon-31" descr="preencoded.png"/>
          <p:cNvPicPr>
            <a:picLocks noChangeAspect="1"/>
          </p:cNvPicPr>
          <p:nvPr/>
        </p:nvPicPr>
        <p:blipFill>
          <a:blip r:embed="rId3"/>
          <a:stretch>
            <a:fillRect/>
          </a:stretch>
        </p:blipFill>
        <p:spPr>
          <a:xfrm>
            <a:off x="8839200" y="6680200"/>
            <a:ext cx="254000" cy="254000"/>
          </a:xfrm>
          <a:prstGeom prst="rect">
            <a:avLst/>
          </a:prstGeom>
        </p:spPr>
      </p:pic>
      <p:sp>
        <p:nvSpPr>
          <p:cNvPr id="33" name="what_not-text-32"/>
          <p:cNvSpPr/>
          <p:nvPr/>
        </p:nvSpPr>
        <p:spPr>
          <a:xfrm>
            <a:off x="9398000" y="6502400"/>
            <a:ext cx="5588000" cy="3556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Don't forget to repeat</a:t>
            </a:r>
            <a:endParaRPr lang="en-US" sz="1700" dirty="0"/>
          </a:p>
        </p:txBody>
      </p:sp>
      <p:sp>
        <p:nvSpPr>
          <p:cNvPr id="34" name="what_not-text-33"/>
          <p:cNvSpPr/>
          <p:nvPr/>
        </p:nvSpPr>
        <p:spPr>
          <a:xfrm>
            <a:off x="9398000" y="6908800"/>
            <a:ext cx="5588000" cy="1016000"/>
          </a:xfrm>
          <a:prstGeom prst="rect">
            <a:avLst/>
          </a:prstGeom>
          <a:noFill/>
          <a:ln/>
        </p:spPr>
        <p:txBody>
          <a:bodyPr wrap="square" lIns="0" tIns="0" rIns="0" bIns="0" rtlCol="0" anchor="t"/>
          <a:lstStyle/>
          <a:p>
            <a:pPr marL="0" indent="0" algn="l">
              <a:lnSpc>
                <a:spcPts val="1890"/>
              </a:lnSpc>
              <a:buNone/>
            </a:pPr>
            <a:r>
              <a:rPr lang="en-US" sz="1400" dirty="0">
                <a:solidFill>
                  <a:srgbClr val="5C6B6D"/>
                </a:solidFill>
                <a:latin typeface="Inter" pitchFamily="34" charset="0"/>
                <a:ea typeface="Inter" pitchFamily="34" charset="-122"/>
                <a:cs typeface="Inter" pitchFamily="34" charset="-120"/>
              </a:rPr>
              <a:t>Many mild abnormalities normalise — recheck in 1–3 months before deep work-up.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manage_refer-text-1"/>
          <p:cNvSpPr/>
          <p:nvPr/>
        </p:nvSpPr>
        <p:spPr>
          <a:xfrm>
            <a:off x="762000" y="4572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STEP 5 — ACT</a:t>
            </a:r>
            <a:endParaRPr lang="en-US" sz="1600" dirty="0"/>
          </a:p>
        </p:txBody>
      </p:sp>
      <p:sp>
        <p:nvSpPr>
          <p:cNvPr id="3" name="manage_refer-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Manage in primary care vs refer</a:t>
            </a:r>
            <a:endParaRPr lang="en-US" sz="3600" dirty="0"/>
          </a:p>
        </p:txBody>
      </p:sp>
      <p:sp>
        <p:nvSpPr>
          <p:cNvPr id="4" name="manage_refer-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15</a:t>
            </a:r>
            <a:endParaRPr lang="en-US" sz="1400" dirty="0"/>
          </a:p>
        </p:txBody>
      </p:sp>
      <p:sp>
        <p:nvSpPr>
          <p:cNvPr id="5" name="manage_refer-shape-4"/>
          <p:cNvSpPr/>
          <p:nvPr/>
        </p:nvSpPr>
        <p:spPr>
          <a:xfrm>
            <a:off x="762000" y="2032000"/>
            <a:ext cx="7048500" cy="5969000"/>
          </a:xfrm>
          <a:prstGeom prst="roundRect">
            <a:avLst>
              <a:gd name="adj" fmla="val 2128"/>
            </a:avLst>
          </a:prstGeom>
          <a:solidFill>
            <a:srgbClr val="FFFFFF"/>
          </a:solidFill>
          <a:ln w="25400">
            <a:solidFill>
              <a:srgbClr val="2E7D32"/>
            </a:solidFill>
            <a:prstDash val="solid"/>
          </a:ln>
        </p:spPr>
        <p:txBody>
          <a:bodyPr/>
          <a:lstStyle/>
          <a:p>
            <a:endParaRPr lang="en-AU"/>
          </a:p>
        </p:txBody>
      </p:sp>
      <p:sp>
        <p:nvSpPr>
          <p:cNvPr id="6" name="manage_refer-shape-5"/>
          <p:cNvSpPr/>
          <p:nvPr/>
        </p:nvSpPr>
        <p:spPr>
          <a:xfrm>
            <a:off x="1143000" y="2413000"/>
            <a:ext cx="508000" cy="508000"/>
          </a:xfrm>
          <a:prstGeom prst="ellipse">
            <a:avLst/>
          </a:prstGeom>
          <a:solidFill>
            <a:srgbClr val="2E7D32"/>
          </a:solidFill>
          <a:ln/>
        </p:spPr>
        <p:txBody>
          <a:bodyPr/>
          <a:lstStyle/>
          <a:p>
            <a:endParaRPr lang="en-AU"/>
          </a:p>
        </p:txBody>
      </p:sp>
      <p:pic>
        <p:nvPicPr>
          <p:cNvPr id="7" name="manage_refer-icon-6" descr="preencoded.png"/>
          <p:cNvPicPr>
            <a:picLocks noChangeAspect="1"/>
          </p:cNvPicPr>
          <p:nvPr/>
        </p:nvPicPr>
        <p:blipFill>
          <a:blip r:embed="rId3"/>
          <a:stretch>
            <a:fillRect/>
          </a:stretch>
        </p:blipFill>
        <p:spPr>
          <a:xfrm>
            <a:off x="1270000" y="2540000"/>
            <a:ext cx="254000" cy="254000"/>
          </a:xfrm>
          <a:prstGeom prst="rect">
            <a:avLst/>
          </a:prstGeom>
        </p:spPr>
      </p:pic>
      <p:sp>
        <p:nvSpPr>
          <p:cNvPr id="8" name="manage_refer-text-7"/>
          <p:cNvSpPr/>
          <p:nvPr/>
        </p:nvSpPr>
        <p:spPr>
          <a:xfrm>
            <a:off x="1778000" y="2489200"/>
            <a:ext cx="5588000" cy="355600"/>
          </a:xfrm>
          <a:prstGeom prst="rect">
            <a:avLst/>
          </a:prstGeom>
          <a:noFill/>
          <a:ln/>
        </p:spPr>
        <p:txBody>
          <a:bodyPr wrap="square" lIns="0" tIns="0" rIns="0" bIns="0" rtlCol="0" anchor="t"/>
          <a:lstStyle/>
          <a:p>
            <a:pPr marL="0" indent="0" algn="l">
              <a:buNone/>
            </a:pPr>
            <a:r>
              <a:rPr lang="en-US" sz="1800" b="1" dirty="0">
                <a:solidFill>
                  <a:srgbClr val="2E7D32"/>
                </a:solidFill>
                <a:latin typeface="Inter" pitchFamily="34" charset="0"/>
                <a:ea typeface="Inter" pitchFamily="34" charset="-122"/>
                <a:cs typeface="Inter" pitchFamily="34" charset="-120"/>
              </a:rPr>
              <a:t>Manage in primary care</a:t>
            </a:r>
            <a:endParaRPr lang="en-US" sz="1800" dirty="0"/>
          </a:p>
        </p:txBody>
      </p:sp>
      <p:sp>
        <p:nvSpPr>
          <p:cNvPr id="9" name="manage_refer-text-8"/>
          <p:cNvSpPr/>
          <p:nvPr/>
        </p:nvSpPr>
        <p:spPr>
          <a:xfrm>
            <a:off x="1143000" y="3175000"/>
            <a:ext cx="6350000" cy="4572000"/>
          </a:xfrm>
          <a:prstGeom prst="rect">
            <a:avLst/>
          </a:prstGeom>
          <a:noFill/>
          <a:ln/>
        </p:spPr>
        <p:txBody>
          <a:bodyPr wrap="square" lIns="0" tIns="0" rIns="0" bIns="0" rtlCol="0" anchor="t"/>
          <a:lstStyle/>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Mild abnormality, no red flags, FIB-4 low</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Clear metabolic cause — drive lifestyle &amp; weight loss</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Optimise diabetes, lipids, blood pressure</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Treat alcohol use; review medications/supplements</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Vaccinate (Hep A/B) where appropriate</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Recheck LFTs &amp; re-stratify periodically</a:t>
            </a:r>
            <a:endParaRPr lang="en-US" sz="1500" dirty="0"/>
          </a:p>
        </p:txBody>
      </p:sp>
      <p:sp>
        <p:nvSpPr>
          <p:cNvPr id="10" name="manage_refer-shape-9"/>
          <p:cNvSpPr/>
          <p:nvPr/>
        </p:nvSpPr>
        <p:spPr>
          <a:xfrm>
            <a:off x="8445500" y="2032000"/>
            <a:ext cx="7048500" cy="5969000"/>
          </a:xfrm>
          <a:prstGeom prst="roundRect">
            <a:avLst>
              <a:gd name="adj" fmla="val 2128"/>
            </a:avLst>
          </a:prstGeom>
          <a:solidFill>
            <a:srgbClr val="FFFFFF"/>
          </a:solidFill>
          <a:ln w="25400">
            <a:solidFill>
              <a:srgbClr val="D32F2F"/>
            </a:solidFill>
            <a:prstDash val="solid"/>
          </a:ln>
        </p:spPr>
        <p:txBody>
          <a:bodyPr/>
          <a:lstStyle/>
          <a:p>
            <a:endParaRPr lang="en-AU"/>
          </a:p>
        </p:txBody>
      </p:sp>
      <p:sp>
        <p:nvSpPr>
          <p:cNvPr id="11" name="manage_refer-shape-10"/>
          <p:cNvSpPr/>
          <p:nvPr/>
        </p:nvSpPr>
        <p:spPr>
          <a:xfrm>
            <a:off x="8826500" y="2413000"/>
            <a:ext cx="508000" cy="508000"/>
          </a:xfrm>
          <a:prstGeom prst="ellipse">
            <a:avLst/>
          </a:prstGeom>
          <a:solidFill>
            <a:srgbClr val="D32F2F"/>
          </a:solidFill>
          <a:ln/>
        </p:spPr>
        <p:txBody>
          <a:bodyPr/>
          <a:lstStyle/>
          <a:p>
            <a:endParaRPr lang="en-AU"/>
          </a:p>
        </p:txBody>
      </p:sp>
      <p:pic>
        <p:nvPicPr>
          <p:cNvPr id="12" name="manage_refer-icon-11" descr="preencoded.png"/>
          <p:cNvPicPr>
            <a:picLocks noChangeAspect="1"/>
          </p:cNvPicPr>
          <p:nvPr/>
        </p:nvPicPr>
        <p:blipFill>
          <a:blip r:embed="rId4"/>
          <a:stretch>
            <a:fillRect/>
          </a:stretch>
        </p:blipFill>
        <p:spPr>
          <a:xfrm>
            <a:off x="8953500" y="2540000"/>
            <a:ext cx="254000" cy="254000"/>
          </a:xfrm>
          <a:prstGeom prst="rect">
            <a:avLst/>
          </a:prstGeom>
        </p:spPr>
      </p:pic>
      <p:sp>
        <p:nvSpPr>
          <p:cNvPr id="13" name="manage_refer-text-12"/>
          <p:cNvSpPr/>
          <p:nvPr/>
        </p:nvSpPr>
        <p:spPr>
          <a:xfrm>
            <a:off x="9461500" y="2489200"/>
            <a:ext cx="5588000" cy="355600"/>
          </a:xfrm>
          <a:prstGeom prst="rect">
            <a:avLst/>
          </a:prstGeom>
          <a:noFill/>
          <a:ln/>
        </p:spPr>
        <p:txBody>
          <a:bodyPr wrap="square" lIns="0" tIns="0" rIns="0" bIns="0" rtlCol="0" anchor="t"/>
          <a:lstStyle/>
          <a:p>
            <a:pPr marL="0" indent="0" algn="l">
              <a:buNone/>
            </a:pPr>
            <a:r>
              <a:rPr lang="en-US" sz="1800" b="1" dirty="0">
                <a:solidFill>
                  <a:srgbClr val="D32F2F"/>
                </a:solidFill>
                <a:latin typeface="Inter" pitchFamily="34" charset="0"/>
                <a:ea typeface="Inter" pitchFamily="34" charset="-122"/>
                <a:cs typeface="Inter" pitchFamily="34" charset="-120"/>
              </a:rPr>
              <a:t>Refer to hepatology</a:t>
            </a:r>
            <a:endParaRPr lang="en-US" sz="1800" dirty="0"/>
          </a:p>
        </p:txBody>
      </p:sp>
      <p:sp>
        <p:nvSpPr>
          <p:cNvPr id="14" name="manage_refer-text-13"/>
          <p:cNvSpPr/>
          <p:nvPr/>
        </p:nvSpPr>
        <p:spPr>
          <a:xfrm>
            <a:off x="8826500" y="3175000"/>
            <a:ext cx="6350000" cy="4572000"/>
          </a:xfrm>
          <a:prstGeom prst="rect">
            <a:avLst/>
          </a:prstGeom>
          <a:noFill/>
          <a:ln/>
        </p:spPr>
        <p:txBody>
          <a:bodyPr wrap="square" lIns="0" tIns="0" rIns="0" bIns="0" rtlCol="0" anchor="t"/>
          <a:lstStyle/>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Any red flag → urgent / same-day</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FIB-4 high (&gt; 2.67) or confirmed fibrosis</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Indeterminate FIB-4 after elastography</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Persistent abnormality with no clear cause</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Positive Hep B/C, autoimmune or genetic cause</a:t>
            </a:r>
            <a:endParaRPr lang="en-US" sz="1500" dirty="0"/>
          </a:p>
          <a:p>
            <a:pPr marL="238125" indent="-238125" algn="l">
              <a:lnSpc>
                <a:spcPts val="28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Diagnostic uncertainty or patient anxiety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hep_a-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VIRAL HEPATITIS 1 OF 3</a:t>
            </a:r>
            <a:endParaRPr lang="en-US" sz="1600" dirty="0"/>
          </a:p>
        </p:txBody>
      </p:sp>
      <p:sp>
        <p:nvSpPr>
          <p:cNvPr id="3" name="hep_a-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Hepatitis A: acute, self-limiting, notifiable</a:t>
            </a:r>
            <a:endParaRPr lang="en-US" sz="3200" dirty="0"/>
          </a:p>
        </p:txBody>
      </p:sp>
      <p:sp>
        <p:nvSpPr>
          <p:cNvPr id="4" name="hep_a-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16</a:t>
            </a:r>
            <a:endParaRPr lang="en-US" sz="1400" dirty="0"/>
          </a:p>
        </p:txBody>
      </p:sp>
      <p:sp>
        <p:nvSpPr>
          <p:cNvPr id="5" name="hep_a-shape-4"/>
          <p:cNvSpPr/>
          <p:nvPr/>
        </p:nvSpPr>
        <p:spPr>
          <a:xfrm>
            <a:off x="762000" y="2159000"/>
            <a:ext cx="4572000" cy="4191000"/>
          </a:xfrm>
          <a:prstGeom prst="roundRect">
            <a:avLst>
              <a:gd name="adj" fmla="val 3030"/>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hep_a-shape-5"/>
          <p:cNvSpPr/>
          <p:nvPr/>
        </p:nvSpPr>
        <p:spPr>
          <a:xfrm>
            <a:off x="1143000" y="2514600"/>
            <a:ext cx="558800" cy="558800"/>
          </a:xfrm>
          <a:prstGeom prst="ellipse">
            <a:avLst/>
          </a:prstGeom>
          <a:solidFill>
            <a:srgbClr val="0F4C5C"/>
          </a:solidFill>
          <a:ln/>
        </p:spPr>
        <p:txBody>
          <a:bodyPr/>
          <a:lstStyle/>
          <a:p>
            <a:endParaRPr lang="en-AU"/>
          </a:p>
        </p:txBody>
      </p:sp>
      <p:pic>
        <p:nvPicPr>
          <p:cNvPr id="7" name="hep_a-icon-6" descr="preencoded.png"/>
          <p:cNvPicPr>
            <a:picLocks noChangeAspect="1"/>
          </p:cNvPicPr>
          <p:nvPr/>
        </p:nvPicPr>
        <p:blipFill>
          <a:blip r:embed="rId3"/>
          <a:stretch>
            <a:fillRect/>
          </a:stretch>
        </p:blipFill>
        <p:spPr>
          <a:xfrm>
            <a:off x="1295400" y="2667000"/>
            <a:ext cx="254000" cy="254000"/>
          </a:xfrm>
          <a:prstGeom prst="rect">
            <a:avLst/>
          </a:prstGeom>
        </p:spPr>
      </p:pic>
      <p:sp>
        <p:nvSpPr>
          <p:cNvPr id="8" name="hep_a-text-7"/>
          <p:cNvSpPr/>
          <p:nvPr/>
        </p:nvSpPr>
        <p:spPr>
          <a:xfrm>
            <a:off x="1854200" y="2616200"/>
            <a:ext cx="3429000" cy="3302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Transmission</a:t>
            </a:r>
            <a:endParaRPr lang="en-US" sz="1700" dirty="0"/>
          </a:p>
        </p:txBody>
      </p:sp>
      <p:sp>
        <p:nvSpPr>
          <p:cNvPr id="9" name="hep_a-text-8"/>
          <p:cNvSpPr/>
          <p:nvPr/>
        </p:nvSpPr>
        <p:spPr>
          <a:xfrm>
            <a:off x="1143000" y="3251200"/>
            <a:ext cx="3810000" cy="2794000"/>
          </a:xfrm>
          <a:prstGeom prst="rect">
            <a:avLst/>
          </a:prstGeom>
          <a:noFill/>
          <a:ln/>
        </p:spPr>
        <p:txBody>
          <a:bodyPr wrap="square" lIns="0" tIns="0" rIns="0" bIns="0" rtlCol="0" anchor="t"/>
          <a:lstStyle/>
          <a:p>
            <a:pPr marL="0" indent="0" algn="l">
              <a:lnSpc>
                <a:spcPts val="2240"/>
              </a:lnSpc>
              <a:buNone/>
            </a:pPr>
            <a:r>
              <a:rPr lang="en-US" sz="1400" dirty="0">
                <a:solidFill>
                  <a:srgbClr val="1A2527"/>
                </a:solidFill>
                <a:latin typeface="Inter" pitchFamily="34" charset="0"/>
                <a:ea typeface="Inter" pitchFamily="34" charset="-122"/>
                <a:cs typeface="Inter" pitchFamily="34" charset="-120"/>
              </a:rPr>
              <a:t>Faecal-oral spread — contaminated food/water, travel to endemic regions, or close household/sexual contact.</a:t>
            </a:r>
            <a:endParaRPr lang="en-US" sz="1400" dirty="0"/>
          </a:p>
        </p:txBody>
      </p:sp>
      <p:sp>
        <p:nvSpPr>
          <p:cNvPr id="10" name="hep_a-shape-9"/>
          <p:cNvSpPr/>
          <p:nvPr/>
        </p:nvSpPr>
        <p:spPr>
          <a:xfrm>
            <a:off x="5588000" y="2159000"/>
            <a:ext cx="4572000" cy="4191000"/>
          </a:xfrm>
          <a:prstGeom prst="roundRect">
            <a:avLst>
              <a:gd name="adj" fmla="val 3030"/>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1" name="hep_a-shape-10"/>
          <p:cNvSpPr/>
          <p:nvPr/>
        </p:nvSpPr>
        <p:spPr>
          <a:xfrm>
            <a:off x="5969000" y="2514600"/>
            <a:ext cx="558800" cy="558800"/>
          </a:xfrm>
          <a:prstGeom prst="ellipse">
            <a:avLst/>
          </a:prstGeom>
          <a:solidFill>
            <a:srgbClr val="E3A018"/>
          </a:solidFill>
          <a:ln/>
        </p:spPr>
        <p:txBody>
          <a:bodyPr/>
          <a:lstStyle/>
          <a:p>
            <a:endParaRPr lang="en-AU"/>
          </a:p>
        </p:txBody>
      </p:sp>
      <p:pic>
        <p:nvPicPr>
          <p:cNvPr id="12" name="hep_a-icon-11" descr="preencoded.png"/>
          <p:cNvPicPr>
            <a:picLocks noChangeAspect="1"/>
          </p:cNvPicPr>
          <p:nvPr/>
        </p:nvPicPr>
        <p:blipFill>
          <a:blip r:embed="rId4"/>
          <a:stretch>
            <a:fillRect/>
          </a:stretch>
        </p:blipFill>
        <p:spPr>
          <a:xfrm>
            <a:off x="6121400" y="2667000"/>
            <a:ext cx="254000" cy="254000"/>
          </a:xfrm>
          <a:prstGeom prst="rect">
            <a:avLst/>
          </a:prstGeom>
        </p:spPr>
      </p:pic>
      <p:sp>
        <p:nvSpPr>
          <p:cNvPr id="13" name="hep_a-text-12"/>
          <p:cNvSpPr/>
          <p:nvPr/>
        </p:nvSpPr>
        <p:spPr>
          <a:xfrm>
            <a:off x="6680200" y="2616200"/>
            <a:ext cx="3429000" cy="3302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Diagnosis</a:t>
            </a:r>
            <a:endParaRPr lang="en-US" sz="1700" dirty="0"/>
          </a:p>
        </p:txBody>
      </p:sp>
      <p:sp>
        <p:nvSpPr>
          <p:cNvPr id="14" name="hep_a-text-13"/>
          <p:cNvSpPr/>
          <p:nvPr/>
        </p:nvSpPr>
        <p:spPr>
          <a:xfrm>
            <a:off x="5969000" y="3251200"/>
            <a:ext cx="3810000" cy="2794000"/>
          </a:xfrm>
          <a:prstGeom prst="rect">
            <a:avLst/>
          </a:prstGeom>
          <a:noFill/>
          <a:ln/>
        </p:spPr>
        <p:txBody>
          <a:bodyPr wrap="square" lIns="0" tIns="0" rIns="0" bIns="0" rtlCol="0" anchor="t"/>
          <a:lstStyle/>
          <a:p>
            <a:pPr marL="0" indent="0" algn="l">
              <a:lnSpc>
                <a:spcPts val="2240"/>
              </a:lnSpc>
              <a:buNone/>
            </a:pPr>
            <a:r>
              <a:rPr lang="en-US" sz="1400" dirty="0">
                <a:solidFill>
                  <a:srgbClr val="1A2527"/>
                </a:solidFill>
                <a:latin typeface="Inter" pitchFamily="34" charset="0"/>
                <a:ea typeface="Inter" pitchFamily="34" charset="-122"/>
                <a:cs typeface="Inter" pitchFamily="34" charset="-120"/>
              </a:rPr>
              <a:t>IgM anti-HAV confirms acute infection. Markedly raised ALT/AST with a hepatocellular pattern is typical.</a:t>
            </a:r>
            <a:endParaRPr lang="en-US" sz="1400" dirty="0"/>
          </a:p>
        </p:txBody>
      </p:sp>
      <p:sp>
        <p:nvSpPr>
          <p:cNvPr id="15" name="hep_a-shape-14"/>
          <p:cNvSpPr/>
          <p:nvPr/>
        </p:nvSpPr>
        <p:spPr>
          <a:xfrm>
            <a:off x="10414000" y="2159000"/>
            <a:ext cx="4572000" cy="4191000"/>
          </a:xfrm>
          <a:prstGeom prst="roundRect">
            <a:avLst>
              <a:gd name="adj" fmla="val 3030"/>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6" name="hep_a-shape-15"/>
          <p:cNvSpPr/>
          <p:nvPr/>
        </p:nvSpPr>
        <p:spPr>
          <a:xfrm>
            <a:off x="10795000" y="2514600"/>
            <a:ext cx="558800" cy="558800"/>
          </a:xfrm>
          <a:prstGeom prst="ellipse">
            <a:avLst/>
          </a:prstGeom>
          <a:solidFill>
            <a:srgbClr val="2E7D32"/>
          </a:solidFill>
          <a:ln/>
        </p:spPr>
        <p:txBody>
          <a:bodyPr/>
          <a:lstStyle/>
          <a:p>
            <a:endParaRPr lang="en-AU"/>
          </a:p>
        </p:txBody>
      </p:sp>
      <p:pic>
        <p:nvPicPr>
          <p:cNvPr id="17" name="hep_a-icon-16" descr="preencoded.png"/>
          <p:cNvPicPr>
            <a:picLocks noChangeAspect="1"/>
          </p:cNvPicPr>
          <p:nvPr/>
        </p:nvPicPr>
        <p:blipFill>
          <a:blip r:embed="rId5"/>
          <a:stretch>
            <a:fillRect/>
          </a:stretch>
        </p:blipFill>
        <p:spPr>
          <a:xfrm>
            <a:off x="10947400" y="2667000"/>
            <a:ext cx="254000" cy="254000"/>
          </a:xfrm>
          <a:prstGeom prst="rect">
            <a:avLst/>
          </a:prstGeom>
        </p:spPr>
      </p:pic>
      <p:sp>
        <p:nvSpPr>
          <p:cNvPr id="18" name="hep_a-text-17"/>
          <p:cNvSpPr/>
          <p:nvPr/>
        </p:nvSpPr>
        <p:spPr>
          <a:xfrm>
            <a:off x="11506200" y="2616200"/>
            <a:ext cx="3429000" cy="330200"/>
          </a:xfrm>
          <a:prstGeom prst="rect">
            <a:avLst/>
          </a:prstGeom>
          <a:noFill/>
          <a:ln/>
        </p:spPr>
        <p:txBody>
          <a:bodyPr wrap="square" lIns="0" tIns="0" rIns="0" bIns="0" rtlCol="0" anchor="t"/>
          <a:lstStyle/>
          <a:p>
            <a:pPr marL="0" indent="0" algn="l">
              <a:buNone/>
            </a:pPr>
            <a:r>
              <a:rPr lang="en-US" sz="1700" b="1" dirty="0">
                <a:solidFill>
                  <a:srgbClr val="0F4C5C"/>
                </a:solidFill>
                <a:latin typeface="Inter" pitchFamily="34" charset="0"/>
                <a:ea typeface="Inter" pitchFamily="34" charset="-122"/>
                <a:cs typeface="Inter" pitchFamily="34" charset="-120"/>
              </a:rPr>
              <a:t>Management</a:t>
            </a:r>
            <a:endParaRPr lang="en-US" sz="1700" dirty="0"/>
          </a:p>
        </p:txBody>
      </p:sp>
      <p:sp>
        <p:nvSpPr>
          <p:cNvPr id="19" name="hep_a-text-18"/>
          <p:cNvSpPr/>
          <p:nvPr/>
        </p:nvSpPr>
        <p:spPr>
          <a:xfrm>
            <a:off x="10795000" y="3251200"/>
            <a:ext cx="3810000" cy="2794000"/>
          </a:xfrm>
          <a:prstGeom prst="rect">
            <a:avLst/>
          </a:prstGeom>
          <a:noFill/>
          <a:ln/>
        </p:spPr>
        <p:txBody>
          <a:bodyPr wrap="square" lIns="0" tIns="0" rIns="0" bIns="0" rtlCol="0" anchor="t"/>
          <a:lstStyle/>
          <a:p>
            <a:pPr marL="0" indent="0" algn="l">
              <a:lnSpc>
                <a:spcPts val="2240"/>
              </a:lnSpc>
              <a:buNone/>
            </a:pPr>
            <a:r>
              <a:rPr lang="en-US" sz="1400" dirty="0">
                <a:solidFill>
                  <a:srgbClr val="1A2527"/>
                </a:solidFill>
                <a:latin typeface="Inter" pitchFamily="34" charset="0"/>
                <a:ea typeface="Inter" pitchFamily="34" charset="-122"/>
                <a:cs typeface="Inter" pitchFamily="34" charset="-120"/>
              </a:rPr>
              <a:t>Supportive care — it is self-limiting with full recovery. Notify public health (notifiable disease) and vaccinate close contacts.</a:t>
            </a:r>
            <a:endParaRPr lang="en-US" sz="1400" dirty="0"/>
          </a:p>
        </p:txBody>
      </p:sp>
      <p:sp>
        <p:nvSpPr>
          <p:cNvPr id="20" name="hep_a-shape-19"/>
          <p:cNvSpPr/>
          <p:nvPr/>
        </p:nvSpPr>
        <p:spPr>
          <a:xfrm>
            <a:off x="762000" y="6858000"/>
            <a:ext cx="14224000" cy="1143000"/>
          </a:xfrm>
          <a:prstGeom prst="roundRect">
            <a:avLst>
              <a:gd name="adj" fmla="val 11111"/>
            </a:avLst>
          </a:prstGeom>
          <a:solidFill>
            <a:srgbClr val="0F4C5C"/>
          </a:solidFill>
          <a:ln/>
        </p:spPr>
        <p:txBody>
          <a:bodyPr/>
          <a:lstStyle/>
          <a:p>
            <a:endParaRPr lang="en-AU"/>
          </a:p>
        </p:txBody>
      </p:sp>
      <p:sp>
        <p:nvSpPr>
          <p:cNvPr id="21" name="hep_a-text-20"/>
          <p:cNvSpPr/>
          <p:nvPr/>
        </p:nvSpPr>
        <p:spPr>
          <a:xfrm>
            <a:off x="1143000" y="7086600"/>
            <a:ext cx="381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PEARL</a:t>
            </a:r>
            <a:endParaRPr lang="en-US" sz="1600" dirty="0"/>
          </a:p>
        </p:txBody>
      </p:sp>
      <p:sp>
        <p:nvSpPr>
          <p:cNvPr id="22" name="hep_a-text-21"/>
          <p:cNvSpPr/>
          <p:nvPr/>
        </p:nvSpPr>
        <p:spPr>
          <a:xfrm>
            <a:off x="1143000" y="7416800"/>
            <a:ext cx="13462000" cy="4572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Inter" pitchFamily="34" charset="0"/>
                <a:ea typeface="Inter" pitchFamily="34" charset="-122"/>
                <a:cs typeface="Inter" pitchFamily="34" charset="-120"/>
              </a:rPr>
              <a:t>Hepatitis A never becomes chronic — but a fulminant course, though rare, can occur, so watch for synthetic dysfunction.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hep_b-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VIRAL HEPATITIS 2 OF 3</a:t>
            </a:r>
            <a:endParaRPr lang="en-US" sz="1600" dirty="0"/>
          </a:p>
        </p:txBody>
      </p:sp>
      <p:sp>
        <p:nvSpPr>
          <p:cNvPr id="3" name="hep_b-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Hepatitis B: screen, stage, suppress</a:t>
            </a:r>
            <a:endParaRPr lang="en-US" sz="3200" dirty="0"/>
          </a:p>
        </p:txBody>
      </p:sp>
      <p:sp>
        <p:nvSpPr>
          <p:cNvPr id="4" name="hep_b-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17</a:t>
            </a:r>
            <a:endParaRPr lang="en-US" sz="1400" dirty="0"/>
          </a:p>
        </p:txBody>
      </p:sp>
      <p:graphicFrame>
        <p:nvGraphicFramePr>
          <p:cNvPr id="18" name="hep_b-table-4"/>
          <p:cNvGraphicFramePr>
            <a:graphicFrameLocks noGrp="1"/>
          </p:cNvGraphicFramePr>
          <p:nvPr>
            <p:extLst>
              <p:ext uri="{D42A27DB-BD31-4B8C-83A1-F6EECF244321}">
                <p14:modId xmlns:p14="http://schemas.microsoft.com/office/powerpoint/2010/main" val="1579011935"/>
              </p:ext>
            </p:extLst>
          </p:nvPr>
        </p:nvGraphicFramePr>
        <p:xfrm>
          <a:off x="762000" y="2159000"/>
          <a:ext cx="7112001" cy="3048000"/>
        </p:xfrm>
        <a:graphic>
          <a:graphicData uri="http://schemas.openxmlformats.org/drawingml/2006/table">
            <a:tbl>
              <a:tblPr/>
              <a:tblGrid>
                <a:gridCol w="2539998">
                  <a:extLst>
                    <a:ext uri="{9D8B030D-6E8A-4147-A177-3AD203B41FA5}">
                      <a16:colId xmlns:a16="http://schemas.microsoft.com/office/drawing/2014/main" val="20000"/>
                    </a:ext>
                  </a:extLst>
                </a:gridCol>
                <a:gridCol w="1524001">
                  <a:extLst>
                    <a:ext uri="{9D8B030D-6E8A-4147-A177-3AD203B41FA5}">
                      <a16:colId xmlns:a16="http://schemas.microsoft.com/office/drawing/2014/main" val="20001"/>
                    </a:ext>
                  </a:extLst>
                </a:gridCol>
                <a:gridCol w="1524001">
                  <a:extLst>
                    <a:ext uri="{9D8B030D-6E8A-4147-A177-3AD203B41FA5}">
                      <a16:colId xmlns:a16="http://schemas.microsoft.com/office/drawing/2014/main" val="20002"/>
                    </a:ext>
                  </a:extLst>
                </a:gridCol>
                <a:gridCol w="1524001">
                  <a:extLst>
                    <a:ext uri="{9D8B030D-6E8A-4147-A177-3AD203B41FA5}">
                      <a16:colId xmlns:a16="http://schemas.microsoft.com/office/drawing/2014/main" val="20003"/>
                    </a:ext>
                  </a:extLst>
                </a:gridCol>
              </a:tblGrid>
              <a:tr h="609600">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Status</a:t>
                      </a:r>
                      <a:endParaRPr lang="en-US" sz="1400" dirty="0">
                        <a:latin typeface="Inter" charset="0"/>
                        <a:ea typeface="Inter" charset="0"/>
                        <a:cs typeface="Inter" charset="0"/>
                      </a:endParaRPr>
                    </a:p>
                  </a:txBody>
                  <a:tcPr marL="127000" marR="127000" marT="127000" marB="127000" anchor="ctr">
                    <a:lnL w="0" cap="flat" cmpd="sng" algn="ctr">
                      <a:noFill/>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HBsAg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anti-HBc</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anti-HBs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0" cap="flat" cmpd="sng" algn="ctr">
                      <a:noFill/>
                    </a:lnR>
                    <a:lnT w="0" cap="flat" cmpd="sng" algn="ctr">
                      <a:noFill/>
                    </a:lnT>
                    <a:lnB w="12700" cap="flat" cmpd="sng" algn="ctr">
                      <a:solidFill>
                        <a:srgbClr val="E0DAD0"/>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6096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Immune (vaccinated)</a:t>
                      </a:r>
                      <a:endParaRPr lang="en-US" sz="1400" dirty="0">
                        <a:latin typeface="Inter" charset="0"/>
                        <a:ea typeface="Inter" charset="0"/>
                        <a:cs typeface="Inter" charset="0"/>
                      </a:endParaRPr>
                    </a:p>
                  </a:txBody>
                  <a:tcPr marL="127000" marR="1270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Pos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1"/>
                  </a:ext>
                </a:extLst>
              </a:tr>
              <a:tr h="6096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Immune (past infection)</a:t>
                      </a:r>
                      <a:endParaRPr lang="en-US" sz="1400" dirty="0">
                        <a:latin typeface="Inter" charset="0"/>
                        <a:ea typeface="Inter" charset="0"/>
                        <a:cs typeface="Inter" charset="0"/>
                      </a:endParaRPr>
                    </a:p>
                  </a:txBody>
                  <a:tcPr marL="127000" marR="1270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Pos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Pos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2"/>
                  </a:ext>
                </a:extLst>
              </a:tr>
              <a:tr h="6096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Chronic infection</a:t>
                      </a:r>
                      <a:endParaRPr lang="en-US" sz="1400" dirty="0">
                        <a:latin typeface="Inter" charset="0"/>
                        <a:ea typeface="Inter" charset="0"/>
                        <a:cs typeface="Inter" charset="0"/>
                      </a:endParaRPr>
                    </a:p>
                  </a:txBody>
                  <a:tcPr marL="127000" marR="1270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Pos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Pos</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3"/>
                  </a:ext>
                </a:extLst>
              </a:tr>
              <a:tr h="6096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Susceptible</a:t>
                      </a:r>
                      <a:endParaRPr lang="en-US" sz="1400" dirty="0">
                        <a:latin typeface="Inter" charset="0"/>
                        <a:ea typeface="Inter" charset="0"/>
                        <a:cs typeface="Inter" charset="0"/>
                      </a:endParaRPr>
                    </a:p>
                  </a:txBody>
                  <a:tcPr marL="127000" marR="1270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Neg</a:t>
                      </a:r>
                      <a:endParaRPr lang="en-US" sz="1400" dirty="0">
                        <a:latin typeface="Inter" charset="0"/>
                        <a:ea typeface="Inter" charset="0"/>
                        <a:cs typeface="Inter" charset="0"/>
                      </a:endParaRPr>
                    </a:p>
                  </a:txBody>
                  <a:tcPr marL="127000" marR="1270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0" cap="flat" cmpd="sng" algn="ctr">
                      <a:noFill/>
                    </a:lnB>
                    <a:solidFill>
                      <a:srgbClr val="FDFBF7"/>
                    </a:solidFill>
                  </a:tcPr>
                </a:tc>
                <a:extLst>
                  <a:ext uri="{0D108BD9-81ED-4DB2-BD59-A6C34878D82A}">
                    <a16:rowId xmlns:a16="http://schemas.microsoft.com/office/drawing/2014/main" val="10004"/>
                  </a:ext>
                </a:extLst>
              </a:tr>
            </a:tbl>
          </a:graphicData>
        </a:graphic>
      </p:graphicFrame>
      <p:sp>
        <p:nvSpPr>
          <p:cNvPr id="6" name="hep_b-text-5"/>
          <p:cNvSpPr/>
          <p:nvPr/>
        </p:nvSpPr>
        <p:spPr>
          <a:xfrm>
            <a:off x="762000" y="5461000"/>
            <a:ext cx="7112000" cy="762000"/>
          </a:xfrm>
          <a:prstGeom prst="rect">
            <a:avLst/>
          </a:prstGeom>
          <a:noFill/>
          <a:ln/>
        </p:spPr>
        <p:txBody>
          <a:bodyPr wrap="square" lIns="0" tIns="0" rIns="0" bIns="0" rtlCol="0" anchor="t"/>
          <a:lstStyle/>
          <a:p>
            <a:pPr marL="0" indent="0" algn="l">
              <a:lnSpc>
                <a:spcPts val="1820"/>
              </a:lnSpc>
              <a:buNone/>
            </a:pPr>
            <a:r>
              <a:rPr lang="en-US" sz="1300" i="1" dirty="0">
                <a:solidFill>
                  <a:srgbClr val="5C6B6D"/>
                </a:solidFill>
                <a:latin typeface="Inter" pitchFamily="34" charset="0"/>
                <a:ea typeface="Inter" pitchFamily="34" charset="-122"/>
                <a:cs typeface="Inter" pitchFamily="34" charset="-120"/>
              </a:rPr>
              <a:t>A positive HBsAg persisting beyond 6 months defines chronic infection.</a:t>
            </a:r>
            <a:endParaRPr lang="en-US" sz="1300" dirty="0"/>
          </a:p>
        </p:txBody>
      </p:sp>
      <p:sp>
        <p:nvSpPr>
          <p:cNvPr id="7" name="hep_b-shape-6"/>
          <p:cNvSpPr/>
          <p:nvPr/>
        </p:nvSpPr>
        <p:spPr>
          <a:xfrm>
            <a:off x="8382000" y="2159000"/>
            <a:ext cx="7112000" cy="5588000"/>
          </a:xfrm>
          <a:prstGeom prst="roundRect">
            <a:avLst>
              <a:gd name="adj" fmla="val 2273"/>
            </a:avLst>
          </a:prstGeom>
          <a:solidFill>
            <a:srgbClr val="0F4C5C"/>
          </a:solidFill>
          <a:ln/>
        </p:spPr>
        <p:txBody>
          <a:bodyPr/>
          <a:lstStyle/>
          <a:p>
            <a:endParaRPr lang="en-AU"/>
          </a:p>
        </p:txBody>
      </p:sp>
      <p:sp>
        <p:nvSpPr>
          <p:cNvPr id="8" name="hep_b-text-7"/>
          <p:cNvSpPr/>
          <p:nvPr/>
        </p:nvSpPr>
        <p:spPr>
          <a:xfrm>
            <a:off x="8763000" y="2514600"/>
            <a:ext cx="6350000" cy="3048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CHRONIC HEP B: ONGOING CARE</a:t>
            </a:r>
            <a:endParaRPr lang="en-US" sz="1600" dirty="0"/>
          </a:p>
        </p:txBody>
      </p:sp>
      <p:sp>
        <p:nvSpPr>
          <p:cNvPr id="9" name="hep_b-text-8"/>
          <p:cNvSpPr/>
          <p:nvPr/>
        </p:nvSpPr>
        <p:spPr>
          <a:xfrm>
            <a:off x="8763000" y="2997200"/>
            <a:ext cx="6350000" cy="4445000"/>
          </a:xfrm>
          <a:prstGeom prst="rect">
            <a:avLst/>
          </a:prstGeom>
          <a:noFill/>
          <a:ln/>
        </p:spPr>
        <p:txBody>
          <a:bodyPr wrap="square" lIns="0" tIns="0" rIns="0" bIns="0" rtlCol="0" anchor="t"/>
          <a:lstStyle/>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Stage with HBV DNA, HBeAg/anti-HBe, LFTs, FIB-4/elastography</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Antiviral therapy (e.g. entecavir, tenofovir) for active disease</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6–12 monthly HCC surveillance with ultrasound ± AFP if cirrhotic, Asian &gt;40M/50F, or family history</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Vaccinate household and sexual contacts</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Refer all confirmed chronic HBV to gastroenterology/hepatology for staging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hep_c-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VIRAL HEPATITIS 3 OF 3</a:t>
            </a:r>
            <a:endParaRPr lang="en-US" sz="1600" dirty="0"/>
          </a:p>
        </p:txBody>
      </p:sp>
      <p:sp>
        <p:nvSpPr>
          <p:cNvPr id="3" name="hep_c-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Hepatitis C: test, treat, cure</a:t>
            </a:r>
            <a:endParaRPr lang="en-US" sz="3200" dirty="0"/>
          </a:p>
        </p:txBody>
      </p:sp>
      <p:sp>
        <p:nvSpPr>
          <p:cNvPr id="4" name="hep_c-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18</a:t>
            </a:r>
            <a:endParaRPr lang="en-US" sz="1400" dirty="0"/>
          </a:p>
        </p:txBody>
      </p:sp>
      <p:sp>
        <p:nvSpPr>
          <p:cNvPr id="5" name="hep_c-shape-4"/>
          <p:cNvSpPr/>
          <p:nvPr/>
        </p:nvSpPr>
        <p:spPr>
          <a:xfrm>
            <a:off x="762000" y="2159000"/>
            <a:ext cx="7112000" cy="5588000"/>
          </a:xfrm>
          <a:prstGeom prst="roundRect">
            <a:avLst>
              <a:gd name="adj" fmla="val 2273"/>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hep_c-text-5"/>
          <p:cNvSpPr/>
          <p:nvPr/>
        </p:nvSpPr>
        <p:spPr>
          <a:xfrm>
            <a:off x="1143000" y="2514600"/>
            <a:ext cx="6350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Testing pathway</a:t>
            </a:r>
            <a:endParaRPr lang="en-US" sz="1800" dirty="0"/>
          </a:p>
        </p:txBody>
      </p:sp>
      <p:sp>
        <p:nvSpPr>
          <p:cNvPr id="7" name="hep_c-text-6"/>
          <p:cNvSpPr/>
          <p:nvPr/>
        </p:nvSpPr>
        <p:spPr>
          <a:xfrm>
            <a:off x="1143000" y="3022600"/>
            <a:ext cx="6350000" cy="4572000"/>
          </a:xfrm>
          <a:prstGeom prst="rect">
            <a:avLst/>
          </a:prstGeom>
          <a:noFill/>
          <a:ln/>
        </p:spPr>
        <p:txBody>
          <a:bodyPr wrap="square" lIns="0" tIns="0" rIns="0" bIns="0" rtlCol="0" anchor="t"/>
          <a:lstStyle/>
          <a:p>
            <a:pPr marL="238125" indent="-238125" algn="l">
              <a:lnSpc>
                <a:spcPts val="25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Screen with </a:t>
            </a:r>
            <a:r>
              <a:rPr lang="en-US" sz="1500" b="1" dirty="0">
                <a:solidFill>
                  <a:srgbClr val="1A2527"/>
                </a:solidFill>
                <a:latin typeface="Inter" pitchFamily="34" charset="0"/>
                <a:ea typeface="Inter" pitchFamily="34" charset="-122"/>
                <a:cs typeface="Inter" pitchFamily="34" charset="-120"/>
              </a:rPr>
              <a:t>anti-HCV antibody</a:t>
            </a:r>
            <a:r>
              <a:rPr lang="en-US" sz="1500" dirty="0">
                <a:solidFill>
                  <a:srgbClr val="1A2527"/>
                </a:solidFill>
                <a:latin typeface="Inter" pitchFamily="34" charset="0"/>
                <a:ea typeface="Inter" pitchFamily="34" charset="-122"/>
                <a:cs typeface="Inter" pitchFamily="34" charset="-120"/>
              </a:rPr>
              <a:t> — a positive result means past exposure, not necessarily current infection</a:t>
            </a:r>
            <a:endParaRPr lang="en-US" sz="1500" dirty="0"/>
          </a:p>
          <a:p>
            <a:pPr marL="238125" indent="-238125" algn="l">
              <a:lnSpc>
                <a:spcPts val="25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Confirm active infection with </a:t>
            </a:r>
            <a:r>
              <a:rPr lang="en-US" sz="1500" b="1" dirty="0">
                <a:solidFill>
                  <a:srgbClr val="1A2527"/>
                </a:solidFill>
                <a:latin typeface="Inter" pitchFamily="34" charset="0"/>
                <a:ea typeface="Inter" pitchFamily="34" charset="-122"/>
                <a:cs typeface="Inter" pitchFamily="34" charset="-120"/>
              </a:rPr>
              <a:t>HCV RNA (PCR)</a:t>
            </a:r>
            <a:endParaRPr lang="en-US" sz="1500" dirty="0"/>
          </a:p>
          <a:p>
            <a:pPr marL="238125" indent="-238125" algn="l">
              <a:lnSpc>
                <a:spcPts val="25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Antibody-positive, RNA-negative = cleared infection (spontaneously or after treatment)</a:t>
            </a:r>
            <a:endParaRPr lang="en-US" sz="1500" dirty="0"/>
          </a:p>
          <a:p>
            <a:pPr marL="238125" indent="-238125" algn="l">
              <a:lnSpc>
                <a:spcPts val="255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Consider in anyone with a history of injecting drug use, tattoos overseas, transfusion pre-1990, or incarceration</a:t>
            </a:r>
            <a:endParaRPr lang="en-US" sz="1500" dirty="0"/>
          </a:p>
        </p:txBody>
      </p:sp>
      <p:sp>
        <p:nvSpPr>
          <p:cNvPr id="8" name="hep_c-shape-7"/>
          <p:cNvSpPr/>
          <p:nvPr/>
        </p:nvSpPr>
        <p:spPr>
          <a:xfrm>
            <a:off x="8382000" y="2159000"/>
            <a:ext cx="7112000" cy="5588000"/>
          </a:xfrm>
          <a:prstGeom prst="roundRect">
            <a:avLst>
              <a:gd name="adj" fmla="val 2273"/>
            </a:avLst>
          </a:prstGeom>
          <a:solidFill>
            <a:srgbClr val="0F4C5C"/>
          </a:solidFill>
          <a:ln/>
        </p:spPr>
        <p:txBody>
          <a:bodyPr/>
          <a:lstStyle/>
          <a:p>
            <a:endParaRPr lang="en-AU"/>
          </a:p>
        </p:txBody>
      </p:sp>
      <p:sp>
        <p:nvSpPr>
          <p:cNvPr id="9" name="hep_c-text-8"/>
          <p:cNvSpPr/>
          <p:nvPr/>
        </p:nvSpPr>
        <p:spPr>
          <a:xfrm>
            <a:off x="8763000" y="2514600"/>
            <a:ext cx="6350000" cy="3048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CURATIVE DAA TREATMENT</a:t>
            </a:r>
            <a:endParaRPr lang="en-US" sz="1600" dirty="0"/>
          </a:p>
        </p:txBody>
      </p:sp>
      <p:sp>
        <p:nvSpPr>
          <p:cNvPr id="10" name="hep_c-text-9"/>
          <p:cNvSpPr/>
          <p:nvPr/>
        </p:nvSpPr>
        <p:spPr>
          <a:xfrm>
            <a:off x="8763000" y="2997200"/>
            <a:ext cx="6350000" cy="4572000"/>
          </a:xfrm>
          <a:prstGeom prst="rect">
            <a:avLst/>
          </a:prstGeom>
          <a:noFill/>
          <a:ln/>
        </p:spPr>
        <p:txBody>
          <a:bodyPr wrap="square" lIns="0" tIns="0" rIns="0" bIns="0" rtlCol="0" anchor="t"/>
          <a:lstStyle/>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Direct-acting antivirals (DAAs) cure &gt;95% of patients</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Typically an 8–12 week oral course, well tolerated</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PBS-subsidised and prescribable by GPs in most states after brief training, or refer to a specialist</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Confirm cure with HCV RNA 12 weeks after completing treatment (SVR12)</a:t>
            </a:r>
            <a:endParaRPr lang="en-US" sz="1500" dirty="0"/>
          </a:p>
          <a:p>
            <a:pPr marL="238125" indent="-238125" algn="l">
              <a:lnSpc>
                <a:spcPts val="2625"/>
              </a:lnSpc>
              <a:spcBef>
                <a:spcPts val="10"/>
              </a:spcBef>
              <a:buSzPct val="100000"/>
              <a:buChar char="•"/>
            </a:pPr>
            <a:r>
              <a:rPr lang="en-US" sz="1500" dirty="0">
                <a:solidFill>
                  <a:srgbClr val="FFFFFF"/>
                </a:solidFill>
                <a:latin typeface="Inter" pitchFamily="34" charset="0"/>
                <a:ea typeface="Inter" pitchFamily="34" charset="-122"/>
                <a:cs typeface="Inter" pitchFamily="34" charset="-120"/>
              </a:rPr>
              <a:t>Continue HCC surveillance if cirrhosis was present before cure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jaundice-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JAUNDICE ASSESSMENT</a:t>
            </a:r>
            <a:endParaRPr lang="en-US" sz="1600" dirty="0"/>
          </a:p>
        </p:txBody>
      </p:sp>
      <p:sp>
        <p:nvSpPr>
          <p:cNvPr id="3" name="jaundice-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Jaundice: pain changes everything</a:t>
            </a:r>
            <a:endParaRPr lang="en-US" sz="3600" dirty="0"/>
          </a:p>
        </p:txBody>
      </p:sp>
      <p:sp>
        <p:nvSpPr>
          <p:cNvPr id="4" name="jaundice-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19</a:t>
            </a:r>
            <a:endParaRPr lang="en-US" sz="1400" dirty="0"/>
          </a:p>
        </p:txBody>
      </p:sp>
      <p:sp>
        <p:nvSpPr>
          <p:cNvPr id="5" name="jaundice-shape-4"/>
          <p:cNvSpPr/>
          <p:nvPr/>
        </p:nvSpPr>
        <p:spPr>
          <a:xfrm>
            <a:off x="762000" y="2032000"/>
            <a:ext cx="7112000" cy="4826000"/>
          </a:xfrm>
          <a:prstGeom prst="roundRect">
            <a:avLst>
              <a:gd name="adj" fmla="val 263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6" name="jaundice-shape-5"/>
          <p:cNvSpPr/>
          <p:nvPr/>
        </p:nvSpPr>
        <p:spPr>
          <a:xfrm>
            <a:off x="762000" y="2032000"/>
            <a:ext cx="7112000" cy="101600"/>
          </a:xfrm>
          <a:prstGeom prst="rect">
            <a:avLst/>
          </a:prstGeom>
          <a:solidFill>
            <a:srgbClr val="E3A018"/>
          </a:solidFill>
          <a:ln/>
        </p:spPr>
        <p:txBody>
          <a:bodyPr/>
          <a:lstStyle/>
          <a:p>
            <a:endParaRPr lang="en-AU"/>
          </a:p>
        </p:txBody>
      </p:sp>
      <p:sp>
        <p:nvSpPr>
          <p:cNvPr id="7" name="jaundice-shape-6"/>
          <p:cNvSpPr/>
          <p:nvPr/>
        </p:nvSpPr>
        <p:spPr>
          <a:xfrm>
            <a:off x="1143000" y="2387600"/>
            <a:ext cx="558800" cy="558800"/>
          </a:xfrm>
          <a:prstGeom prst="ellipse">
            <a:avLst/>
          </a:prstGeom>
          <a:solidFill>
            <a:srgbClr val="E3A018"/>
          </a:solidFill>
          <a:ln/>
        </p:spPr>
        <p:txBody>
          <a:bodyPr/>
          <a:lstStyle/>
          <a:p>
            <a:endParaRPr lang="en-AU"/>
          </a:p>
        </p:txBody>
      </p:sp>
      <p:pic>
        <p:nvPicPr>
          <p:cNvPr id="8" name="jaundice-icon-7" descr="preencoded.png"/>
          <p:cNvPicPr>
            <a:picLocks noChangeAspect="1"/>
          </p:cNvPicPr>
          <p:nvPr/>
        </p:nvPicPr>
        <p:blipFill>
          <a:blip r:embed="rId3"/>
          <a:stretch>
            <a:fillRect/>
          </a:stretch>
        </p:blipFill>
        <p:spPr>
          <a:xfrm>
            <a:off x="1295400" y="2540000"/>
            <a:ext cx="254000" cy="254000"/>
          </a:xfrm>
          <a:prstGeom prst="rect">
            <a:avLst/>
          </a:prstGeom>
        </p:spPr>
      </p:pic>
      <p:sp>
        <p:nvSpPr>
          <p:cNvPr id="9" name="jaundice-text-8"/>
          <p:cNvSpPr/>
          <p:nvPr/>
        </p:nvSpPr>
        <p:spPr>
          <a:xfrm>
            <a:off x="1854200" y="2489200"/>
            <a:ext cx="5715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Painful jaundice</a:t>
            </a:r>
            <a:endParaRPr lang="en-US" sz="1800" dirty="0"/>
          </a:p>
        </p:txBody>
      </p:sp>
      <p:sp>
        <p:nvSpPr>
          <p:cNvPr id="10" name="jaundice-text-9"/>
          <p:cNvSpPr/>
          <p:nvPr/>
        </p:nvSpPr>
        <p:spPr>
          <a:xfrm>
            <a:off x="1143000" y="3149600"/>
            <a:ext cx="6350000" cy="3429000"/>
          </a:xfrm>
          <a:prstGeom prst="rect">
            <a:avLst/>
          </a:prstGeom>
          <a:noFill/>
          <a:ln/>
        </p:spPr>
        <p:txBody>
          <a:bodyPr wrap="square" lIns="0" tIns="0" rIns="0" bIns="0" rtlCol="0" anchor="t"/>
          <a:lstStyle/>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Suggests biliary obstruction — gallstones, choledocholithiasis, cholangitis</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Often with fever/rigors (Charcot's triad) — urgent</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Investigate with ultrasound ± MRCP, urgent surgical/gastro referral</a:t>
            </a:r>
            <a:endParaRPr lang="en-US" sz="1500" dirty="0"/>
          </a:p>
        </p:txBody>
      </p:sp>
      <p:sp>
        <p:nvSpPr>
          <p:cNvPr id="11" name="jaundice-shape-10"/>
          <p:cNvSpPr/>
          <p:nvPr/>
        </p:nvSpPr>
        <p:spPr>
          <a:xfrm>
            <a:off x="8382000" y="2032000"/>
            <a:ext cx="7112000" cy="4826000"/>
          </a:xfrm>
          <a:prstGeom prst="roundRect">
            <a:avLst>
              <a:gd name="adj" fmla="val 2632"/>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12" name="jaundice-shape-11"/>
          <p:cNvSpPr/>
          <p:nvPr/>
        </p:nvSpPr>
        <p:spPr>
          <a:xfrm>
            <a:off x="8382000" y="2032000"/>
            <a:ext cx="7112000" cy="101600"/>
          </a:xfrm>
          <a:prstGeom prst="rect">
            <a:avLst/>
          </a:prstGeom>
          <a:solidFill>
            <a:srgbClr val="D32F2F"/>
          </a:solidFill>
          <a:ln/>
        </p:spPr>
        <p:txBody>
          <a:bodyPr/>
          <a:lstStyle/>
          <a:p>
            <a:endParaRPr lang="en-AU"/>
          </a:p>
        </p:txBody>
      </p:sp>
      <p:sp>
        <p:nvSpPr>
          <p:cNvPr id="13" name="jaundice-shape-12"/>
          <p:cNvSpPr/>
          <p:nvPr/>
        </p:nvSpPr>
        <p:spPr>
          <a:xfrm>
            <a:off x="8763000" y="2387600"/>
            <a:ext cx="558800" cy="558800"/>
          </a:xfrm>
          <a:prstGeom prst="ellipse">
            <a:avLst/>
          </a:prstGeom>
          <a:solidFill>
            <a:srgbClr val="D32F2F"/>
          </a:solidFill>
          <a:ln/>
        </p:spPr>
        <p:txBody>
          <a:bodyPr/>
          <a:lstStyle/>
          <a:p>
            <a:endParaRPr lang="en-AU"/>
          </a:p>
        </p:txBody>
      </p:sp>
      <p:pic>
        <p:nvPicPr>
          <p:cNvPr id="14" name="jaundice-icon-13" descr="preencoded.png"/>
          <p:cNvPicPr>
            <a:picLocks noChangeAspect="1"/>
          </p:cNvPicPr>
          <p:nvPr/>
        </p:nvPicPr>
        <p:blipFill>
          <a:blip r:embed="rId4"/>
          <a:stretch>
            <a:fillRect/>
          </a:stretch>
        </p:blipFill>
        <p:spPr>
          <a:xfrm>
            <a:off x="8915400" y="2540000"/>
            <a:ext cx="254000" cy="254000"/>
          </a:xfrm>
          <a:prstGeom prst="rect">
            <a:avLst/>
          </a:prstGeom>
        </p:spPr>
      </p:pic>
      <p:sp>
        <p:nvSpPr>
          <p:cNvPr id="15" name="jaundice-text-14"/>
          <p:cNvSpPr/>
          <p:nvPr/>
        </p:nvSpPr>
        <p:spPr>
          <a:xfrm>
            <a:off x="9474200" y="2489200"/>
            <a:ext cx="5715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Painless jaundice</a:t>
            </a:r>
            <a:endParaRPr lang="en-US" sz="1800" dirty="0"/>
          </a:p>
        </p:txBody>
      </p:sp>
      <p:sp>
        <p:nvSpPr>
          <p:cNvPr id="16" name="jaundice-text-15"/>
          <p:cNvSpPr/>
          <p:nvPr/>
        </p:nvSpPr>
        <p:spPr>
          <a:xfrm>
            <a:off x="8763000" y="3149600"/>
            <a:ext cx="6350000" cy="3429000"/>
          </a:xfrm>
          <a:prstGeom prst="rect">
            <a:avLst/>
          </a:prstGeom>
          <a:noFill/>
          <a:ln/>
        </p:spPr>
        <p:txBody>
          <a:bodyPr wrap="square" lIns="0" tIns="0" rIns="0" bIns="0" rtlCol="0" anchor="t"/>
          <a:lstStyle/>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Higher suspicion for malignant obstruction — pancreatic, cholangiocarcinoma, ampullary</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Also seen with hepatocellular causes, haemolysis, or advanced cirrhosis</a:t>
            </a:r>
            <a:endParaRPr lang="en-US" sz="1500" dirty="0"/>
          </a:p>
          <a:p>
            <a:pPr marL="238125" indent="-238125" algn="l">
              <a:lnSpc>
                <a:spcPts val="2400"/>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Weight loss + painless jaundice = urgent same-week imaging and referral</a:t>
            </a:r>
            <a:endParaRPr lang="en-US" sz="1500" dirty="0"/>
          </a:p>
        </p:txBody>
      </p:sp>
      <p:sp>
        <p:nvSpPr>
          <p:cNvPr id="17" name="jaundice-shape-16"/>
          <p:cNvSpPr/>
          <p:nvPr/>
        </p:nvSpPr>
        <p:spPr>
          <a:xfrm>
            <a:off x="762000" y="7112000"/>
            <a:ext cx="14732000" cy="1143000"/>
          </a:xfrm>
          <a:prstGeom prst="roundRect">
            <a:avLst>
              <a:gd name="adj" fmla="val 11111"/>
            </a:avLst>
          </a:prstGeom>
          <a:solidFill>
            <a:srgbClr val="0F4C5C"/>
          </a:solidFill>
          <a:ln/>
        </p:spPr>
        <p:txBody>
          <a:bodyPr/>
          <a:lstStyle/>
          <a:p>
            <a:endParaRPr lang="en-AU"/>
          </a:p>
        </p:txBody>
      </p:sp>
      <p:sp>
        <p:nvSpPr>
          <p:cNvPr id="18" name="jaundice-text-17"/>
          <p:cNvSpPr/>
          <p:nvPr/>
        </p:nvSpPr>
        <p:spPr>
          <a:xfrm>
            <a:off x="1143000" y="7315200"/>
            <a:ext cx="381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RED FLAG</a:t>
            </a:r>
            <a:endParaRPr lang="en-US" sz="1600" dirty="0"/>
          </a:p>
        </p:txBody>
      </p:sp>
      <p:sp>
        <p:nvSpPr>
          <p:cNvPr id="19" name="jaundice-text-18"/>
          <p:cNvSpPr/>
          <p:nvPr/>
        </p:nvSpPr>
        <p:spPr>
          <a:xfrm>
            <a:off x="1143000" y="7645400"/>
            <a:ext cx="13970000" cy="5080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Inter" pitchFamily="34" charset="0"/>
                <a:ea typeface="Inter" pitchFamily="34" charset="-122"/>
                <a:cs typeface="Inter" pitchFamily="34" charset="-120"/>
              </a:rPr>
              <a:t>Any new jaundice — painful or painless — warrants urgent work-up. Do not wait for a routine referral slot.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ruq_pain-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RUQ PAIN ASSESSMENT</a:t>
            </a:r>
            <a:endParaRPr lang="en-US" sz="1600" dirty="0"/>
          </a:p>
        </p:txBody>
      </p:sp>
      <p:sp>
        <p:nvSpPr>
          <p:cNvPr id="3" name="ruq_pain-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RUQ pain + abnormal LFTs: think biliary first</a:t>
            </a:r>
            <a:endParaRPr lang="en-US" sz="3200" dirty="0"/>
          </a:p>
        </p:txBody>
      </p:sp>
      <p:sp>
        <p:nvSpPr>
          <p:cNvPr id="4" name="ruq_pain-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20</a:t>
            </a:r>
            <a:endParaRPr lang="en-US" sz="1400" dirty="0"/>
          </a:p>
        </p:txBody>
      </p:sp>
      <p:graphicFrame>
        <p:nvGraphicFramePr>
          <p:cNvPr id="21" name="ruq_pain-table-4"/>
          <p:cNvGraphicFramePr>
            <a:graphicFrameLocks noGrp="1"/>
          </p:cNvGraphicFramePr>
          <p:nvPr>
            <p:extLst>
              <p:ext uri="{D42A27DB-BD31-4B8C-83A1-F6EECF244321}">
                <p14:modId xmlns:p14="http://schemas.microsoft.com/office/powerpoint/2010/main" val="1579011935"/>
              </p:ext>
            </p:extLst>
          </p:nvPr>
        </p:nvGraphicFramePr>
        <p:xfrm>
          <a:off x="762000" y="2159000"/>
          <a:ext cx="7112000" cy="3556000"/>
        </p:xfrm>
        <a:graphic>
          <a:graphicData uri="http://schemas.openxmlformats.org/drawingml/2006/table">
            <a:tbl>
              <a:tblPr/>
              <a:tblGrid>
                <a:gridCol w="3047997">
                  <a:extLst>
                    <a:ext uri="{9D8B030D-6E8A-4147-A177-3AD203B41FA5}">
                      <a16:colId xmlns:a16="http://schemas.microsoft.com/office/drawing/2014/main" val="20000"/>
                    </a:ext>
                  </a:extLst>
                </a:gridCol>
                <a:gridCol w="4064003">
                  <a:extLst>
                    <a:ext uri="{9D8B030D-6E8A-4147-A177-3AD203B41FA5}">
                      <a16:colId xmlns:a16="http://schemas.microsoft.com/office/drawing/2014/main" val="20001"/>
                    </a:ext>
                  </a:extLst>
                </a:gridCol>
              </a:tblGrid>
              <a:tr h="711200">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Pattern</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Likely cause</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0" cap="flat" cmpd="sng" algn="ctr">
                      <a:noFill/>
                    </a:lnT>
                    <a:lnB w="12700" cap="flat" cmpd="sng" algn="ctr">
                      <a:solidFill>
                        <a:srgbClr val="E0DAD0"/>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7112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Cholestatic + colicky pain</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Choledocholithiasis</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1"/>
                  </a:ext>
                </a:extLst>
              </a:tr>
              <a:tr h="7112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Cholestatic + fever</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Ascending cholangitis</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2"/>
                  </a:ext>
                </a:extLst>
              </a:tr>
              <a:tr h="7112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Hepatocellular + tender liver</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Acute hepatitis / congestion</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3"/>
                  </a:ext>
                </a:extLst>
              </a:tr>
              <a:tr h="7112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Normal LFTs + pain</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Biliary colic (stone not impacted)</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0" cap="flat" cmpd="sng" algn="ctr">
                      <a:noFill/>
                    </a:lnB>
                    <a:solidFill>
                      <a:srgbClr val="FDFBF7"/>
                    </a:solidFill>
                  </a:tcPr>
                </a:tc>
                <a:extLst>
                  <a:ext uri="{0D108BD9-81ED-4DB2-BD59-A6C34878D82A}">
                    <a16:rowId xmlns:a16="http://schemas.microsoft.com/office/drawing/2014/main" val="10004"/>
                  </a:ext>
                </a:extLst>
              </a:tr>
            </a:tbl>
          </a:graphicData>
        </a:graphic>
      </p:graphicFrame>
      <p:sp>
        <p:nvSpPr>
          <p:cNvPr id="6" name="ruq_pain-shape-5"/>
          <p:cNvSpPr/>
          <p:nvPr/>
        </p:nvSpPr>
        <p:spPr>
          <a:xfrm>
            <a:off x="8382000" y="2159000"/>
            <a:ext cx="7112000" cy="5588000"/>
          </a:xfrm>
          <a:prstGeom prst="roundRect">
            <a:avLst>
              <a:gd name="adj" fmla="val 2273"/>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7" name="ruq_pain-text-6"/>
          <p:cNvSpPr/>
          <p:nvPr/>
        </p:nvSpPr>
        <p:spPr>
          <a:xfrm>
            <a:off x="8763000" y="2514600"/>
            <a:ext cx="6350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Practical GP workflow</a:t>
            </a:r>
            <a:endParaRPr lang="en-US" sz="1800" dirty="0"/>
          </a:p>
        </p:txBody>
      </p:sp>
      <p:sp>
        <p:nvSpPr>
          <p:cNvPr id="8" name="ruq_pain-text-7"/>
          <p:cNvSpPr/>
          <p:nvPr/>
        </p:nvSpPr>
        <p:spPr>
          <a:xfrm>
            <a:off x="8763000" y="3048000"/>
            <a:ext cx="6350000" cy="4445000"/>
          </a:xfrm>
          <a:prstGeom prst="rect">
            <a:avLst/>
          </a:prstGeom>
          <a:noFill/>
          <a:ln/>
        </p:spPr>
        <p:txBody>
          <a:bodyPr wrap="square" lIns="0" tIns="0" rIns="0" bIns="0" rtlCol="0" anchor="t"/>
          <a:lstStyle/>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First-line imaging: abdominal ultrasound (gallstones, duct dilation, liver texture)</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Fever + jaundice + RUQ pain (Charcot's triad) → same-day referral, possible cholangitis</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Normal ultrasound but high suspicion → MRCP for choledocholithiasis or biliary pathology</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Send LFTs, lipase and inflammatory markers alongside imaging</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Afebrile, mild pain, normal ultrasound → can trial conservative management with review</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dili_recognise-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DRUG-INDUCED LIVER INJURY 1 OF 2</a:t>
            </a:r>
            <a:endParaRPr lang="en-US" sz="1600" dirty="0"/>
          </a:p>
        </p:txBody>
      </p:sp>
      <p:sp>
        <p:nvSpPr>
          <p:cNvPr id="3" name="dili_recognise-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DILI: ask the right history</a:t>
            </a:r>
            <a:endParaRPr lang="en-US" sz="3200" dirty="0"/>
          </a:p>
        </p:txBody>
      </p:sp>
      <p:sp>
        <p:nvSpPr>
          <p:cNvPr id="4" name="dili_recognise-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21</a:t>
            </a:r>
            <a:endParaRPr lang="en-US" sz="1400" dirty="0"/>
          </a:p>
        </p:txBody>
      </p:sp>
      <p:graphicFrame>
        <p:nvGraphicFramePr>
          <p:cNvPr id="22" name="dili_recognise-table-4"/>
          <p:cNvGraphicFramePr>
            <a:graphicFrameLocks noGrp="1"/>
          </p:cNvGraphicFramePr>
          <p:nvPr>
            <p:extLst>
              <p:ext uri="{D42A27DB-BD31-4B8C-83A1-F6EECF244321}">
                <p14:modId xmlns:p14="http://schemas.microsoft.com/office/powerpoint/2010/main" val="1579011935"/>
              </p:ext>
            </p:extLst>
          </p:nvPr>
        </p:nvGraphicFramePr>
        <p:xfrm>
          <a:off x="762000" y="2159000"/>
          <a:ext cx="7112000" cy="3810000"/>
        </p:xfrm>
        <a:graphic>
          <a:graphicData uri="http://schemas.openxmlformats.org/drawingml/2006/table">
            <a:tbl>
              <a:tblPr/>
              <a:tblGrid>
                <a:gridCol w="2793999">
                  <a:extLst>
                    <a:ext uri="{9D8B030D-6E8A-4147-A177-3AD203B41FA5}">
                      <a16:colId xmlns:a16="http://schemas.microsoft.com/office/drawing/2014/main" val="20000"/>
                    </a:ext>
                  </a:extLst>
                </a:gridCol>
                <a:gridCol w="4318001">
                  <a:extLst>
                    <a:ext uri="{9D8B030D-6E8A-4147-A177-3AD203B41FA5}">
                      <a16:colId xmlns:a16="http://schemas.microsoft.com/office/drawing/2014/main" val="20001"/>
                    </a:ext>
                  </a:extLst>
                </a:gridCol>
              </a:tblGrid>
              <a:tr h="762000">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Pattern</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Common culprits</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0" cap="flat" cmpd="sng" algn="ctr">
                      <a:noFill/>
                    </a:lnT>
                    <a:lnB w="12700" cap="flat" cmpd="sng" algn="ctr">
                      <a:solidFill>
                        <a:srgbClr val="E0DAD0"/>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7620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Hepatocellular</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Paracetamol, statins, anti-TB drugs, methotrexate</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1"/>
                  </a:ext>
                </a:extLst>
              </a:tr>
              <a:tr h="7620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Cholestatic</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Augmentin, flucloxacillin, anabolic steroids</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2"/>
                  </a:ext>
                </a:extLst>
              </a:tr>
              <a:tr h="7620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Mixed</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Sulfonamides, NSAIDs, phenytoin</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3"/>
                  </a:ext>
                </a:extLst>
              </a:tr>
              <a:tr h="762000">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Herbal/supplement</a:t>
                      </a:r>
                      <a:endParaRPr lang="en-US" sz="1400" dirty="0">
                        <a:latin typeface="Inter" charset="0"/>
                        <a:ea typeface="Inter" charset="0"/>
                        <a:cs typeface="Inter" charset="0"/>
                      </a:endParaRPr>
                    </a:p>
                  </a:txBody>
                  <a:tcPr marL="152400" marR="1524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Green tea extract, bodybuilding supplements, kava</a:t>
                      </a:r>
                      <a:endParaRPr lang="en-US" sz="1400" dirty="0">
                        <a:latin typeface="Inter" charset="0"/>
                        <a:ea typeface="Inter" charset="0"/>
                        <a:cs typeface="Inter" charset="0"/>
                      </a:endParaRPr>
                    </a:p>
                  </a:txBody>
                  <a:tcPr marL="152400" marR="1524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0" cap="flat" cmpd="sng" algn="ctr">
                      <a:noFill/>
                    </a:lnB>
                    <a:solidFill>
                      <a:srgbClr val="FDFBF7"/>
                    </a:solidFill>
                  </a:tcPr>
                </a:tc>
                <a:extLst>
                  <a:ext uri="{0D108BD9-81ED-4DB2-BD59-A6C34878D82A}">
                    <a16:rowId xmlns:a16="http://schemas.microsoft.com/office/drawing/2014/main" val="10004"/>
                  </a:ext>
                </a:extLst>
              </a:tr>
            </a:tbl>
          </a:graphicData>
        </a:graphic>
      </p:graphicFrame>
      <p:sp>
        <p:nvSpPr>
          <p:cNvPr id="6" name="dili_recognise-shape-5"/>
          <p:cNvSpPr/>
          <p:nvPr/>
        </p:nvSpPr>
        <p:spPr>
          <a:xfrm>
            <a:off x="8382000" y="2159000"/>
            <a:ext cx="7112000" cy="5588000"/>
          </a:xfrm>
          <a:prstGeom prst="roundRect">
            <a:avLst>
              <a:gd name="adj" fmla="val 2273"/>
            </a:avLst>
          </a:prstGeom>
          <a:solidFill>
            <a:srgbClr val="FDFBF7"/>
          </a:solidFill>
          <a:ln/>
          <a:effectLst>
            <a:outerShdw blurRad="152400" dist="50800" dir="5400000" algn="bl" rotWithShape="0">
              <a:srgbClr val="000000">
                <a:alpha val="35000"/>
              </a:srgbClr>
            </a:outerShdw>
          </a:effectLst>
        </p:spPr>
        <p:txBody>
          <a:bodyPr/>
          <a:lstStyle/>
          <a:p>
            <a:endParaRPr lang="en-AU"/>
          </a:p>
        </p:txBody>
      </p:sp>
      <p:sp>
        <p:nvSpPr>
          <p:cNvPr id="7" name="dili_recognise-text-6"/>
          <p:cNvSpPr/>
          <p:nvPr/>
        </p:nvSpPr>
        <p:spPr>
          <a:xfrm>
            <a:off x="8763000" y="2514600"/>
            <a:ext cx="6350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The DILI history checklist</a:t>
            </a:r>
            <a:endParaRPr lang="en-US" sz="1800" dirty="0"/>
          </a:p>
        </p:txBody>
      </p:sp>
      <p:sp>
        <p:nvSpPr>
          <p:cNvPr id="8" name="dili_recognise-text-7"/>
          <p:cNvSpPr/>
          <p:nvPr/>
        </p:nvSpPr>
        <p:spPr>
          <a:xfrm>
            <a:off x="8763000" y="3048000"/>
            <a:ext cx="6350000" cy="4445000"/>
          </a:xfrm>
          <a:prstGeom prst="rect">
            <a:avLst/>
          </a:prstGeom>
          <a:noFill/>
          <a:ln/>
        </p:spPr>
        <p:txBody>
          <a:bodyPr wrap="square" lIns="0" tIns="0" rIns="0" bIns="0" rtlCol="0" anchor="t"/>
          <a:lstStyle/>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Every prescription, OTC medicine, herbal remedy and supplement — with start dates</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Temporal relationship: onset typically 1 to 12 weeks after starting the agent</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Any recent dose changes or new combinations</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Resolution on cessation supports the diagnosis (dechallenge)</a:t>
            </a:r>
            <a:endParaRPr lang="en-US" sz="1500" dirty="0"/>
          </a:p>
          <a:p>
            <a:pPr marL="238125" indent="-238125" algn="l">
              <a:lnSpc>
                <a:spcPts val="26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Exclude viral, autoimmune and biliary causes before attributing to a drug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dili_manage-text-1"/>
          <p:cNvSpPr/>
          <p:nvPr/>
        </p:nvSpPr>
        <p:spPr>
          <a:xfrm>
            <a:off x="762000" y="4572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DRUG-INDUCED LIVER INJURY 2 OF 2</a:t>
            </a:r>
            <a:endParaRPr lang="en-US" sz="1600" dirty="0"/>
          </a:p>
        </p:txBody>
      </p:sp>
      <p:sp>
        <p:nvSpPr>
          <p:cNvPr id="3" name="dili_manage-text-2"/>
          <p:cNvSpPr/>
          <p:nvPr/>
        </p:nvSpPr>
        <p:spPr>
          <a:xfrm>
            <a:off x="762000" y="762000"/>
            <a:ext cx="13970000" cy="711200"/>
          </a:xfrm>
          <a:prstGeom prst="rect">
            <a:avLst/>
          </a:prstGeom>
          <a:noFill/>
          <a:ln/>
        </p:spPr>
        <p:txBody>
          <a:bodyPr wrap="square" lIns="0" tIns="0" rIns="0" bIns="0" rtlCol="0" anchor="t"/>
          <a:lstStyle/>
          <a:p>
            <a:pPr marL="0" indent="0" algn="l">
              <a:buNone/>
            </a:pPr>
            <a:r>
              <a:rPr lang="en-US" sz="3200" dirty="0">
                <a:solidFill>
                  <a:srgbClr val="0F4C5C"/>
                </a:solidFill>
                <a:latin typeface="Lora" pitchFamily="34" charset="0"/>
                <a:ea typeface="Microsoft YaHei" pitchFamily="34" charset="-122"/>
                <a:cs typeface="Lora" pitchFamily="34" charset="-120"/>
              </a:rPr>
              <a:t>DILI management: stop, monitor, refer if needed</a:t>
            </a:r>
            <a:endParaRPr lang="en-US" sz="3200" dirty="0"/>
          </a:p>
        </p:txBody>
      </p:sp>
      <p:sp>
        <p:nvSpPr>
          <p:cNvPr id="4" name="dili_manage-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22</a:t>
            </a:r>
            <a:endParaRPr lang="en-US" sz="1400" dirty="0"/>
          </a:p>
        </p:txBody>
      </p:sp>
      <p:graphicFrame>
        <p:nvGraphicFramePr>
          <p:cNvPr id="23" name="dili_manage-table-4"/>
          <p:cNvGraphicFramePr>
            <a:graphicFrameLocks noGrp="1"/>
          </p:cNvGraphicFramePr>
          <p:nvPr>
            <p:extLst>
              <p:ext uri="{D42A27DB-BD31-4B8C-83A1-F6EECF244321}">
                <p14:modId xmlns:p14="http://schemas.microsoft.com/office/powerpoint/2010/main" val="1579011935"/>
              </p:ext>
            </p:extLst>
          </p:nvPr>
        </p:nvGraphicFramePr>
        <p:xfrm>
          <a:off x="762000" y="2159000"/>
          <a:ext cx="14224000" cy="4064000"/>
        </p:xfrm>
        <a:graphic>
          <a:graphicData uri="http://schemas.openxmlformats.org/drawingml/2006/table">
            <a:tbl>
              <a:tblPr/>
              <a:tblGrid>
                <a:gridCol w="3048004">
                  <a:extLst>
                    <a:ext uri="{9D8B030D-6E8A-4147-A177-3AD203B41FA5}">
                      <a16:colId xmlns:a16="http://schemas.microsoft.com/office/drawing/2014/main" val="20000"/>
                    </a:ext>
                  </a:extLst>
                </a:gridCol>
                <a:gridCol w="5587998">
                  <a:extLst>
                    <a:ext uri="{9D8B030D-6E8A-4147-A177-3AD203B41FA5}">
                      <a16:colId xmlns:a16="http://schemas.microsoft.com/office/drawing/2014/main" val="20001"/>
                    </a:ext>
                  </a:extLst>
                </a:gridCol>
                <a:gridCol w="5587998">
                  <a:extLst>
                    <a:ext uri="{9D8B030D-6E8A-4147-A177-3AD203B41FA5}">
                      <a16:colId xmlns:a16="http://schemas.microsoft.com/office/drawing/2014/main" val="20002"/>
                    </a:ext>
                  </a:extLst>
                </a:gridCol>
              </a:tblGrid>
              <a:tr h="1016000">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Severity</a:t>
                      </a:r>
                      <a:endParaRPr lang="en-US" sz="1400" dirty="0">
                        <a:latin typeface="Inter" charset="0"/>
                        <a:ea typeface="Inter" charset="0"/>
                        <a:cs typeface="Inter" charset="0"/>
                      </a:endParaRPr>
                    </a:p>
                  </a:txBody>
                  <a:tcPr marL="177800" marR="177800" marT="127000" marB="127000" anchor="ctr">
                    <a:lnL w="0" cap="flat" cmpd="sng" algn="ctr">
                      <a:noFill/>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Findings</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0" cap="flat" cmpd="sng" algn="ctr">
                      <a:noFill/>
                    </a:lnT>
                    <a:lnB w="12700" cap="flat" cmpd="sng" algn="ctr">
                      <a:solidFill>
                        <a:srgbClr val="E0DAD0"/>
                      </a:solidFill>
                      <a:prstDash val="solid"/>
                      <a:round/>
                      <a:headEnd type="none" w="med" len="med"/>
                      <a:tailEnd type="none" w="med" len="med"/>
                    </a:lnB>
                    <a:solidFill>
                      <a:srgbClr val="0F4C5C"/>
                    </a:solidFill>
                  </a:tcPr>
                </a:tc>
                <a:tc>
                  <a:txBody>
                    <a:bodyPr/>
                    <a:lstStyle/>
                    <a:p>
                      <a:pPr marL="0" indent="0" algn="l">
                        <a:buNone/>
                      </a:pPr>
                      <a:r>
                        <a:rPr lang="en-US" sz="1400" dirty="0">
                          <a:solidFill>
                            <a:srgbClr val="FFFFFF"/>
                          </a:solidFill>
                          <a:latin typeface="Inter" pitchFamily="34" charset="0"/>
                          <a:ea typeface="Inter" pitchFamily="34" charset="-122"/>
                          <a:cs typeface="Inter" pitchFamily="34" charset="-120"/>
                        </a:rPr>
                        <a:t>Action</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0" cap="flat" cmpd="sng" algn="ctr">
                      <a:noFill/>
                    </a:lnR>
                    <a:lnT w="0" cap="flat" cmpd="sng" algn="ctr">
                      <a:noFill/>
                    </a:lnT>
                    <a:lnB w="12700" cap="flat" cmpd="sng" algn="ctr">
                      <a:solidFill>
                        <a:srgbClr val="E0DAD0"/>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1016000">
                <a:tc>
                  <a:txBody>
                    <a:bodyPr/>
                    <a:lstStyle/>
                    <a:p>
                      <a:pPr marL="0" indent="0" algn="l">
                        <a:buNone/>
                      </a:pPr>
                      <a:r>
                        <a:rPr lang="en-US" sz="1400" b="1" dirty="0">
                          <a:solidFill>
                            <a:srgbClr val="1A2527"/>
                          </a:solidFill>
                          <a:latin typeface="Inter" pitchFamily="34" charset="0"/>
                          <a:ea typeface="Inter" pitchFamily="34" charset="-122"/>
                          <a:cs typeface="Inter" pitchFamily="34" charset="-120"/>
                        </a:rPr>
                        <a:t>Mild</a:t>
                      </a:r>
                      <a:endParaRPr lang="en-US" sz="1400" dirty="0">
                        <a:latin typeface="Inter" charset="0"/>
                        <a:ea typeface="Inter" charset="0"/>
                        <a:cs typeface="Inter" charset="0"/>
                      </a:endParaRPr>
                    </a:p>
                  </a:txBody>
                  <a:tcPr marL="177800" marR="1778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ALT/AST &lt;5× ULN, no jaundice</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Stop suspect agent, recheck LFTs in 1–2 weeks</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1"/>
                  </a:ext>
                </a:extLst>
              </a:tr>
              <a:tr h="1016000">
                <a:tc>
                  <a:txBody>
                    <a:bodyPr/>
                    <a:lstStyle/>
                    <a:p>
                      <a:pPr marL="0" indent="0" algn="l">
                        <a:buNone/>
                      </a:pPr>
                      <a:r>
                        <a:rPr lang="en-US" sz="1400" b="1" dirty="0">
                          <a:solidFill>
                            <a:srgbClr val="1A2527"/>
                          </a:solidFill>
                          <a:latin typeface="Inter" pitchFamily="34" charset="0"/>
                          <a:ea typeface="Inter" pitchFamily="34" charset="-122"/>
                          <a:cs typeface="Inter" pitchFamily="34" charset="-120"/>
                        </a:rPr>
                        <a:t>Moderate</a:t>
                      </a:r>
                      <a:endParaRPr lang="en-US" sz="1400" dirty="0">
                        <a:latin typeface="Inter" charset="0"/>
                        <a:ea typeface="Inter" charset="0"/>
                        <a:cs typeface="Inter" charset="0"/>
                      </a:endParaRPr>
                    </a:p>
                  </a:txBody>
                  <a:tcPr marL="177800" marR="1778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ALT/AST 5–10× ULN, or symptomatic</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Stop agent, weekly LFTs, consider referral</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12700" cap="flat" cmpd="sng" algn="ctr">
                      <a:solidFill>
                        <a:srgbClr val="E0DAD0"/>
                      </a:solidFill>
                      <a:prstDash val="solid"/>
                      <a:round/>
                      <a:headEnd type="none" w="med" len="med"/>
                      <a:tailEnd type="none" w="med" len="med"/>
                    </a:lnB>
                    <a:solidFill>
                      <a:srgbClr val="FDFBF7"/>
                    </a:solidFill>
                  </a:tcPr>
                </a:tc>
                <a:extLst>
                  <a:ext uri="{0D108BD9-81ED-4DB2-BD59-A6C34878D82A}">
                    <a16:rowId xmlns:a16="http://schemas.microsoft.com/office/drawing/2014/main" val="10002"/>
                  </a:ext>
                </a:extLst>
              </a:tr>
              <a:tr h="1016000">
                <a:tc>
                  <a:txBody>
                    <a:bodyPr/>
                    <a:lstStyle/>
                    <a:p>
                      <a:pPr marL="0" indent="0" algn="l">
                        <a:buNone/>
                      </a:pPr>
                      <a:r>
                        <a:rPr lang="en-US" sz="1400" b="1" dirty="0">
                          <a:solidFill>
                            <a:srgbClr val="1A2527"/>
                          </a:solidFill>
                          <a:latin typeface="Inter" pitchFamily="34" charset="0"/>
                          <a:ea typeface="Inter" pitchFamily="34" charset="-122"/>
                          <a:cs typeface="Inter" pitchFamily="34" charset="-120"/>
                        </a:rPr>
                        <a:t>Severe</a:t>
                      </a:r>
                      <a:endParaRPr lang="en-US" sz="1400" dirty="0">
                        <a:latin typeface="Inter" charset="0"/>
                        <a:ea typeface="Inter" charset="0"/>
                        <a:cs typeface="Inter" charset="0"/>
                      </a:endParaRPr>
                    </a:p>
                  </a:txBody>
                  <a:tcPr marL="177800" marR="177800" marT="127000" marB="127000" anchor="ctr">
                    <a:lnL w="0" cap="flat" cmpd="sng" algn="ctr">
                      <a:noFill/>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ADCDC"/>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Jaundice + coagulopathy (Hy's Law)</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12700" cap="flat" cmpd="sng" algn="ctr">
                      <a:solidFill>
                        <a:srgbClr val="E0DAD0"/>
                      </a:solidFill>
                      <a:prstDash val="solid"/>
                      <a:round/>
                      <a:headEnd type="none" w="med" len="med"/>
                      <a:tailEnd type="none" w="med" len="med"/>
                    </a:lnR>
                    <a:lnT w="12700" cap="flat" cmpd="sng" algn="ctr">
                      <a:solidFill>
                        <a:srgbClr val="E0DAD0"/>
                      </a:solidFill>
                      <a:prstDash val="solid"/>
                      <a:round/>
                      <a:headEnd type="none" w="med" len="med"/>
                      <a:tailEnd type="none" w="med" len="med"/>
                    </a:lnT>
                    <a:lnB w="0" cap="flat" cmpd="sng" algn="ctr">
                      <a:noFill/>
                    </a:lnB>
                    <a:solidFill>
                      <a:srgbClr val="FADCDC"/>
                    </a:solidFill>
                  </a:tcPr>
                </a:tc>
                <a:tc>
                  <a:txBody>
                    <a:bodyPr/>
                    <a:lstStyle/>
                    <a:p>
                      <a:pPr marL="0" indent="0" algn="l">
                        <a:buNone/>
                      </a:pPr>
                      <a:r>
                        <a:rPr lang="en-US" sz="1400" dirty="0">
                          <a:solidFill>
                            <a:srgbClr val="1A2527"/>
                          </a:solidFill>
                          <a:latin typeface="Inter" pitchFamily="34" charset="0"/>
                          <a:ea typeface="Inter" pitchFamily="34" charset="-122"/>
                          <a:cs typeface="Inter" pitchFamily="34" charset="-120"/>
                        </a:rPr>
                        <a:t>Urgent hospital referral — risk of acute liver failure</a:t>
                      </a:r>
                      <a:endParaRPr lang="en-US" sz="1400" dirty="0">
                        <a:latin typeface="Inter" charset="0"/>
                        <a:ea typeface="Inter" charset="0"/>
                        <a:cs typeface="Inter" charset="0"/>
                      </a:endParaRPr>
                    </a:p>
                  </a:txBody>
                  <a:tcPr marL="177800" marR="177800" marT="127000" marB="127000" anchor="ctr">
                    <a:lnL w="12700" cap="flat" cmpd="sng" algn="ctr">
                      <a:solidFill>
                        <a:srgbClr val="E0DAD0"/>
                      </a:solidFill>
                      <a:prstDash val="solid"/>
                      <a:round/>
                      <a:headEnd type="none" w="med" len="med"/>
                      <a:tailEnd type="none" w="med" len="med"/>
                    </a:lnL>
                    <a:lnR w="0" cap="flat" cmpd="sng" algn="ctr">
                      <a:noFill/>
                    </a:lnR>
                    <a:lnT w="12700" cap="flat" cmpd="sng" algn="ctr">
                      <a:solidFill>
                        <a:srgbClr val="E0DAD0"/>
                      </a:solidFill>
                      <a:prstDash val="solid"/>
                      <a:round/>
                      <a:headEnd type="none" w="med" len="med"/>
                      <a:tailEnd type="none" w="med" len="med"/>
                    </a:lnT>
                    <a:lnB w="0" cap="flat" cmpd="sng" algn="ctr">
                      <a:noFill/>
                    </a:lnB>
                    <a:solidFill>
                      <a:srgbClr val="FADCDC"/>
                    </a:solidFill>
                  </a:tcPr>
                </a:tc>
                <a:extLst>
                  <a:ext uri="{0D108BD9-81ED-4DB2-BD59-A6C34878D82A}">
                    <a16:rowId xmlns:a16="http://schemas.microsoft.com/office/drawing/2014/main" val="10003"/>
                  </a:ext>
                </a:extLst>
              </a:tr>
            </a:tbl>
          </a:graphicData>
        </a:graphic>
      </p:graphicFrame>
      <p:sp>
        <p:nvSpPr>
          <p:cNvPr id="6" name="dili_manage-shape-5"/>
          <p:cNvSpPr/>
          <p:nvPr/>
        </p:nvSpPr>
        <p:spPr>
          <a:xfrm>
            <a:off x="762000" y="6604000"/>
            <a:ext cx="14224000" cy="1524000"/>
          </a:xfrm>
          <a:prstGeom prst="roundRect">
            <a:avLst>
              <a:gd name="adj" fmla="val 8333"/>
            </a:avLst>
          </a:prstGeom>
          <a:solidFill>
            <a:srgbClr val="D32F2F"/>
          </a:solidFill>
          <a:ln/>
        </p:spPr>
        <p:txBody>
          <a:bodyPr/>
          <a:lstStyle/>
          <a:p>
            <a:endParaRPr lang="en-AU"/>
          </a:p>
        </p:txBody>
      </p:sp>
      <p:sp>
        <p:nvSpPr>
          <p:cNvPr id="7" name="dili_manage-text-6"/>
          <p:cNvSpPr/>
          <p:nvPr/>
        </p:nvSpPr>
        <p:spPr>
          <a:xfrm>
            <a:off x="1143000" y="6858000"/>
            <a:ext cx="3810000" cy="279400"/>
          </a:xfrm>
          <a:prstGeom prst="rect">
            <a:avLst/>
          </a:prstGeom>
          <a:noFill/>
          <a:ln/>
        </p:spPr>
        <p:txBody>
          <a:bodyPr wrap="square" lIns="0" tIns="0" rIns="0" bIns="0" rtlCol="0" anchor="t"/>
          <a:lstStyle/>
          <a:p>
            <a:pPr marL="0" indent="0" algn="l">
              <a:buNone/>
            </a:pPr>
            <a:r>
              <a:rPr lang="en-US" sz="1600" dirty="0">
                <a:solidFill>
                  <a:srgbClr val="FFFFFF"/>
                </a:solidFill>
                <a:latin typeface="Inter" pitchFamily="34" charset="0"/>
                <a:ea typeface="Inter" pitchFamily="34" charset="-122"/>
                <a:cs typeface="Inter" pitchFamily="34" charset="-120"/>
              </a:rPr>
              <a:t>HY'S LAW</a:t>
            </a:r>
            <a:endParaRPr lang="en-US" sz="1600" dirty="0"/>
          </a:p>
        </p:txBody>
      </p:sp>
      <p:sp>
        <p:nvSpPr>
          <p:cNvPr id="8" name="dili_manage-text-7"/>
          <p:cNvSpPr/>
          <p:nvPr/>
        </p:nvSpPr>
        <p:spPr>
          <a:xfrm>
            <a:off x="1143000" y="7188200"/>
            <a:ext cx="13462000" cy="762000"/>
          </a:xfrm>
          <a:prstGeom prst="rect">
            <a:avLst/>
          </a:prstGeom>
          <a:noFill/>
          <a:ln/>
        </p:spPr>
        <p:txBody>
          <a:bodyPr wrap="square" lIns="0" tIns="0" rIns="0" bIns="0" rtlCol="0" anchor="t"/>
          <a:lstStyle/>
          <a:p>
            <a:pPr marL="0" indent="0" algn="l">
              <a:lnSpc>
                <a:spcPts val="2175"/>
              </a:lnSpc>
              <a:buNone/>
            </a:pPr>
            <a:r>
              <a:rPr lang="en-US" sz="1500" dirty="0">
                <a:solidFill>
                  <a:srgbClr val="FFFFFF"/>
                </a:solidFill>
                <a:latin typeface="Inter" pitchFamily="34" charset="0"/>
                <a:ea typeface="Inter" pitchFamily="34" charset="-122"/>
                <a:cs typeface="Inter" pitchFamily="34" charset="-120"/>
              </a:rPr>
              <a:t>ALT/AST &gt;3× ULN </a:t>
            </a:r>
            <a:r>
              <a:rPr lang="en-US" sz="1500" b="1" dirty="0">
                <a:solidFill>
                  <a:srgbClr val="FFFFFF"/>
                </a:solidFill>
                <a:latin typeface="Inter" pitchFamily="34" charset="0"/>
                <a:ea typeface="Inter" pitchFamily="34" charset="-122"/>
                <a:cs typeface="Inter" pitchFamily="34" charset="-120"/>
              </a:rPr>
              <a:t>plus</a:t>
            </a:r>
            <a:r>
              <a:rPr lang="en-US" sz="1500" dirty="0">
                <a:solidFill>
                  <a:srgbClr val="FFFFFF"/>
                </a:solidFill>
                <a:latin typeface="Inter" pitchFamily="34" charset="0"/>
                <a:ea typeface="Inter" pitchFamily="34" charset="-122"/>
                <a:cs typeface="Inter" pitchFamily="34" charset="-120"/>
              </a:rPr>
              <a:t> bilirubin &gt;2× ULN (without cholestasis) predicts roughly a 10% risk of fatal or transplant-requiring liver failure — this combination demands urgent same-day escalation.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a:effectLst/>
      </p:bgPr>
    </p:bg>
    <p:spTree>
      <p:nvGrpSpPr>
        <p:cNvPr id="1" name=""/>
        <p:cNvGrpSpPr/>
        <p:nvPr/>
      </p:nvGrpSpPr>
      <p:grpSpPr>
        <a:xfrm>
          <a:off x="0" y="0"/>
          <a:ext cx="0" cy="0"/>
          <a:chOff x="0" y="0"/>
          <a:chExt cx="0" cy="0"/>
        </a:xfrm>
      </p:grpSpPr>
      <p:sp>
        <p:nvSpPr>
          <p:cNvPr id="2" name="case3-shape-1"/>
          <p:cNvSpPr/>
          <p:nvPr/>
        </p:nvSpPr>
        <p:spPr>
          <a:xfrm>
            <a:off x="12446000" y="-1270000"/>
            <a:ext cx="5334000" cy="5334000"/>
          </a:xfrm>
          <a:prstGeom prst="ellipse">
            <a:avLst/>
          </a:prstGeom>
          <a:solidFill>
            <a:srgbClr val="FFFFFF">
              <a:alpha val="6000"/>
            </a:srgbClr>
          </a:solidFill>
          <a:ln/>
        </p:spPr>
        <p:txBody>
          <a:bodyPr/>
          <a:lstStyle/>
          <a:p>
            <a:endParaRPr lang="en-AU"/>
          </a:p>
        </p:txBody>
      </p:sp>
      <p:sp>
        <p:nvSpPr>
          <p:cNvPr id="3" name="case3-shape-2"/>
          <p:cNvSpPr/>
          <p:nvPr/>
        </p:nvSpPr>
        <p:spPr>
          <a:xfrm>
            <a:off x="13970000" y="3048000"/>
            <a:ext cx="4064000" cy="4064000"/>
          </a:xfrm>
          <a:prstGeom prst="ellipse">
            <a:avLst/>
          </a:prstGeom>
          <a:solidFill>
            <a:srgbClr val="FFFFFF">
              <a:alpha val="5000"/>
            </a:srgbClr>
          </a:solidFill>
          <a:ln/>
        </p:spPr>
        <p:txBody>
          <a:bodyPr/>
          <a:lstStyle/>
          <a:p>
            <a:endParaRPr lang="en-AU"/>
          </a:p>
        </p:txBody>
      </p:sp>
      <p:sp>
        <p:nvSpPr>
          <p:cNvPr id="4" name="case3-text-3"/>
          <p:cNvSpPr/>
          <p:nvPr/>
        </p:nvSpPr>
        <p:spPr>
          <a:xfrm>
            <a:off x="762000" y="6350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CASE STUDY 3</a:t>
            </a:r>
            <a:endParaRPr lang="en-US" sz="1600" dirty="0"/>
          </a:p>
        </p:txBody>
      </p:sp>
      <p:sp>
        <p:nvSpPr>
          <p:cNvPr id="5" name="case3-text-4"/>
          <p:cNvSpPr/>
          <p:nvPr/>
        </p:nvSpPr>
        <p:spPr>
          <a:xfrm>
            <a:off x="762000" y="965200"/>
            <a:ext cx="11430000" cy="711200"/>
          </a:xfrm>
          <a:prstGeom prst="rect">
            <a:avLst/>
          </a:prstGeom>
          <a:noFill/>
          <a:ln/>
        </p:spPr>
        <p:txBody>
          <a:bodyPr wrap="square" lIns="0" tIns="0" rIns="0" bIns="0" rtlCol="0" anchor="t"/>
          <a:lstStyle/>
          <a:p>
            <a:pPr marL="0" indent="0" algn="l">
              <a:buNone/>
            </a:pPr>
            <a:r>
              <a:rPr lang="en-US" sz="3400" dirty="0">
                <a:solidFill>
                  <a:srgbClr val="FFFFFF"/>
                </a:solidFill>
                <a:latin typeface="Lora" pitchFamily="34" charset="0"/>
                <a:ea typeface="Microsoft YaHei" pitchFamily="34" charset="-122"/>
                <a:cs typeface="Lora" pitchFamily="34" charset="-120"/>
              </a:rPr>
              <a:t>The unwell traveller</a:t>
            </a:r>
            <a:endParaRPr lang="en-US" sz="3400" dirty="0"/>
          </a:p>
        </p:txBody>
      </p:sp>
      <p:sp>
        <p:nvSpPr>
          <p:cNvPr id="6" name="case3-shape-5"/>
          <p:cNvSpPr/>
          <p:nvPr/>
        </p:nvSpPr>
        <p:spPr>
          <a:xfrm>
            <a:off x="14325600" y="635000"/>
            <a:ext cx="660400" cy="660400"/>
          </a:xfrm>
          <a:prstGeom prst="ellipse">
            <a:avLst/>
          </a:prstGeom>
          <a:solidFill>
            <a:srgbClr val="E3A018"/>
          </a:solidFill>
          <a:ln/>
        </p:spPr>
        <p:txBody>
          <a:bodyPr/>
          <a:lstStyle/>
          <a:p>
            <a:endParaRPr lang="en-AU"/>
          </a:p>
        </p:txBody>
      </p:sp>
      <p:pic>
        <p:nvPicPr>
          <p:cNvPr id="7" name="case3-icon-6" descr="preencoded.png"/>
          <p:cNvPicPr>
            <a:picLocks noChangeAspect="1"/>
          </p:cNvPicPr>
          <p:nvPr/>
        </p:nvPicPr>
        <p:blipFill>
          <a:blip r:embed="rId3"/>
          <a:stretch>
            <a:fillRect/>
          </a:stretch>
        </p:blipFill>
        <p:spPr>
          <a:xfrm>
            <a:off x="14490700" y="800100"/>
            <a:ext cx="330200" cy="330200"/>
          </a:xfrm>
          <a:prstGeom prst="rect">
            <a:avLst/>
          </a:prstGeom>
        </p:spPr>
      </p:pic>
      <p:sp>
        <p:nvSpPr>
          <p:cNvPr id="8" name="case3-shape-7"/>
          <p:cNvSpPr/>
          <p:nvPr/>
        </p:nvSpPr>
        <p:spPr>
          <a:xfrm>
            <a:off x="762000" y="2032000"/>
            <a:ext cx="6985000" cy="5207000"/>
          </a:xfrm>
          <a:prstGeom prst="roundRect">
            <a:avLst>
              <a:gd name="adj" fmla="val 2439"/>
            </a:avLst>
          </a:prstGeom>
          <a:solidFill>
            <a:srgbClr val="FFFFFF"/>
          </a:solidFill>
          <a:ln/>
        </p:spPr>
        <p:txBody>
          <a:bodyPr/>
          <a:lstStyle/>
          <a:p>
            <a:endParaRPr lang="en-AU"/>
          </a:p>
        </p:txBody>
      </p:sp>
      <p:sp>
        <p:nvSpPr>
          <p:cNvPr id="9" name="case3-text-8"/>
          <p:cNvSpPr/>
          <p:nvPr/>
        </p:nvSpPr>
        <p:spPr>
          <a:xfrm>
            <a:off x="1143000" y="2387600"/>
            <a:ext cx="6223000" cy="355600"/>
          </a:xfrm>
          <a:prstGeom prst="rect">
            <a:avLst/>
          </a:prstGeom>
          <a:noFill/>
          <a:ln/>
        </p:spPr>
        <p:txBody>
          <a:bodyPr wrap="square" lIns="0" tIns="0" rIns="0" bIns="0" rtlCol="0" anchor="t"/>
          <a:lstStyle/>
          <a:p>
            <a:pPr marL="0" indent="0" algn="l">
              <a:buNone/>
            </a:pPr>
            <a:r>
              <a:rPr lang="en-US" sz="1800" b="1" dirty="0">
                <a:solidFill>
                  <a:srgbClr val="0F4C5C"/>
                </a:solidFill>
                <a:latin typeface="Inter" pitchFamily="34" charset="0"/>
                <a:ea typeface="Inter" pitchFamily="34" charset="-122"/>
                <a:cs typeface="Inter" pitchFamily="34" charset="-120"/>
              </a:rPr>
              <a:t>Clinical vignette</a:t>
            </a:r>
            <a:endParaRPr lang="en-US" sz="1800" dirty="0"/>
          </a:p>
        </p:txBody>
      </p:sp>
      <p:sp>
        <p:nvSpPr>
          <p:cNvPr id="10" name="case3-text-9"/>
          <p:cNvSpPr/>
          <p:nvPr/>
        </p:nvSpPr>
        <p:spPr>
          <a:xfrm>
            <a:off x="1143000" y="2946400"/>
            <a:ext cx="6223000" cy="4064000"/>
          </a:xfrm>
          <a:prstGeom prst="rect">
            <a:avLst/>
          </a:prstGeom>
          <a:noFill/>
          <a:ln/>
        </p:spPr>
        <p:txBody>
          <a:bodyPr wrap="square" lIns="0" tIns="0" rIns="0" bIns="0" rtlCol="0" anchor="t"/>
          <a:lstStyle/>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34F, 3 weeks of malaise, now jaundiced</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ALT 1850, AST 1600, bilirubin 95, INR 1.6</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Recently returned from overseas travel; takes herbal supplements</a:t>
            </a:r>
            <a:endParaRPr lang="en-US" sz="1500" dirty="0"/>
          </a:p>
          <a:p>
            <a:pPr marL="238125" indent="-238125" algn="l">
              <a:lnSpc>
                <a:spcPts val="2325"/>
              </a:lnSpc>
              <a:spcBef>
                <a:spcPts val="10"/>
              </a:spcBef>
              <a:buSzPct val="100000"/>
              <a:buChar char="•"/>
            </a:pPr>
            <a:r>
              <a:rPr lang="en-US" sz="1500" dirty="0">
                <a:solidFill>
                  <a:srgbClr val="1A2527"/>
                </a:solidFill>
                <a:latin typeface="Inter" pitchFamily="34" charset="0"/>
                <a:ea typeface="Inter" pitchFamily="34" charset="-122"/>
                <a:cs typeface="Inter" pitchFamily="34" charset="-120"/>
              </a:rPr>
              <a:t>Drowsy and confused on review today</a:t>
            </a:r>
            <a:endParaRPr lang="en-US" sz="1500" dirty="0"/>
          </a:p>
        </p:txBody>
      </p:sp>
      <p:sp>
        <p:nvSpPr>
          <p:cNvPr id="11" name="case3-shape-10"/>
          <p:cNvSpPr/>
          <p:nvPr/>
        </p:nvSpPr>
        <p:spPr>
          <a:xfrm>
            <a:off x="8255000" y="2032000"/>
            <a:ext cx="7239000" cy="1397000"/>
          </a:xfrm>
          <a:prstGeom prst="roundRect">
            <a:avLst>
              <a:gd name="adj" fmla="val 9091"/>
            </a:avLst>
          </a:prstGeom>
          <a:solidFill>
            <a:srgbClr val="D32F2F"/>
          </a:solidFill>
          <a:ln/>
        </p:spPr>
        <p:txBody>
          <a:bodyPr/>
          <a:lstStyle/>
          <a:p>
            <a:endParaRPr lang="en-AU"/>
          </a:p>
        </p:txBody>
      </p:sp>
      <p:sp>
        <p:nvSpPr>
          <p:cNvPr id="12" name="case3-text-11"/>
          <p:cNvSpPr/>
          <p:nvPr/>
        </p:nvSpPr>
        <p:spPr>
          <a:xfrm>
            <a:off x="8610600" y="2311400"/>
            <a:ext cx="6527800" cy="889000"/>
          </a:xfrm>
          <a:prstGeom prst="rect">
            <a:avLst/>
          </a:prstGeom>
          <a:noFill/>
          <a:ln/>
        </p:spPr>
        <p:txBody>
          <a:bodyPr wrap="square" lIns="0" tIns="0" rIns="0" bIns="0" rtlCol="0" anchor="ctr"/>
          <a:lstStyle/>
          <a:p>
            <a:pPr marL="0" indent="0" algn="l">
              <a:buNone/>
            </a:pPr>
            <a:r>
              <a:rPr lang="en-US" sz="1900" b="1" dirty="0">
                <a:solidFill>
                  <a:srgbClr val="FFFFFF"/>
                </a:solidFill>
                <a:latin typeface="Inter" pitchFamily="34" charset="0"/>
                <a:ea typeface="Inter" pitchFamily="34" charset="-122"/>
                <a:cs typeface="Inter" pitchFamily="34" charset="-120"/>
              </a:rPr>
              <a:t>What's the priority?</a:t>
            </a:r>
            <a:endParaRPr lang="en-US" sz="1900" dirty="0"/>
          </a:p>
        </p:txBody>
      </p:sp>
      <p:sp>
        <p:nvSpPr>
          <p:cNvPr id="13" name="case3-shape-12"/>
          <p:cNvSpPr/>
          <p:nvPr/>
        </p:nvSpPr>
        <p:spPr>
          <a:xfrm>
            <a:off x="8255000" y="3683000"/>
            <a:ext cx="7239000" cy="3556000"/>
          </a:xfrm>
          <a:prstGeom prst="roundRect">
            <a:avLst>
              <a:gd name="adj" fmla="val 3571"/>
            </a:avLst>
          </a:prstGeom>
          <a:solidFill>
            <a:srgbClr val="0F4C5C"/>
          </a:solidFill>
          <a:ln w="25400">
            <a:solidFill>
              <a:srgbClr val="E3A018"/>
            </a:solidFill>
            <a:prstDash val="solid"/>
          </a:ln>
        </p:spPr>
        <p:txBody>
          <a:bodyPr/>
          <a:lstStyle/>
          <a:p>
            <a:endParaRPr lang="en-AU"/>
          </a:p>
        </p:txBody>
      </p:sp>
      <p:sp>
        <p:nvSpPr>
          <p:cNvPr id="14" name="case3-text-13"/>
          <p:cNvSpPr/>
          <p:nvPr/>
        </p:nvSpPr>
        <p:spPr>
          <a:xfrm>
            <a:off x="8610600" y="4013200"/>
            <a:ext cx="635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DISCUSSION</a:t>
            </a:r>
            <a:endParaRPr lang="en-US" sz="1600" dirty="0"/>
          </a:p>
        </p:txBody>
      </p:sp>
      <p:sp>
        <p:nvSpPr>
          <p:cNvPr id="15" name="case3-text-14"/>
          <p:cNvSpPr/>
          <p:nvPr/>
        </p:nvSpPr>
        <p:spPr>
          <a:xfrm>
            <a:off x="8610600" y="4419600"/>
            <a:ext cx="6527800" cy="2667000"/>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latin typeface="Inter" pitchFamily="34" charset="0"/>
                <a:ea typeface="Inter" pitchFamily="34" charset="-122"/>
                <a:cs typeface="Inter" pitchFamily="34" charset="-120"/>
              </a:rPr>
              <a:t>Marked hepatocellular injury plus synthetic dysfunction (INR 1.6) and encephalopathy = possible acute liver failure. This is an emergency — don't investigate slowly in the community; arrange immediate hospital transfer.</a:t>
            </a:r>
            <a:endParaRPr lang="en-US" sz="1600" dirty="0"/>
          </a:p>
        </p:txBody>
      </p:sp>
      <p:sp>
        <p:nvSpPr>
          <p:cNvPr id="16" name="case3-text-15"/>
          <p:cNvSpPr/>
          <p:nvPr/>
        </p:nvSpPr>
        <p:spPr>
          <a:xfrm>
            <a:off x="14986000" y="8610600"/>
            <a:ext cx="762000" cy="254000"/>
          </a:xfrm>
          <a:prstGeom prst="rect">
            <a:avLst/>
          </a:prstGeom>
          <a:noFill/>
          <a:ln/>
        </p:spPr>
        <p:txBody>
          <a:bodyPr wrap="square" lIns="0" tIns="0" rIns="0" bIns="0" rtlCol="0" anchor="t"/>
          <a:lstStyle/>
          <a:p>
            <a:pPr marL="0" indent="0" algn="r">
              <a:buNone/>
            </a:pPr>
            <a:r>
              <a:rPr lang="en-US" sz="1400" dirty="0">
                <a:solidFill>
                  <a:srgbClr val="B9C7C7"/>
                </a:solidFill>
                <a:latin typeface="Inter" pitchFamily="34" charset="0"/>
                <a:ea typeface="Inter" pitchFamily="34" charset="-122"/>
                <a:cs typeface="Inter"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4C5C"/>
        </a:solidFill>
        <a:effectLst/>
      </p:bgPr>
    </p:bg>
    <p:spTree>
      <p:nvGrpSpPr>
        <p:cNvPr id="1" name=""/>
        <p:cNvGrpSpPr/>
        <p:nvPr/>
      </p:nvGrpSpPr>
      <p:grpSpPr>
        <a:xfrm>
          <a:off x="0" y="0"/>
          <a:ext cx="0" cy="0"/>
          <a:chOff x="0" y="0"/>
          <a:chExt cx="0" cy="0"/>
        </a:xfrm>
      </p:grpSpPr>
      <p:sp>
        <p:nvSpPr>
          <p:cNvPr id="2" name="take_home-shape-1"/>
          <p:cNvSpPr/>
          <p:nvPr/>
        </p:nvSpPr>
        <p:spPr>
          <a:xfrm>
            <a:off x="12700000" y="-1524000"/>
            <a:ext cx="5334000" cy="5334000"/>
          </a:xfrm>
          <a:prstGeom prst="ellipse">
            <a:avLst/>
          </a:prstGeom>
          <a:solidFill>
            <a:srgbClr val="FFFFFF">
              <a:alpha val="5000"/>
            </a:srgbClr>
          </a:solidFill>
          <a:ln/>
        </p:spPr>
        <p:txBody>
          <a:bodyPr/>
          <a:lstStyle/>
          <a:p>
            <a:endParaRPr lang="en-AU"/>
          </a:p>
        </p:txBody>
      </p:sp>
      <p:sp>
        <p:nvSpPr>
          <p:cNvPr id="3" name="take_home-text-2"/>
          <p:cNvSpPr/>
          <p:nvPr/>
        </p:nvSpPr>
        <p:spPr>
          <a:xfrm>
            <a:off x="762000" y="558800"/>
            <a:ext cx="889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THE 60-SECOND VERSION</a:t>
            </a:r>
            <a:endParaRPr lang="en-US" sz="1600" dirty="0"/>
          </a:p>
        </p:txBody>
      </p:sp>
      <p:sp>
        <p:nvSpPr>
          <p:cNvPr id="4" name="take_home-text-3"/>
          <p:cNvSpPr/>
          <p:nvPr/>
        </p:nvSpPr>
        <p:spPr>
          <a:xfrm>
            <a:off x="762000" y="889000"/>
            <a:ext cx="12700000" cy="711200"/>
          </a:xfrm>
          <a:prstGeom prst="rect">
            <a:avLst/>
          </a:prstGeom>
          <a:noFill/>
          <a:ln/>
        </p:spPr>
        <p:txBody>
          <a:bodyPr wrap="square" lIns="0" tIns="0" rIns="0" bIns="0" rtlCol="0" anchor="t"/>
          <a:lstStyle/>
          <a:p>
            <a:pPr marL="0" indent="0" algn="l">
              <a:buNone/>
            </a:pPr>
            <a:r>
              <a:rPr lang="en-US" sz="3400" dirty="0">
                <a:solidFill>
                  <a:srgbClr val="FFFFFF"/>
                </a:solidFill>
                <a:latin typeface="Lora" pitchFamily="34" charset="0"/>
                <a:ea typeface="Microsoft YaHei" pitchFamily="34" charset="-122"/>
                <a:cs typeface="Lora" pitchFamily="34" charset="-120"/>
              </a:rPr>
              <a:t>Six things to take home</a:t>
            </a:r>
            <a:endParaRPr lang="en-US" sz="3400" dirty="0"/>
          </a:p>
        </p:txBody>
      </p:sp>
      <p:sp>
        <p:nvSpPr>
          <p:cNvPr id="5" name="take_home-text-4"/>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B9C7C7"/>
                </a:solidFill>
                <a:latin typeface="Inter" pitchFamily="34" charset="0"/>
                <a:ea typeface="Inter" pitchFamily="34" charset="-122"/>
                <a:cs typeface="Inter" pitchFamily="34" charset="-120"/>
              </a:rPr>
              <a:t>24</a:t>
            </a:r>
            <a:endParaRPr lang="en-US" sz="1400" dirty="0"/>
          </a:p>
        </p:txBody>
      </p:sp>
      <p:sp>
        <p:nvSpPr>
          <p:cNvPr id="6" name="take_home-shape-5"/>
          <p:cNvSpPr/>
          <p:nvPr/>
        </p:nvSpPr>
        <p:spPr>
          <a:xfrm>
            <a:off x="762000" y="2159000"/>
            <a:ext cx="558800" cy="558800"/>
          </a:xfrm>
          <a:prstGeom prst="ellipse">
            <a:avLst/>
          </a:prstGeom>
          <a:solidFill>
            <a:srgbClr val="E3A018"/>
          </a:solidFill>
          <a:ln/>
        </p:spPr>
        <p:txBody>
          <a:bodyPr/>
          <a:lstStyle/>
          <a:p>
            <a:endParaRPr lang="en-AU"/>
          </a:p>
        </p:txBody>
      </p:sp>
      <p:sp>
        <p:nvSpPr>
          <p:cNvPr id="7" name="take_home-text-6"/>
          <p:cNvSpPr/>
          <p:nvPr/>
        </p:nvSpPr>
        <p:spPr>
          <a:xfrm>
            <a:off x="762000" y="231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1</a:t>
            </a:r>
            <a:endParaRPr lang="en-US" sz="1800" dirty="0"/>
          </a:p>
        </p:txBody>
      </p:sp>
      <p:sp>
        <p:nvSpPr>
          <p:cNvPr id="8" name="take_home-text-7"/>
          <p:cNvSpPr/>
          <p:nvPr/>
        </p:nvSpPr>
        <p:spPr>
          <a:xfrm>
            <a:off x="1524000" y="218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Pattern and magnitude first — hepatocellular, cholestatic, or mixed</a:t>
            </a:r>
            <a:endParaRPr lang="en-US" sz="1600" dirty="0"/>
          </a:p>
        </p:txBody>
      </p:sp>
      <p:sp>
        <p:nvSpPr>
          <p:cNvPr id="9" name="take_home-shape-8"/>
          <p:cNvSpPr/>
          <p:nvPr/>
        </p:nvSpPr>
        <p:spPr>
          <a:xfrm>
            <a:off x="762000" y="3429000"/>
            <a:ext cx="558800" cy="558800"/>
          </a:xfrm>
          <a:prstGeom prst="ellipse">
            <a:avLst/>
          </a:prstGeom>
          <a:solidFill>
            <a:srgbClr val="E3A018"/>
          </a:solidFill>
          <a:ln/>
        </p:spPr>
        <p:txBody>
          <a:bodyPr/>
          <a:lstStyle/>
          <a:p>
            <a:endParaRPr lang="en-AU"/>
          </a:p>
        </p:txBody>
      </p:sp>
      <p:sp>
        <p:nvSpPr>
          <p:cNvPr id="10" name="take_home-text-9"/>
          <p:cNvSpPr/>
          <p:nvPr/>
        </p:nvSpPr>
        <p:spPr>
          <a:xfrm>
            <a:off x="762000" y="358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2</a:t>
            </a:r>
            <a:endParaRPr lang="en-US" sz="1800" dirty="0"/>
          </a:p>
        </p:txBody>
      </p:sp>
      <p:sp>
        <p:nvSpPr>
          <p:cNvPr id="11" name="take_home-text-10"/>
          <p:cNvSpPr/>
          <p:nvPr/>
        </p:nvSpPr>
        <p:spPr>
          <a:xfrm>
            <a:off x="1524000" y="345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MASLD, alcohol, drugs and viral hepatitis cover most cases</a:t>
            </a:r>
            <a:endParaRPr lang="en-US" sz="1600" dirty="0"/>
          </a:p>
        </p:txBody>
      </p:sp>
      <p:sp>
        <p:nvSpPr>
          <p:cNvPr id="12" name="take_home-shape-11"/>
          <p:cNvSpPr/>
          <p:nvPr/>
        </p:nvSpPr>
        <p:spPr>
          <a:xfrm>
            <a:off x="762000" y="4699000"/>
            <a:ext cx="558800" cy="558800"/>
          </a:xfrm>
          <a:prstGeom prst="ellipse">
            <a:avLst/>
          </a:prstGeom>
          <a:solidFill>
            <a:srgbClr val="E3A018"/>
          </a:solidFill>
          <a:ln/>
        </p:spPr>
        <p:txBody>
          <a:bodyPr/>
          <a:lstStyle/>
          <a:p>
            <a:endParaRPr lang="en-AU"/>
          </a:p>
        </p:txBody>
      </p:sp>
      <p:sp>
        <p:nvSpPr>
          <p:cNvPr id="13" name="take_home-text-12"/>
          <p:cNvSpPr/>
          <p:nvPr/>
        </p:nvSpPr>
        <p:spPr>
          <a:xfrm>
            <a:off x="762000" y="485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3</a:t>
            </a:r>
            <a:endParaRPr lang="en-US" sz="1800" dirty="0"/>
          </a:p>
        </p:txBody>
      </p:sp>
      <p:sp>
        <p:nvSpPr>
          <p:cNvPr id="14" name="take_home-text-13"/>
          <p:cNvSpPr/>
          <p:nvPr/>
        </p:nvSpPr>
        <p:spPr>
          <a:xfrm>
            <a:off x="1524000" y="472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Fibrosis stage — not the ALT number — is what predicts outcomes</a:t>
            </a:r>
            <a:endParaRPr lang="en-US" sz="1600" dirty="0"/>
          </a:p>
        </p:txBody>
      </p:sp>
      <p:sp>
        <p:nvSpPr>
          <p:cNvPr id="15" name="take_home-shape-14"/>
          <p:cNvSpPr/>
          <p:nvPr/>
        </p:nvSpPr>
        <p:spPr>
          <a:xfrm>
            <a:off x="8382000" y="2159000"/>
            <a:ext cx="558800" cy="558800"/>
          </a:xfrm>
          <a:prstGeom prst="ellipse">
            <a:avLst/>
          </a:prstGeom>
          <a:solidFill>
            <a:srgbClr val="E3A018"/>
          </a:solidFill>
          <a:ln/>
        </p:spPr>
        <p:txBody>
          <a:bodyPr/>
          <a:lstStyle/>
          <a:p>
            <a:endParaRPr lang="en-AU"/>
          </a:p>
        </p:txBody>
      </p:sp>
      <p:sp>
        <p:nvSpPr>
          <p:cNvPr id="16" name="take_home-text-15"/>
          <p:cNvSpPr/>
          <p:nvPr/>
        </p:nvSpPr>
        <p:spPr>
          <a:xfrm>
            <a:off x="8382000" y="231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4</a:t>
            </a:r>
            <a:endParaRPr lang="en-US" sz="1800" dirty="0"/>
          </a:p>
        </p:txBody>
      </p:sp>
      <p:sp>
        <p:nvSpPr>
          <p:cNvPr id="17" name="take_home-text-16"/>
          <p:cNvSpPr/>
          <p:nvPr/>
        </p:nvSpPr>
        <p:spPr>
          <a:xfrm>
            <a:off x="9144000" y="218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Use FIB-4 to triage: &lt;1.3 reassure, &gt;2.67 refer, in between investigate</a:t>
            </a:r>
            <a:endParaRPr lang="en-US" sz="1600" dirty="0"/>
          </a:p>
        </p:txBody>
      </p:sp>
      <p:sp>
        <p:nvSpPr>
          <p:cNvPr id="18" name="take_home-shape-17"/>
          <p:cNvSpPr/>
          <p:nvPr/>
        </p:nvSpPr>
        <p:spPr>
          <a:xfrm>
            <a:off x="8382000" y="3429000"/>
            <a:ext cx="558800" cy="558800"/>
          </a:xfrm>
          <a:prstGeom prst="ellipse">
            <a:avLst/>
          </a:prstGeom>
          <a:solidFill>
            <a:srgbClr val="E3A018"/>
          </a:solidFill>
          <a:ln/>
        </p:spPr>
        <p:txBody>
          <a:bodyPr/>
          <a:lstStyle/>
          <a:p>
            <a:endParaRPr lang="en-AU"/>
          </a:p>
        </p:txBody>
      </p:sp>
      <p:sp>
        <p:nvSpPr>
          <p:cNvPr id="19" name="take_home-text-18"/>
          <p:cNvSpPr/>
          <p:nvPr/>
        </p:nvSpPr>
        <p:spPr>
          <a:xfrm>
            <a:off x="8382000" y="358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5</a:t>
            </a:r>
            <a:endParaRPr lang="en-US" sz="1800" dirty="0"/>
          </a:p>
        </p:txBody>
      </p:sp>
      <p:sp>
        <p:nvSpPr>
          <p:cNvPr id="20" name="take_home-text-19"/>
          <p:cNvSpPr/>
          <p:nvPr/>
        </p:nvSpPr>
        <p:spPr>
          <a:xfrm>
            <a:off x="9144000" y="345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Know the red flags that mean urgent referral, not routine review</a:t>
            </a:r>
            <a:endParaRPr lang="en-US" sz="1600" dirty="0"/>
          </a:p>
        </p:txBody>
      </p:sp>
      <p:sp>
        <p:nvSpPr>
          <p:cNvPr id="21" name="take_home-shape-20"/>
          <p:cNvSpPr/>
          <p:nvPr/>
        </p:nvSpPr>
        <p:spPr>
          <a:xfrm>
            <a:off x="8382000" y="4699000"/>
            <a:ext cx="558800" cy="558800"/>
          </a:xfrm>
          <a:prstGeom prst="ellipse">
            <a:avLst/>
          </a:prstGeom>
          <a:solidFill>
            <a:srgbClr val="E3A018"/>
          </a:solidFill>
          <a:ln/>
        </p:spPr>
        <p:txBody>
          <a:bodyPr/>
          <a:lstStyle/>
          <a:p>
            <a:endParaRPr lang="en-AU"/>
          </a:p>
        </p:txBody>
      </p:sp>
      <p:sp>
        <p:nvSpPr>
          <p:cNvPr id="22" name="take_home-text-21"/>
          <p:cNvSpPr/>
          <p:nvPr/>
        </p:nvSpPr>
        <p:spPr>
          <a:xfrm>
            <a:off x="8382000" y="4851400"/>
            <a:ext cx="558800" cy="304800"/>
          </a:xfrm>
          <a:prstGeom prst="rect">
            <a:avLst/>
          </a:prstGeom>
          <a:noFill/>
          <a:ln/>
        </p:spPr>
        <p:txBody>
          <a:bodyPr wrap="square" lIns="0" tIns="0" rIns="0" bIns="0" rtlCol="0" anchor="t"/>
          <a:lstStyle/>
          <a:p>
            <a:pPr marL="0" indent="0" algn="ctr">
              <a:buNone/>
            </a:pPr>
            <a:r>
              <a:rPr lang="en-US" sz="1800" b="1" dirty="0">
                <a:solidFill>
                  <a:srgbClr val="0F4C5C"/>
                </a:solidFill>
                <a:latin typeface="Inter" pitchFamily="34" charset="0"/>
                <a:ea typeface="Inter" pitchFamily="34" charset="-122"/>
                <a:cs typeface="Inter" pitchFamily="34" charset="-120"/>
              </a:rPr>
              <a:t>6</a:t>
            </a:r>
            <a:endParaRPr lang="en-US" sz="1800" dirty="0"/>
          </a:p>
        </p:txBody>
      </p:sp>
      <p:sp>
        <p:nvSpPr>
          <p:cNvPr id="23" name="take_home-text-22"/>
          <p:cNvSpPr/>
          <p:nvPr/>
        </p:nvSpPr>
        <p:spPr>
          <a:xfrm>
            <a:off x="9144000" y="4724400"/>
            <a:ext cx="6350000" cy="762000"/>
          </a:xfrm>
          <a:prstGeom prst="rect">
            <a:avLst/>
          </a:prstGeom>
          <a:noFill/>
          <a:ln/>
        </p:spPr>
        <p:txBody>
          <a:bodyPr wrap="square" lIns="0" tIns="0" rIns="0" bIns="0" rtlCol="0" anchor="t"/>
          <a:lstStyle/>
          <a:p>
            <a:pPr marL="0" indent="0" algn="l">
              <a:lnSpc>
                <a:spcPts val="2240"/>
              </a:lnSpc>
              <a:buNone/>
            </a:pPr>
            <a:r>
              <a:rPr lang="en-US" sz="1600" dirty="0">
                <a:solidFill>
                  <a:srgbClr val="FFFFFF"/>
                </a:solidFill>
                <a:latin typeface="Inter" pitchFamily="34" charset="0"/>
                <a:ea typeface="Inter" pitchFamily="34" charset="-122"/>
                <a:cs typeface="Inter" pitchFamily="34" charset="-120"/>
              </a:rPr>
              <a:t>Order a targeted liver screen, and refer the right patients — not all of them</a:t>
            </a:r>
            <a:endParaRPr lang="en-US" sz="1600" dirty="0"/>
          </a:p>
        </p:txBody>
      </p:sp>
      <p:sp>
        <p:nvSpPr>
          <p:cNvPr id="24" name="take_home-shape-23"/>
          <p:cNvSpPr/>
          <p:nvPr/>
        </p:nvSpPr>
        <p:spPr>
          <a:xfrm>
            <a:off x="762000" y="6350000"/>
            <a:ext cx="14224000" cy="1524000"/>
          </a:xfrm>
          <a:prstGeom prst="roundRect">
            <a:avLst>
              <a:gd name="adj" fmla="val 8333"/>
            </a:avLst>
          </a:prstGeom>
          <a:solidFill>
            <a:srgbClr val="0F4C5C"/>
          </a:solidFill>
          <a:ln w="25400">
            <a:solidFill>
              <a:srgbClr val="E3A018"/>
            </a:solidFill>
            <a:prstDash val="solid"/>
          </a:ln>
        </p:spPr>
        <p:txBody>
          <a:bodyPr/>
          <a:lstStyle/>
          <a:p>
            <a:endParaRPr lang="en-AU"/>
          </a:p>
        </p:txBody>
      </p:sp>
      <p:sp>
        <p:nvSpPr>
          <p:cNvPr id="25" name="take_home-text-24"/>
          <p:cNvSpPr/>
          <p:nvPr/>
        </p:nvSpPr>
        <p:spPr>
          <a:xfrm>
            <a:off x="1143000" y="6629400"/>
            <a:ext cx="13462000" cy="965200"/>
          </a:xfrm>
          <a:prstGeom prst="rect">
            <a:avLst/>
          </a:prstGeom>
          <a:noFill/>
          <a:ln/>
        </p:spPr>
        <p:txBody>
          <a:bodyPr wrap="square" lIns="0" tIns="0" rIns="0" bIns="0" rtlCol="0" anchor="ctr"/>
          <a:lstStyle/>
          <a:p>
            <a:pPr marL="0" indent="0" algn="l">
              <a:lnSpc>
                <a:spcPts val="2550"/>
              </a:lnSpc>
              <a:buNone/>
            </a:pPr>
            <a:r>
              <a:rPr lang="en-US" sz="1700" dirty="0">
                <a:solidFill>
                  <a:srgbClr val="FFFFFF"/>
                </a:solidFill>
                <a:latin typeface="Inter" pitchFamily="34" charset="0"/>
                <a:ea typeface="Inter" pitchFamily="34" charset="-122"/>
                <a:cs typeface="Inter" pitchFamily="34" charset="-120"/>
              </a:rPr>
              <a:t>Most abnormal LFTs are manageable in primary care — the skill is knowing which ones aren't.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4C5C"/>
        </a:solidFill>
        <a:effectLst/>
      </p:bgPr>
    </p:bg>
    <p:spTree>
      <p:nvGrpSpPr>
        <p:cNvPr id="1" name=""/>
        <p:cNvGrpSpPr/>
        <p:nvPr/>
      </p:nvGrpSpPr>
      <p:grpSpPr>
        <a:xfrm>
          <a:off x="0" y="0"/>
          <a:ext cx="0" cy="0"/>
          <a:chOff x="0" y="0"/>
          <a:chExt cx="0" cy="0"/>
        </a:xfrm>
      </p:grpSpPr>
      <p:sp>
        <p:nvSpPr>
          <p:cNvPr id="2" name="qa-shape-1"/>
          <p:cNvSpPr/>
          <p:nvPr/>
        </p:nvSpPr>
        <p:spPr>
          <a:xfrm>
            <a:off x="-1270000" y="-1270000"/>
            <a:ext cx="5334000" cy="5334000"/>
          </a:xfrm>
          <a:prstGeom prst="ellipse">
            <a:avLst/>
          </a:prstGeom>
          <a:solidFill>
            <a:srgbClr val="FFFFFF">
              <a:alpha val="5000"/>
            </a:srgbClr>
          </a:solidFill>
          <a:ln/>
        </p:spPr>
        <p:txBody>
          <a:bodyPr/>
          <a:lstStyle/>
          <a:p>
            <a:endParaRPr lang="en-AU"/>
          </a:p>
        </p:txBody>
      </p:sp>
      <p:sp>
        <p:nvSpPr>
          <p:cNvPr id="3" name="qa-shape-2"/>
          <p:cNvSpPr/>
          <p:nvPr/>
        </p:nvSpPr>
        <p:spPr>
          <a:xfrm>
            <a:off x="12446000" y="6096000"/>
            <a:ext cx="5334000" cy="5334000"/>
          </a:xfrm>
          <a:prstGeom prst="ellipse">
            <a:avLst/>
          </a:prstGeom>
          <a:solidFill>
            <a:srgbClr val="FFFFFF">
              <a:alpha val="5000"/>
            </a:srgbClr>
          </a:solidFill>
          <a:ln/>
        </p:spPr>
        <p:txBody>
          <a:bodyPr/>
          <a:lstStyle/>
          <a:p>
            <a:endParaRPr lang="en-AU"/>
          </a:p>
        </p:txBody>
      </p:sp>
      <p:sp>
        <p:nvSpPr>
          <p:cNvPr id="4" name="qa-shape-3"/>
          <p:cNvSpPr/>
          <p:nvPr/>
        </p:nvSpPr>
        <p:spPr>
          <a:xfrm>
            <a:off x="7493000" y="1651000"/>
            <a:ext cx="1270000" cy="1270000"/>
          </a:xfrm>
          <a:prstGeom prst="ellipse">
            <a:avLst/>
          </a:prstGeom>
          <a:solidFill>
            <a:srgbClr val="E3A018"/>
          </a:solidFill>
          <a:ln/>
        </p:spPr>
        <p:txBody>
          <a:bodyPr/>
          <a:lstStyle/>
          <a:p>
            <a:endParaRPr lang="en-AU"/>
          </a:p>
        </p:txBody>
      </p:sp>
      <p:sp>
        <p:nvSpPr>
          <p:cNvPr id="5" name="qa-text-4"/>
          <p:cNvSpPr/>
          <p:nvPr/>
        </p:nvSpPr>
        <p:spPr>
          <a:xfrm>
            <a:off x="7493000" y="1930400"/>
            <a:ext cx="1270000" cy="762000"/>
          </a:xfrm>
          <a:prstGeom prst="rect">
            <a:avLst/>
          </a:prstGeom>
          <a:noFill/>
          <a:ln/>
        </p:spPr>
        <p:txBody>
          <a:bodyPr wrap="square" lIns="0" tIns="0" rIns="0" bIns="0" rtlCol="0" anchor="t"/>
          <a:lstStyle/>
          <a:p>
            <a:pPr marL="0" indent="0" algn="ctr">
              <a:buNone/>
            </a:pPr>
            <a:r>
              <a:rPr lang="en-US" sz="4400" dirty="0">
                <a:solidFill>
                  <a:srgbClr val="0F4C5C"/>
                </a:solidFill>
                <a:latin typeface="Lora" pitchFamily="34" charset="0"/>
                <a:ea typeface="Microsoft YaHei" pitchFamily="34" charset="-122"/>
                <a:cs typeface="Lora" pitchFamily="34" charset="-120"/>
              </a:rPr>
              <a:t>?</a:t>
            </a:r>
            <a:endParaRPr lang="en-US" sz="4400" dirty="0"/>
          </a:p>
        </p:txBody>
      </p:sp>
      <p:sp>
        <p:nvSpPr>
          <p:cNvPr id="6" name="qa-text-5"/>
          <p:cNvSpPr/>
          <p:nvPr/>
        </p:nvSpPr>
        <p:spPr>
          <a:xfrm>
            <a:off x="1778000" y="3302000"/>
            <a:ext cx="12700000" cy="889000"/>
          </a:xfrm>
          <a:prstGeom prst="rect">
            <a:avLst/>
          </a:prstGeom>
          <a:noFill/>
          <a:ln/>
        </p:spPr>
        <p:txBody>
          <a:bodyPr wrap="square" lIns="0" tIns="0" rIns="0" bIns="0" rtlCol="0" anchor="t"/>
          <a:lstStyle/>
          <a:p>
            <a:pPr marL="0" indent="0" algn="ctr">
              <a:buNone/>
            </a:pPr>
            <a:r>
              <a:rPr lang="en-US" sz="4400" dirty="0">
                <a:solidFill>
                  <a:srgbClr val="FFFFFF"/>
                </a:solidFill>
                <a:latin typeface="Lora" pitchFamily="34" charset="0"/>
                <a:ea typeface="Microsoft YaHei" pitchFamily="34" charset="-122"/>
                <a:cs typeface="Lora" pitchFamily="34" charset="-120"/>
              </a:rPr>
              <a:t>Questions &amp; Discussion</a:t>
            </a:r>
            <a:endParaRPr lang="en-US" sz="4400" dirty="0"/>
          </a:p>
        </p:txBody>
      </p:sp>
      <p:sp>
        <p:nvSpPr>
          <p:cNvPr id="7" name="qa-text-6"/>
          <p:cNvSpPr/>
          <p:nvPr/>
        </p:nvSpPr>
        <p:spPr>
          <a:xfrm>
            <a:off x="1778000" y="4216400"/>
            <a:ext cx="12700000" cy="508000"/>
          </a:xfrm>
          <a:prstGeom prst="rect">
            <a:avLst/>
          </a:prstGeom>
          <a:noFill/>
          <a:ln/>
        </p:spPr>
        <p:txBody>
          <a:bodyPr wrap="square" lIns="0" tIns="0" rIns="0" bIns="0" rtlCol="0" anchor="t"/>
          <a:lstStyle/>
          <a:p>
            <a:pPr marL="0" indent="0" algn="ctr">
              <a:buNone/>
            </a:pPr>
            <a:r>
              <a:rPr lang="en-US" sz="2000" i="1" dirty="0">
                <a:solidFill>
                  <a:srgbClr val="E3A018"/>
                </a:solidFill>
                <a:latin typeface="Inter" pitchFamily="34" charset="0"/>
                <a:ea typeface="Inter" pitchFamily="34" charset="-122"/>
                <a:cs typeface="Inter" pitchFamily="34" charset="-120"/>
              </a:rPr>
              <a:t>Thank you</a:t>
            </a:r>
            <a:endParaRPr lang="en-US" sz="2000" dirty="0"/>
          </a:p>
        </p:txBody>
      </p:sp>
      <p:sp>
        <p:nvSpPr>
          <p:cNvPr id="8" name="qa-shape-7"/>
          <p:cNvSpPr/>
          <p:nvPr/>
        </p:nvSpPr>
        <p:spPr>
          <a:xfrm>
            <a:off x="6858000" y="4978400"/>
            <a:ext cx="2540000" cy="9144"/>
          </a:xfrm>
          <a:prstGeom prst="line">
            <a:avLst/>
          </a:prstGeom>
          <a:ln w="25400">
            <a:solidFill>
              <a:srgbClr val="E3A018"/>
            </a:solidFill>
            <a:prstDash val="solid"/>
          </a:ln>
        </p:spPr>
        <p:txBody>
          <a:bodyPr/>
          <a:lstStyle/>
          <a:p>
            <a:endParaRPr lang="en-AU"/>
          </a:p>
        </p:txBody>
      </p:sp>
      <p:sp>
        <p:nvSpPr>
          <p:cNvPr id="9" name="qa-text-8"/>
          <p:cNvSpPr/>
          <p:nvPr/>
        </p:nvSpPr>
        <p:spPr>
          <a:xfrm>
            <a:off x="1778000" y="5283200"/>
            <a:ext cx="12700000" cy="381000"/>
          </a:xfrm>
          <a:prstGeom prst="rect">
            <a:avLst/>
          </a:prstGeom>
          <a:noFill/>
          <a:ln/>
        </p:spPr>
        <p:txBody>
          <a:bodyPr wrap="square" lIns="0" tIns="0" rIns="0" bIns="0" rtlCol="0" anchor="t"/>
          <a:lstStyle/>
          <a:p>
            <a:pPr marL="0" indent="0" algn="ctr">
              <a:buNone/>
            </a:pPr>
            <a:r>
              <a:rPr lang="en-US" sz="1700" b="1" dirty="0">
                <a:solidFill>
                  <a:srgbClr val="FFFFFF"/>
                </a:solidFill>
                <a:latin typeface="Inter" pitchFamily="34" charset="0"/>
                <a:ea typeface="Inter" pitchFamily="34" charset="-122"/>
                <a:cs typeface="Inter" pitchFamily="34" charset="-120"/>
              </a:rPr>
              <a:t>Dr Suhirdan Vivekanandarajah</a:t>
            </a:r>
            <a:endParaRPr lang="en-US" sz="1700" dirty="0"/>
          </a:p>
        </p:txBody>
      </p:sp>
      <p:sp>
        <p:nvSpPr>
          <p:cNvPr id="10" name="qa-text-9"/>
          <p:cNvSpPr/>
          <p:nvPr/>
        </p:nvSpPr>
        <p:spPr>
          <a:xfrm>
            <a:off x="1778000" y="5689600"/>
            <a:ext cx="12700000" cy="330200"/>
          </a:xfrm>
          <a:prstGeom prst="rect">
            <a:avLst/>
          </a:prstGeom>
          <a:noFill/>
          <a:ln/>
        </p:spPr>
        <p:txBody>
          <a:bodyPr wrap="square" lIns="0" tIns="0" rIns="0" bIns="0" rtlCol="0" anchor="t"/>
          <a:lstStyle/>
          <a:p>
            <a:pPr marL="0" indent="0" algn="ctr">
              <a:buNone/>
            </a:pPr>
            <a:r>
              <a:rPr lang="en-US" sz="1400" dirty="0">
                <a:solidFill>
                  <a:srgbClr val="B9C7C7"/>
                </a:solidFill>
                <a:latin typeface="Inter" pitchFamily="34" charset="0"/>
                <a:ea typeface="Inter" pitchFamily="34" charset="-122"/>
                <a:cs typeface="Inter" pitchFamily="34" charset="-120"/>
              </a:rPr>
              <a:t>Gastroenterologist — Sydney Gut Clinic</a:t>
            </a:r>
            <a:endParaRPr lang="en-US" sz="1400" dirty="0"/>
          </a:p>
        </p:txBody>
      </p:sp>
      <p:sp>
        <p:nvSpPr>
          <p:cNvPr id="11" name="qa-shape-10"/>
          <p:cNvSpPr/>
          <p:nvPr/>
        </p:nvSpPr>
        <p:spPr>
          <a:xfrm>
            <a:off x="4318000" y="6604000"/>
            <a:ext cx="7620000" cy="1016000"/>
          </a:xfrm>
          <a:prstGeom prst="roundRect">
            <a:avLst>
              <a:gd name="adj" fmla="val 12500"/>
            </a:avLst>
          </a:prstGeom>
          <a:solidFill>
            <a:srgbClr val="0F4C5C"/>
          </a:solidFill>
          <a:ln w="12700">
            <a:solidFill>
              <a:srgbClr val="E3A018"/>
            </a:solidFill>
            <a:prstDash val="solid"/>
          </a:ln>
        </p:spPr>
        <p:txBody>
          <a:bodyPr/>
          <a:lstStyle/>
          <a:p>
            <a:endParaRPr lang="en-AU"/>
          </a:p>
        </p:txBody>
      </p:sp>
      <p:sp>
        <p:nvSpPr>
          <p:cNvPr id="12" name="qa-text-11"/>
          <p:cNvSpPr/>
          <p:nvPr/>
        </p:nvSpPr>
        <p:spPr>
          <a:xfrm>
            <a:off x="4699000" y="6908800"/>
            <a:ext cx="6858000" cy="508000"/>
          </a:xfrm>
          <a:prstGeom prst="rect">
            <a:avLst/>
          </a:prstGeom>
          <a:noFill/>
          <a:ln/>
        </p:spPr>
        <p:txBody>
          <a:bodyPr wrap="square" lIns="0" tIns="0" rIns="0" bIns="0" rtlCol="0" anchor="t"/>
          <a:lstStyle/>
          <a:p>
            <a:pPr marL="0" indent="0" algn="ctr">
              <a:buNone/>
            </a:pPr>
            <a:r>
              <a:rPr lang="en-US" sz="1400" i="1" dirty="0">
                <a:solidFill>
                  <a:srgbClr val="E3A018"/>
                </a:solidFill>
                <a:latin typeface="Inter" pitchFamily="34" charset="0"/>
                <a:ea typeface="Inter" pitchFamily="34" charset="-122"/>
                <a:cs typeface="Inter" pitchFamily="34" charset="-120"/>
              </a:rPr>
              <a:t>Up next: a 13-question Kahoot — there's a prize on the line</a:t>
            </a:r>
            <a:endParaRPr lang="en-US" sz="1400" dirty="0"/>
          </a:p>
        </p:txBody>
      </p:sp>
      <p:sp>
        <p:nvSpPr>
          <p:cNvPr id="13" name="qa-text-12"/>
          <p:cNvSpPr/>
          <p:nvPr/>
        </p:nvSpPr>
        <p:spPr>
          <a:xfrm>
            <a:off x="14986000" y="8610600"/>
            <a:ext cx="762000" cy="254000"/>
          </a:xfrm>
          <a:prstGeom prst="rect">
            <a:avLst/>
          </a:prstGeom>
          <a:noFill/>
          <a:ln/>
        </p:spPr>
        <p:txBody>
          <a:bodyPr wrap="square" lIns="0" tIns="0" rIns="0" bIns="0" rtlCol="0" anchor="t"/>
          <a:lstStyle/>
          <a:p>
            <a:pPr marL="0" indent="0" algn="r">
              <a:buNone/>
            </a:pPr>
            <a:r>
              <a:rPr lang="en-US" sz="1400" dirty="0">
                <a:solidFill>
                  <a:srgbClr val="B9C7C7"/>
                </a:solidFill>
                <a:latin typeface="Inter" pitchFamily="34" charset="0"/>
                <a:ea typeface="Inter" pitchFamily="34" charset="-122"/>
                <a:cs typeface="Inter"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references-text-1"/>
          <p:cNvSpPr/>
          <p:nvPr/>
        </p:nvSpPr>
        <p:spPr>
          <a:xfrm>
            <a:off x="762000" y="457200"/>
            <a:ext cx="7620000" cy="279400"/>
          </a:xfrm>
          <a:prstGeom prst="rect">
            <a:avLst/>
          </a:prstGeom>
          <a:noFill/>
          <a:ln/>
        </p:spPr>
        <p:txBody>
          <a:bodyPr wrap="square" lIns="0" tIns="0" rIns="0" bIns="0" rtlCol="0" anchor="t"/>
          <a:lstStyle/>
          <a:p>
            <a:pPr marL="0" indent="0" algn="l">
              <a:buNone/>
            </a:pPr>
            <a:r>
              <a:rPr lang="en-US" sz="1600" dirty="0">
                <a:solidFill>
                  <a:srgbClr val="E3A018"/>
                </a:solidFill>
                <a:latin typeface="Inter" pitchFamily="34" charset="0"/>
                <a:ea typeface="Inter" pitchFamily="34" charset="-122"/>
                <a:cs typeface="Inter" pitchFamily="34" charset="-120"/>
              </a:rPr>
              <a:t>FURTHER READING</a:t>
            </a:r>
            <a:endParaRPr lang="en-US" sz="1600" dirty="0"/>
          </a:p>
        </p:txBody>
      </p:sp>
      <p:sp>
        <p:nvSpPr>
          <p:cNvPr id="3" name="references-text-2"/>
          <p:cNvSpPr/>
          <p:nvPr/>
        </p:nvSpPr>
        <p:spPr>
          <a:xfrm>
            <a:off x="762000" y="762000"/>
            <a:ext cx="12700000" cy="711200"/>
          </a:xfrm>
          <a:prstGeom prst="rect">
            <a:avLst/>
          </a:prstGeom>
          <a:noFill/>
          <a:ln/>
        </p:spPr>
        <p:txBody>
          <a:bodyPr wrap="square" lIns="0" tIns="0" rIns="0" bIns="0" rtlCol="0" anchor="t"/>
          <a:lstStyle/>
          <a:p>
            <a:pPr marL="0" indent="0" algn="l">
              <a:buNone/>
            </a:pPr>
            <a:r>
              <a:rPr lang="en-US" sz="3600" dirty="0">
                <a:solidFill>
                  <a:srgbClr val="0F4C5C"/>
                </a:solidFill>
                <a:latin typeface="Lora" pitchFamily="34" charset="0"/>
                <a:ea typeface="Microsoft YaHei" pitchFamily="34" charset="-122"/>
                <a:cs typeface="Lora" pitchFamily="34" charset="-120"/>
              </a:rPr>
              <a:t>Key references &amp; guidelines</a:t>
            </a:r>
            <a:endParaRPr lang="en-US" sz="3600" dirty="0"/>
          </a:p>
        </p:txBody>
      </p:sp>
      <p:sp>
        <p:nvSpPr>
          <p:cNvPr id="4" name="references-text-3"/>
          <p:cNvSpPr/>
          <p:nvPr/>
        </p:nvSpPr>
        <p:spPr>
          <a:xfrm>
            <a:off x="14986000" y="508000"/>
            <a:ext cx="762000" cy="254000"/>
          </a:xfrm>
          <a:prstGeom prst="rect">
            <a:avLst/>
          </a:prstGeom>
          <a:noFill/>
          <a:ln/>
        </p:spPr>
        <p:txBody>
          <a:bodyPr wrap="square" lIns="0" tIns="0" rIns="0" bIns="0" rtlCol="0" anchor="t"/>
          <a:lstStyle/>
          <a:p>
            <a:pPr marL="0" indent="0" algn="r">
              <a:buNone/>
            </a:pPr>
            <a:r>
              <a:rPr lang="en-US" sz="1400" dirty="0">
                <a:solidFill>
                  <a:srgbClr val="5C6B6D"/>
                </a:solidFill>
                <a:latin typeface="Inter" pitchFamily="34" charset="0"/>
                <a:ea typeface="Inter" pitchFamily="34" charset="-122"/>
                <a:cs typeface="Inter" pitchFamily="34" charset="-120"/>
              </a:rPr>
              <a:t>26</a:t>
            </a:r>
            <a:endParaRPr lang="en-US" sz="1400" dirty="0"/>
          </a:p>
        </p:txBody>
      </p:sp>
      <p:sp>
        <p:nvSpPr>
          <p:cNvPr id="5" name="references-shape-4"/>
          <p:cNvSpPr/>
          <p:nvPr/>
        </p:nvSpPr>
        <p:spPr>
          <a:xfrm>
            <a:off x="762000" y="2222500"/>
            <a:ext cx="431800" cy="431800"/>
          </a:xfrm>
          <a:prstGeom prst="ellipse">
            <a:avLst/>
          </a:prstGeom>
          <a:solidFill>
            <a:srgbClr val="0F4C5C"/>
          </a:solidFill>
          <a:ln/>
        </p:spPr>
        <p:txBody>
          <a:bodyPr/>
          <a:lstStyle/>
          <a:p>
            <a:endParaRPr lang="en-AU"/>
          </a:p>
        </p:txBody>
      </p:sp>
      <p:pic>
        <p:nvPicPr>
          <p:cNvPr id="6" name="references-icon-5" descr="preencoded.png"/>
          <p:cNvPicPr>
            <a:picLocks noChangeAspect="1"/>
          </p:cNvPicPr>
          <p:nvPr/>
        </p:nvPicPr>
        <p:blipFill>
          <a:blip r:embed="rId3"/>
          <a:stretch>
            <a:fillRect/>
          </a:stretch>
        </p:blipFill>
        <p:spPr>
          <a:xfrm>
            <a:off x="863600" y="2324100"/>
            <a:ext cx="228600" cy="228600"/>
          </a:xfrm>
          <a:prstGeom prst="rect">
            <a:avLst/>
          </a:prstGeom>
        </p:spPr>
      </p:pic>
      <p:sp>
        <p:nvSpPr>
          <p:cNvPr id="7" name="references-text-6"/>
          <p:cNvSpPr/>
          <p:nvPr/>
        </p:nvSpPr>
        <p:spPr>
          <a:xfrm>
            <a:off x="1371600" y="2184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ACG Clinical Guideline: Evaluation of Abnormal Liver Chemistries (2017)</a:t>
            </a:r>
            <a:endParaRPr lang="en-US" sz="1400" dirty="0"/>
          </a:p>
        </p:txBody>
      </p:sp>
      <p:sp>
        <p:nvSpPr>
          <p:cNvPr id="8" name="references-shape-7"/>
          <p:cNvSpPr/>
          <p:nvPr/>
        </p:nvSpPr>
        <p:spPr>
          <a:xfrm>
            <a:off x="8382000" y="2222500"/>
            <a:ext cx="431800" cy="431800"/>
          </a:xfrm>
          <a:prstGeom prst="ellipse">
            <a:avLst/>
          </a:prstGeom>
          <a:solidFill>
            <a:srgbClr val="0F4C5C"/>
          </a:solidFill>
          <a:ln/>
        </p:spPr>
        <p:txBody>
          <a:bodyPr/>
          <a:lstStyle/>
          <a:p>
            <a:endParaRPr lang="en-AU"/>
          </a:p>
        </p:txBody>
      </p:sp>
      <p:pic>
        <p:nvPicPr>
          <p:cNvPr id="9" name="references-icon-8" descr="preencoded.png"/>
          <p:cNvPicPr>
            <a:picLocks noChangeAspect="1"/>
          </p:cNvPicPr>
          <p:nvPr/>
        </p:nvPicPr>
        <p:blipFill>
          <a:blip r:embed="rId3"/>
          <a:stretch>
            <a:fillRect/>
          </a:stretch>
        </p:blipFill>
        <p:spPr>
          <a:xfrm>
            <a:off x="8483600" y="2324100"/>
            <a:ext cx="228600" cy="228600"/>
          </a:xfrm>
          <a:prstGeom prst="rect">
            <a:avLst/>
          </a:prstGeom>
        </p:spPr>
      </p:pic>
      <p:sp>
        <p:nvSpPr>
          <p:cNvPr id="10" name="references-text-9"/>
          <p:cNvSpPr/>
          <p:nvPr/>
        </p:nvSpPr>
        <p:spPr>
          <a:xfrm>
            <a:off x="8991600" y="2184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Rinella ME, et al. A multi-society Delphi consensus on new fatty liver disease nomenclature (2023)</a:t>
            </a:r>
            <a:endParaRPr lang="en-US" sz="1400" dirty="0"/>
          </a:p>
        </p:txBody>
      </p:sp>
      <p:sp>
        <p:nvSpPr>
          <p:cNvPr id="11" name="references-shape-10"/>
          <p:cNvSpPr/>
          <p:nvPr/>
        </p:nvSpPr>
        <p:spPr>
          <a:xfrm>
            <a:off x="762000" y="3365500"/>
            <a:ext cx="431800" cy="431800"/>
          </a:xfrm>
          <a:prstGeom prst="ellipse">
            <a:avLst/>
          </a:prstGeom>
          <a:solidFill>
            <a:srgbClr val="0F4C5C"/>
          </a:solidFill>
          <a:ln/>
        </p:spPr>
        <p:txBody>
          <a:bodyPr/>
          <a:lstStyle/>
          <a:p>
            <a:endParaRPr lang="en-AU"/>
          </a:p>
        </p:txBody>
      </p:sp>
      <p:pic>
        <p:nvPicPr>
          <p:cNvPr id="12" name="references-icon-11" descr="preencoded.png"/>
          <p:cNvPicPr>
            <a:picLocks noChangeAspect="1"/>
          </p:cNvPicPr>
          <p:nvPr/>
        </p:nvPicPr>
        <p:blipFill>
          <a:blip r:embed="rId3"/>
          <a:stretch>
            <a:fillRect/>
          </a:stretch>
        </p:blipFill>
        <p:spPr>
          <a:xfrm>
            <a:off x="863600" y="3467100"/>
            <a:ext cx="228600" cy="228600"/>
          </a:xfrm>
          <a:prstGeom prst="rect">
            <a:avLst/>
          </a:prstGeom>
        </p:spPr>
      </p:pic>
      <p:sp>
        <p:nvSpPr>
          <p:cNvPr id="13" name="references-text-12"/>
          <p:cNvSpPr/>
          <p:nvPr/>
        </p:nvSpPr>
        <p:spPr>
          <a:xfrm>
            <a:off x="1371600" y="3327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EASL-EASD-EASO Clinical Practice Guidelines on MASLD (2024)</a:t>
            </a:r>
            <a:endParaRPr lang="en-US" sz="1400" dirty="0"/>
          </a:p>
        </p:txBody>
      </p:sp>
      <p:sp>
        <p:nvSpPr>
          <p:cNvPr id="14" name="references-shape-13"/>
          <p:cNvSpPr/>
          <p:nvPr/>
        </p:nvSpPr>
        <p:spPr>
          <a:xfrm>
            <a:off x="8382000" y="3365500"/>
            <a:ext cx="431800" cy="431800"/>
          </a:xfrm>
          <a:prstGeom prst="ellipse">
            <a:avLst/>
          </a:prstGeom>
          <a:solidFill>
            <a:srgbClr val="0F4C5C"/>
          </a:solidFill>
          <a:ln/>
        </p:spPr>
        <p:txBody>
          <a:bodyPr/>
          <a:lstStyle/>
          <a:p>
            <a:endParaRPr lang="en-AU"/>
          </a:p>
        </p:txBody>
      </p:sp>
      <p:pic>
        <p:nvPicPr>
          <p:cNvPr id="15" name="references-icon-14" descr="preencoded.png"/>
          <p:cNvPicPr>
            <a:picLocks noChangeAspect="1"/>
          </p:cNvPicPr>
          <p:nvPr/>
        </p:nvPicPr>
        <p:blipFill>
          <a:blip r:embed="rId3"/>
          <a:stretch>
            <a:fillRect/>
          </a:stretch>
        </p:blipFill>
        <p:spPr>
          <a:xfrm>
            <a:off x="8483600" y="3467100"/>
            <a:ext cx="228600" cy="228600"/>
          </a:xfrm>
          <a:prstGeom prst="rect">
            <a:avLst/>
          </a:prstGeom>
        </p:spPr>
      </p:pic>
      <p:sp>
        <p:nvSpPr>
          <p:cNvPr id="16" name="references-text-15"/>
          <p:cNvSpPr/>
          <p:nvPr/>
        </p:nvSpPr>
        <p:spPr>
          <a:xfrm>
            <a:off x="8991600" y="3327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AASLD Practice Guidance: Clinical Assessment and Management of MASLD (2023)</a:t>
            </a:r>
            <a:endParaRPr lang="en-US" sz="1400" dirty="0"/>
          </a:p>
        </p:txBody>
      </p:sp>
      <p:sp>
        <p:nvSpPr>
          <p:cNvPr id="17" name="references-shape-16"/>
          <p:cNvSpPr/>
          <p:nvPr/>
        </p:nvSpPr>
        <p:spPr>
          <a:xfrm>
            <a:off x="762000" y="4508500"/>
            <a:ext cx="431800" cy="431800"/>
          </a:xfrm>
          <a:prstGeom prst="ellipse">
            <a:avLst/>
          </a:prstGeom>
          <a:solidFill>
            <a:srgbClr val="0F4C5C"/>
          </a:solidFill>
          <a:ln/>
        </p:spPr>
        <p:txBody>
          <a:bodyPr/>
          <a:lstStyle/>
          <a:p>
            <a:endParaRPr lang="en-AU"/>
          </a:p>
        </p:txBody>
      </p:sp>
      <p:pic>
        <p:nvPicPr>
          <p:cNvPr id="18" name="references-icon-17" descr="preencoded.png"/>
          <p:cNvPicPr>
            <a:picLocks noChangeAspect="1"/>
          </p:cNvPicPr>
          <p:nvPr/>
        </p:nvPicPr>
        <p:blipFill>
          <a:blip r:embed="rId3"/>
          <a:stretch>
            <a:fillRect/>
          </a:stretch>
        </p:blipFill>
        <p:spPr>
          <a:xfrm>
            <a:off x="863600" y="4610100"/>
            <a:ext cx="228600" cy="228600"/>
          </a:xfrm>
          <a:prstGeom prst="rect">
            <a:avLst/>
          </a:prstGeom>
        </p:spPr>
      </p:pic>
      <p:sp>
        <p:nvSpPr>
          <p:cNvPr id="19" name="references-text-18"/>
          <p:cNvSpPr/>
          <p:nvPr/>
        </p:nvSpPr>
        <p:spPr>
          <a:xfrm>
            <a:off x="1371600" y="4470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FIB-4 index validation studies for fibrosis risk stratification</a:t>
            </a:r>
            <a:endParaRPr lang="en-US" sz="1400" dirty="0"/>
          </a:p>
        </p:txBody>
      </p:sp>
      <p:sp>
        <p:nvSpPr>
          <p:cNvPr id="20" name="references-shape-19"/>
          <p:cNvSpPr/>
          <p:nvPr/>
        </p:nvSpPr>
        <p:spPr>
          <a:xfrm>
            <a:off x="8382000" y="4508500"/>
            <a:ext cx="431800" cy="431800"/>
          </a:xfrm>
          <a:prstGeom prst="ellipse">
            <a:avLst/>
          </a:prstGeom>
          <a:solidFill>
            <a:srgbClr val="0F4C5C"/>
          </a:solidFill>
          <a:ln/>
        </p:spPr>
        <p:txBody>
          <a:bodyPr/>
          <a:lstStyle/>
          <a:p>
            <a:endParaRPr lang="en-AU"/>
          </a:p>
        </p:txBody>
      </p:sp>
      <p:pic>
        <p:nvPicPr>
          <p:cNvPr id="21" name="references-icon-20" descr="preencoded.png"/>
          <p:cNvPicPr>
            <a:picLocks noChangeAspect="1"/>
          </p:cNvPicPr>
          <p:nvPr/>
        </p:nvPicPr>
        <p:blipFill>
          <a:blip r:embed="rId3"/>
          <a:stretch>
            <a:fillRect/>
          </a:stretch>
        </p:blipFill>
        <p:spPr>
          <a:xfrm>
            <a:off x="8483600" y="4610100"/>
            <a:ext cx="228600" cy="228600"/>
          </a:xfrm>
          <a:prstGeom prst="rect">
            <a:avLst/>
          </a:prstGeom>
        </p:spPr>
      </p:pic>
      <p:sp>
        <p:nvSpPr>
          <p:cNvPr id="22" name="references-text-21"/>
          <p:cNvSpPr/>
          <p:nvPr/>
        </p:nvSpPr>
        <p:spPr>
          <a:xfrm>
            <a:off x="8991600" y="4470400"/>
            <a:ext cx="6350000" cy="762000"/>
          </a:xfrm>
          <a:prstGeom prst="rect">
            <a:avLst/>
          </a:prstGeom>
          <a:noFill/>
          <a:ln/>
        </p:spPr>
        <p:txBody>
          <a:bodyPr wrap="square" lIns="0" tIns="0" rIns="0" bIns="0" rtlCol="0" anchor="t"/>
          <a:lstStyle/>
          <a:p>
            <a:pPr marL="0" indent="0" algn="l">
              <a:lnSpc>
                <a:spcPts val="1960"/>
              </a:lnSpc>
              <a:buNone/>
            </a:pPr>
            <a:r>
              <a:rPr lang="en-US" sz="1400" dirty="0">
                <a:solidFill>
                  <a:srgbClr val="1A2527"/>
                </a:solidFill>
                <a:latin typeface="Inter" pitchFamily="34" charset="0"/>
                <a:ea typeface="Inter" pitchFamily="34" charset="-122"/>
                <a:cs typeface="Inter" pitchFamily="34" charset="-120"/>
              </a:rPr>
              <a:t>Australian HealthPathways — Abnormal Liver Function Tests pathway</a:t>
            </a:r>
            <a:endParaRPr lang="en-US" sz="1400" dirty="0"/>
          </a:p>
        </p:txBody>
      </p:sp>
      <p:sp>
        <p:nvSpPr>
          <p:cNvPr id="23" name="references-shape-22"/>
          <p:cNvSpPr/>
          <p:nvPr/>
        </p:nvSpPr>
        <p:spPr>
          <a:xfrm>
            <a:off x="762000" y="7620000"/>
            <a:ext cx="14224000" cy="25400"/>
          </a:xfrm>
          <a:prstGeom prst="rect">
            <a:avLst/>
          </a:prstGeom>
          <a:solidFill>
            <a:srgbClr val="E0DAD0"/>
          </a:solidFill>
          <a:ln/>
        </p:spPr>
        <p:txBody>
          <a:bodyPr/>
          <a:lstStyle/>
          <a:p>
            <a:endParaRPr lang="en-AU"/>
          </a:p>
        </p:txBody>
      </p:sp>
      <p:sp>
        <p:nvSpPr>
          <p:cNvPr id="24" name="references-text-23"/>
          <p:cNvSpPr/>
          <p:nvPr/>
        </p:nvSpPr>
        <p:spPr>
          <a:xfrm>
            <a:off x="762000" y="7874000"/>
            <a:ext cx="14224000" cy="508000"/>
          </a:xfrm>
          <a:prstGeom prst="rect">
            <a:avLst/>
          </a:prstGeom>
          <a:noFill/>
          <a:ln/>
        </p:spPr>
        <p:txBody>
          <a:bodyPr wrap="square" lIns="0" tIns="0" rIns="0" bIns="0" rtlCol="0" anchor="t"/>
          <a:lstStyle/>
          <a:p>
            <a:pPr marL="0" indent="0" algn="ctr">
              <a:buNone/>
            </a:pPr>
            <a:r>
              <a:rPr lang="en-US" sz="1400" i="1" dirty="0">
                <a:solidFill>
                  <a:srgbClr val="5C6B6D"/>
                </a:solidFill>
                <a:latin typeface="Inter" pitchFamily="34" charset="0"/>
                <a:ea typeface="Inter" pitchFamily="34" charset="-122"/>
                <a:cs typeface="Inter" pitchFamily="34" charset="-120"/>
              </a:rPr>
              <a:t>Prepared for the Aqua Luna GP education evening, 29 July 2026 — Dr Suhirdan Vivekanandarajah, Sydney Gut Clinic.</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4C5C"/>
        </a:solidFill>
        <a:effectLst/>
      </p:bgPr>
    </p:bg>
    <p:spTree>
      <p:nvGrpSpPr>
        <p:cNvPr id="1" name=""/>
        <p:cNvGrpSpPr/>
        <p:nvPr/>
      </p:nvGrpSpPr>
      <p:grpSpPr>
        <a:xfrm>
          <a:off x="0" y="0"/>
          <a:ext cx="0" cy="0"/>
          <a:chOff x="0" y="0"/>
          <a:chExt cx="0" cy="0"/>
        </a:xfrm>
      </p:grpSpPr>
      <p:sp>
        <p:nvSpPr>
          <p:cNvPr id="2" name="cta-shape-1"/>
          <p:cNvSpPr/>
          <p:nvPr/>
        </p:nvSpPr>
        <p:spPr>
          <a:xfrm>
            <a:off x="11684000" y="-1524000"/>
            <a:ext cx="6096000" cy="6096000"/>
          </a:xfrm>
          <a:prstGeom prst="ellipse">
            <a:avLst/>
          </a:prstGeom>
          <a:solidFill>
            <a:srgbClr val="FFFFFF">
              <a:alpha val="7000"/>
            </a:srgbClr>
          </a:solidFill>
          <a:ln/>
        </p:spPr>
        <p:txBody>
          <a:bodyPr/>
          <a:lstStyle/>
          <a:p>
            <a:endParaRPr lang="en-AU"/>
          </a:p>
        </p:txBody>
      </p:sp>
      <p:sp>
        <p:nvSpPr>
          <p:cNvPr id="3" name="cta-shape-2"/>
          <p:cNvSpPr/>
          <p:nvPr/>
        </p:nvSpPr>
        <p:spPr>
          <a:xfrm>
            <a:off x="13462000" y="3302000"/>
            <a:ext cx="4826000" cy="4826000"/>
          </a:xfrm>
          <a:prstGeom prst="ellipse">
            <a:avLst/>
          </a:prstGeom>
          <a:solidFill>
            <a:srgbClr val="FFFFFF">
              <a:alpha val="6000"/>
            </a:srgbClr>
          </a:solidFill>
          <a:ln/>
        </p:spPr>
        <p:txBody>
          <a:bodyPr/>
          <a:lstStyle/>
          <a:p>
            <a:endParaRPr lang="en-AU"/>
          </a:p>
        </p:txBody>
      </p:sp>
      <p:sp>
        <p:nvSpPr>
          <p:cNvPr id="4" name="cta-shape-3"/>
          <p:cNvSpPr/>
          <p:nvPr/>
        </p:nvSpPr>
        <p:spPr>
          <a:xfrm>
            <a:off x="889000" y="762000"/>
            <a:ext cx="660400" cy="660400"/>
          </a:xfrm>
          <a:prstGeom prst="ellipse">
            <a:avLst/>
          </a:prstGeom>
          <a:solidFill>
            <a:srgbClr val="E3A018"/>
          </a:solidFill>
          <a:ln/>
        </p:spPr>
        <p:txBody>
          <a:bodyPr/>
          <a:lstStyle/>
          <a:p>
            <a:endParaRPr lang="en-AU"/>
          </a:p>
        </p:txBody>
      </p:sp>
      <p:sp>
        <p:nvSpPr>
          <p:cNvPr id="5" name="cta-eyebrow"/>
          <p:cNvSpPr/>
          <p:nvPr/>
        </p:nvSpPr>
        <p:spPr>
          <a:xfrm>
            <a:off x="1905000" y="889000"/>
            <a:ext cx="9000000" cy="330200"/>
          </a:xfrm>
          <a:prstGeom prst="rect">
            <a:avLst/>
          </a:prstGeom>
          <a:noFill/>
          <a:ln/>
        </p:spPr>
        <p:txBody>
          <a:bodyPr wrap="square" lIns="0" tIns="0" rIns="0" bIns="0" rtlCol="0" anchor="t"/>
          <a:lstStyle/>
          <a:p>
            <a:pPr marL="0" indent="0" algn="l">
              <a:buNone/>
            </a:pPr>
            <a:r>
              <a:rPr lang="en-US" sz="1600" b="1" dirty="0">
                <a:solidFill>
                  <a:srgbClr val="E3A018"/>
                </a:solidFill>
                <a:latin typeface="Inter" pitchFamily="34" charset="0"/>
                <a:ea typeface="Inter" pitchFamily="34" charset="-122"/>
                <a:cs typeface="Inter" pitchFamily="34" charset="-120"/>
              </a:rPr>
              <a:t>EXCLUSIVE FOR TONIGHT'S ATTENDEES</a:t>
            </a:r>
            <a:endParaRPr lang="en-US" sz="1600" b="1" dirty="0"/>
          </a:p>
        </p:txBody>
      </p:sp>
      <p:sp>
        <p:nvSpPr>
          <p:cNvPr id="6" name="cta-title"/>
          <p:cNvSpPr/>
          <p:nvPr/>
        </p:nvSpPr>
        <p:spPr>
          <a:xfrm>
            <a:off x="1016000" y="1524000"/>
            <a:ext cx="9600000" cy="1905000"/>
          </a:xfrm>
          <a:prstGeom prst="rect">
            <a:avLst/>
          </a:prstGeom>
          <a:noFill/>
          <a:ln/>
        </p:spPr>
        <p:txBody>
          <a:bodyPr wrap="square" lIns="0" tIns="0" rIns="0" bIns="0" rtlCol="0" anchor="t"/>
          <a:lstStyle/>
          <a:p>
            <a:pPr marL="0" indent="0" algn="l">
              <a:lnSpc>
                <a:spcPts val="5200"/>
              </a:lnSpc>
              <a:buNone/>
            </a:pPr>
            <a:r>
              <a:rPr lang="en-US" sz="4400" dirty="0">
                <a:solidFill>
                  <a:srgbClr val="FFFFFF"/>
                </a:solidFill>
                <a:latin typeface="Lora" pitchFamily="34" charset="0"/>
                <a:ea typeface="Microsoft YaHei" pitchFamily="34" charset="-122"/>
                <a:cs typeface="Lora" pitchFamily="34" charset="-120"/>
              </a:rPr>
              <a:t>Reclaim your evenings.</a:t>
            </a:r>
          </a:p>
          <a:p>
            <a:pPr marL="0" indent="0" algn="l">
              <a:lnSpc>
                <a:spcPts val="5200"/>
              </a:lnSpc>
              <a:buNone/>
            </a:pPr>
            <a:r>
              <a:rPr lang="en-US" sz="4400" dirty="0">
                <a:solidFill>
                  <a:srgbClr val="E3A018"/>
                </a:solidFill>
                <a:latin typeface="Lora" pitchFamily="34" charset="0"/>
                <a:ea typeface="Microsoft YaHei" pitchFamily="34" charset="-122"/>
                <a:cs typeface="Lora" pitchFamily="34" charset="-120"/>
              </a:rPr>
              <a:t>Start Arvi Health free.</a:t>
            </a:r>
            <a:endParaRPr lang="en-US" sz="4400" dirty="0"/>
          </a:p>
        </p:txBody>
      </p:sp>
      <p:sp>
        <p:nvSpPr>
          <p:cNvPr id="7" name="cta-subtitle"/>
          <p:cNvSpPr/>
          <p:nvPr/>
        </p:nvSpPr>
        <p:spPr>
          <a:xfrm>
            <a:off x="1016000" y="3350000"/>
            <a:ext cx="9000000" cy="900000"/>
          </a:xfrm>
          <a:prstGeom prst="rect">
            <a:avLst/>
          </a:prstGeom>
          <a:noFill/>
          <a:ln/>
        </p:spPr>
        <p:txBody>
          <a:bodyPr wrap="square" lIns="0" tIns="0" rIns="0" bIns="0" rtlCol="0" anchor="t"/>
          <a:lstStyle/>
          <a:p>
            <a:pPr marL="0" indent="0" algn="l">
              <a:lnSpc>
                <a:spcPts val="2200"/>
              </a:lnSpc>
              <a:buNone/>
            </a:pPr>
            <a:r>
              <a:rPr lang="en-US" sz="1600" dirty="0">
                <a:solidFill>
                  <a:srgbClr val="D8E3E3"/>
                </a:solidFill>
                <a:latin typeface="Inter" pitchFamily="34" charset="0"/>
                <a:ea typeface="Inter" pitchFamily="34" charset="-122"/>
                <a:cs typeface="Inter" pitchFamily="34" charset="-120"/>
              </a:rPr>
              <a:t>The specialist-led, Australian-built AI scribe that turns every consult into structured notes, referral letters and summaries, automatically.</a:t>
            </a:r>
            <a:endParaRPr lang="en-US" sz="1600" dirty="0"/>
          </a:p>
        </p:txBody>
      </p:sp>
      <p:sp>
        <p:nvSpPr>
          <p:cNvPr id="8" name="cta-benefit-1"/>
          <p:cNvSpPr/>
          <p:nvPr/>
        </p:nvSpPr>
        <p:spPr>
          <a:xfrm>
            <a:off x="1016000" y="4450000"/>
            <a:ext cx="9200000" cy="400000"/>
          </a:xfrm>
          <a:prstGeom prst="rect">
            <a:avLst/>
          </a:prstGeom>
          <a:noFill/>
          <a:ln/>
        </p:spPr>
        <p:txBody>
          <a:bodyPr wrap="square" lIns="0" tIns="0" rIns="0" bIns="0" rtlCol="0" anchor="t"/>
          <a:lstStyle/>
          <a:p>
            <a:pPr marL="0" indent="0" algn="l">
              <a:buNone/>
            </a:pPr>
            <a:r>
              <a:rPr lang="en-US" sz="1500" b="1" dirty="0">
                <a:solidFill>
                  <a:srgbClr val="E3A018"/>
                </a:solidFill>
                <a:latin typeface="Inter" pitchFamily="34" charset="0"/>
                <a:ea typeface="Inter" pitchFamily="34" charset="-122"/>
                <a:cs typeface="Inter" pitchFamily="34" charset="-120"/>
              </a:rPr>
              <a:t>✓   </a:t>
            </a:r>
            <a:r>
              <a:rPr lang="en-US" sz="1500" dirty="0">
                <a:solidFill>
                  <a:srgbClr val="D8E3E3"/>
                </a:solidFill>
                <a:latin typeface="Inter" pitchFamily="34" charset="0"/>
                <a:ea typeface="Inter" pitchFamily="34" charset="-122"/>
                <a:cs typeface="Inter" pitchFamily="34" charset="-120"/>
              </a:rPr>
              <a:t>Every consult becomes structured notes, referral letters and summaries</a:t>
            </a:r>
            <a:endParaRPr lang="en-US" sz="1500" dirty="0"/>
          </a:p>
        </p:txBody>
      </p:sp>
      <p:sp>
        <p:nvSpPr>
          <p:cNvPr id="9" name="cta-benefit-2"/>
          <p:cNvSpPr/>
          <p:nvPr/>
        </p:nvSpPr>
        <p:spPr>
          <a:xfrm>
            <a:off x="1016000" y="4950000"/>
            <a:ext cx="9200000" cy="400000"/>
          </a:xfrm>
          <a:prstGeom prst="rect">
            <a:avLst/>
          </a:prstGeom>
          <a:noFill/>
          <a:ln/>
        </p:spPr>
        <p:txBody>
          <a:bodyPr wrap="square" lIns="0" tIns="0" rIns="0" bIns="0" rtlCol="0" anchor="t"/>
          <a:lstStyle/>
          <a:p>
            <a:pPr marL="0" indent="0" algn="l">
              <a:buNone/>
            </a:pPr>
            <a:r>
              <a:rPr lang="en-US" sz="1500" b="1" dirty="0">
                <a:solidFill>
                  <a:srgbClr val="E3A018"/>
                </a:solidFill>
                <a:latin typeface="Inter" pitchFamily="34" charset="0"/>
                <a:ea typeface="Inter" pitchFamily="34" charset="-122"/>
                <a:cs typeface="Inter" pitchFamily="34" charset="-120"/>
              </a:rPr>
              <a:t>✓   </a:t>
            </a:r>
            <a:r>
              <a:rPr lang="en-US" sz="1500" dirty="0">
                <a:solidFill>
                  <a:srgbClr val="D8E3E3"/>
                </a:solidFill>
                <a:latin typeface="Inter" pitchFamily="34" charset="0"/>
                <a:ea typeface="Inter" pitchFamily="34" charset="-122"/>
                <a:cs typeface="Inter" pitchFamily="34" charset="-120"/>
              </a:rPr>
              <a:t>Passive listening. No typing, no templates, no wake words.</a:t>
            </a:r>
            <a:endParaRPr lang="en-US" sz="1500" dirty="0"/>
          </a:p>
        </p:txBody>
      </p:sp>
      <p:sp>
        <p:nvSpPr>
          <p:cNvPr id="10" name="cta-benefit-3"/>
          <p:cNvSpPr/>
          <p:nvPr/>
        </p:nvSpPr>
        <p:spPr>
          <a:xfrm>
            <a:off x="1016000" y="5450000"/>
            <a:ext cx="9200000" cy="400000"/>
          </a:xfrm>
          <a:prstGeom prst="rect">
            <a:avLst/>
          </a:prstGeom>
          <a:noFill/>
          <a:ln/>
        </p:spPr>
        <p:txBody>
          <a:bodyPr wrap="square" lIns="0" tIns="0" rIns="0" bIns="0" rtlCol="0" anchor="t"/>
          <a:lstStyle/>
          <a:p>
            <a:pPr marL="0" indent="0" algn="l">
              <a:buNone/>
            </a:pPr>
            <a:r>
              <a:rPr lang="en-US" sz="1500" b="1" dirty="0">
                <a:solidFill>
                  <a:srgbClr val="E3A018"/>
                </a:solidFill>
                <a:latin typeface="Inter" pitchFamily="34" charset="0"/>
                <a:ea typeface="Inter" pitchFamily="34" charset="-122"/>
                <a:cs typeface="Inter" pitchFamily="34" charset="-120"/>
              </a:rPr>
              <a:t>✓   </a:t>
            </a:r>
            <a:r>
              <a:rPr lang="en-US" sz="1500" dirty="0">
                <a:solidFill>
                  <a:srgbClr val="D8E3E3"/>
                </a:solidFill>
                <a:latin typeface="Inter" pitchFamily="34" charset="0"/>
                <a:ea typeface="Inter" pitchFamily="34" charset="-122"/>
                <a:cs typeface="Inter" pitchFamily="34" charset="-120"/>
              </a:rPr>
              <a:t>Works on web, iOS and Android. Set up in minutes.</a:t>
            </a:r>
            <a:endParaRPr lang="en-US" sz="1500" dirty="0"/>
          </a:p>
        </p:txBody>
      </p:sp>
      <p:sp>
        <p:nvSpPr>
          <p:cNvPr id="11" name="cta-benefit-4"/>
          <p:cNvSpPr/>
          <p:nvPr/>
        </p:nvSpPr>
        <p:spPr>
          <a:xfrm>
            <a:off x="1016000" y="5950000"/>
            <a:ext cx="9200000" cy="400000"/>
          </a:xfrm>
          <a:prstGeom prst="rect">
            <a:avLst/>
          </a:prstGeom>
          <a:noFill/>
          <a:ln/>
        </p:spPr>
        <p:txBody>
          <a:bodyPr wrap="square" lIns="0" tIns="0" rIns="0" bIns="0" rtlCol="0" anchor="t"/>
          <a:lstStyle/>
          <a:p>
            <a:pPr marL="0" indent="0" algn="l">
              <a:buNone/>
            </a:pPr>
            <a:r>
              <a:rPr lang="en-US" sz="1500" b="1" dirty="0">
                <a:solidFill>
                  <a:srgbClr val="E3A018"/>
                </a:solidFill>
                <a:latin typeface="Inter" pitchFamily="34" charset="0"/>
                <a:ea typeface="Inter" pitchFamily="34" charset="-122"/>
                <a:cs typeface="Inter" pitchFamily="34" charset="-120"/>
              </a:rPr>
              <a:t>✓   </a:t>
            </a:r>
            <a:r>
              <a:rPr lang="en-US" sz="1500" dirty="0">
                <a:solidFill>
                  <a:srgbClr val="D8E3E3"/>
                </a:solidFill>
                <a:latin typeface="Inter" pitchFamily="34" charset="0"/>
                <a:ea typeface="Inter" pitchFamily="34" charset="-122"/>
                <a:cs typeface="Inter" pitchFamily="34" charset="-120"/>
              </a:rPr>
              <a:t>Specialist-led and built in Australia.</a:t>
            </a:r>
            <a:endParaRPr lang="en-US" sz="1500" dirty="0"/>
          </a:p>
        </p:txBody>
      </p:sp>
      <p:sp>
        <p:nvSpPr>
          <p:cNvPr id="12" name="cta-card-1"/>
          <p:cNvSpPr/>
          <p:nvPr/>
        </p:nvSpPr>
        <p:spPr>
          <a:xfrm>
            <a:off x="1016000" y="6650000"/>
            <a:ext cx="4350000" cy="1650000"/>
          </a:xfrm>
          <a:prstGeom prst="roundRect">
            <a:avLst>
              <a:gd name="adj" fmla="val 8000"/>
            </a:avLst>
          </a:prstGeom>
          <a:solidFill>
            <a:srgbClr val="FFFFFF">
              <a:alpha val="10000"/>
            </a:srgbClr>
          </a:solidFill>
          <a:ln w="12700">
            <a:solidFill>
              <a:srgbClr val="E3A018"/>
            </a:solidFill>
          </a:ln>
        </p:spPr>
        <p:txBody>
          <a:bodyPr wrap="square" lIns="274320" tIns="228600" rIns="274320" bIns="228600" rtlCol="0" anchor="t"/>
          <a:lstStyle/>
          <a:p>
            <a:pPr marL="0" indent="0" algn="l">
              <a:buNone/>
            </a:pPr>
            <a:r>
              <a:rPr lang="en-US" sz="2400" b="1" dirty="0">
                <a:solidFill>
                  <a:srgbClr val="E3A018"/>
                </a:solidFill>
                <a:latin typeface="Inter" pitchFamily="34" charset="0"/>
                <a:ea typeface="Inter" pitchFamily="34" charset="-122"/>
                <a:cs typeface="Inter" pitchFamily="34" charset="-120"/>
              </a:rPr>
              <a:t>6 months free</a:t>
            </a:r>
          </a:p>
          <a:p>
            <a:pPr marL="0" indent="0" algn="l">
              <a:spcBef>
                <a:spcPts val="600"/>
              </a:spcBef>
              <a:buNone/>
            </a:pPr>
            <a:r>
              <a:rPr lang="en-US" sz="1400" dirty="0">
                <a:solidFill>
                  <a:srgbClr val="FFFFFF"/>
                </a:solidFill>
                <a:latin typeface="Inter" pitchFamily="34" charset="0"/>
                <a:ea typeface="Inter" pitchFamily="34" charset="-122"/>
                <a:cs typeface="Inter" pitchFamily="34" charset="-120"/>
              </a:rPr>
              <a:t>For every attendee at tonight's Nuvo event.</a:t>
            </a:r>
            <a:endParaRPr lang="en-US" sz="1400" dirty="0"/>
          </a:p>
        </p:txBody>
      </p:sp>
      <p:sp>
        <p:nvSpPr>
          <p:cNvPr id="13" name="cta-card-2"/>
          <p:cNvSpPr/>
          <p:nvPr/>
        </p:nvSpPr>
        <p:spPr>
          <a:xfrm>
            <a:off x="5666000" y="6650000"/>
            <a:ext cx="4350000" cy="1650000"/>
          </a:xfrm>
          <a:prstGeom prst="roundRect">
            <a:avLst>
              <a:gd name="adj" fmla="val 8000"/>
            </a:avLst>
          </a:prstGeom>
          <a:solidFill>
            <a:srgbClr val="E3A018">
              <a:alpha val="16000"/>
            </a:srgbClr>
          </a:solidFill>
          <a:ln w="12700">
            <a:solidFill>
              <a:srgbClr val="E3A018"/>
            </a:solidFill>
          </a:ln>
        </p:spPr>
        <p:txBody>
          <a:bodyPr wrap="square" lIns="274320" tIns="228600" rIns="274320" bIns="228600" rtlCol="0" anchor="t"/>
          <a:lstStyle/>
          <a:p>
            <a:pPr marL="0" indent="0" algn="l">
              <a:buNone/>
            </a:pPr>
            <a:r>
              <a:rPr lang="en-US" sz="2400" b="1" dirty="0">
                <a:solidFill>
                  <a:srgbClr val="E3A018"/>
                </a:solidFill>
                <a:latin typeface="Inter" pitchFamily="34" charset="0"/>
                <a:ea typeface="Inter" pitchFamily="34" charset="-122"/>
                <a:cs typeface="Inter" pitchFamily="34" charset="-120"/>
              </a:rPr>
              <a:t>12 months free</a:t>
            </a:r>
          </a:p>
          <a:p>
            <a:pPr marL="0" indent="0" algn="l">
              <a:spcBef>
                <a:spcPts val="600"/>
              </a:spcBef>
              <a:buNone/>
            </a:pPr>
            <a:r>
              <a:rPr lang="en-US" sz="1400" dirty="0">
                <a:solidFill>
                  <a:srgbClr val="FFFFFF"/>
                </a:solidFill>
                <a:latin typeface="Inter" pitchFamily="34" charset="0"/>
                <a:ea typeface="Inter" pitchFamily="34" charset="-122"/>
                <a:cs typeface="Inter" pitchFamily="34" charset="-120"/>
              </a:rPr>
              <a:t>For a handpicked few, personally selected.</a:t>
            </a:r>
            <a:endParaRPr lang="en-US" sz="1400" dirty="0"/>
          </a:p>
        </p:txBody>
      </p:sp>
      <p:sp>
        <p:nvSpPr>
          <p:cNvPr id="14" name="cta-qr-panel"/>
          <p:cNvSpPr/>
          <p:nvPr/>
        </p:nvSpPr>
        <p:spPr>
          <a:xfrm>
            <a:off x="11150000" y="2150000"/>
            <a:ext cx="4200000" cy="4200000"/>
          </a:xfrm>
          <a:prstGeom prst="roundRect">
            <a:avLst>
              <a:gd name="adj" fmla="val 6000"/>
            </a:avLst>
          </a:prstGeom>
          <a:solidFill>
            <a:srgbClr val="FFFFFF"/>
          </a:solidFill>
          <a:ln/>
          <a:effectLst>
            <a:outerShdw blurRad="304800" dist="76200" dir="5400000" rotWithShape="0">
              <a:srgbClr val="000000">
                <a:alpha val="30000"/>
              </a:srgbClr>
            </a:outerShdw>
          </a:effectLst>
        </p:spPr>
        <p:txBody>
          <a:bodyPr/>
          <a:lstStyle/>
          <a:p>
            <a:endParaRPr lang="en-AU"/>
          </a:p>
        </p:txBody>
      </p:sp>
      <p:sp>
        <p:nvSpPr>
          <p:cNvPr id="15" name="cta-qr-heading"/>
          <p:cNvSpPr/>
          <p:nvPr/>
        </p:nvSpPr>
        <p:spPr>
          <a:xfrm>
            <a:off x="11150000" y="2500000"/>
            <a:ext cx="4200000" cy="330200"/>
          </a:xfrm>
          <a:prstGeom prst="rect">
            <a:avLst/>
          </a:prstGeom>
          <a:noFill/>
          <a:ln/>
        </p:spPr>
        <p:txBody>
          <a:bodyPr wrap="square" lIns="0" tIns="0" rIns="0" bIns="0" rtlCol="0" anchor="t"/>
          <a:lstStyle/>
          <a:p>
            <a:pPr marL="0" indent="0" algn="ctr">
              <a:buNone/>
            </a:pPr>
            <a:r>
              <a:rPr lang="en-US" sz="1500" b="1" dirty="0">
                <a:solidFill>
                  <a:srgbClr val="E3A018"/>
                </a:solidFill>
                <a:latin typeface="Inter" pitchFamily="34" charset="0"/>
                <a:ea typeface="Inter" pitchFamily="34" charset="-122"/>
                <a:cs typeface="Inter" pitchFamily="34" charset="-120"/>
              </a:rPr>
              <a:t>CLAIM YOUR ACCESS</a:t>
            </a:r>
            <a:endParaRPr lang="en-US" sz="1500" b="1" dirty="0"/>
          </a:p>
        </p:txBody>
      </p:sp>
      <p:pic>
        <p:nvPicPr>
          <p:cNvPr id="16" name="cta-qr-image" descr="Arvi Health sign-up QR code"/>
          <p:cNvPicPr>
            <a:picLocks noChangeAspect="1"/>
          </p:cNvPicPr>
          <p:nvPr/>
        </p:nvPicPr>
        <p:blipFill>
          <a:blip r:embed="rId2"/>
          <a:stretch>
            <a:fillRect/>
          </a:stretch>
        </p:blipFill>
        <p:spPr>
          <a:xfrm>
            <a:off x="11975000" y="3000000"/>
            <a:ext cx="2550000" cy="2550000"/>
          </a:xfrm>
          <a:prstGeom prst="rect">
            <a:avLst/>
          </a:prstGeom>
        </p:spPr>
      </p:pic>
      <p:sp>
        <p:nvSpPr>
          <p:cNvPr id="17" name="cta-qr-caption"/>
          <p:cNvSpPr/>
          <p:nvPr/>
        </p:nvSpPr>
        <p:spPr>
          <a:xfrm>
            <a:off x="11350000" y="5750000"/>
            <a:ext cx="3800000" cy="800000"/>
          </a:xfrm>
          <a:prstGeom prst="rect">
            <a:avLst/>
          </a:prstGeom>
          <a:noFill/>
          <a:ln/>
        </p:spPr>
        <p:txBody>
          <a:bodyPr wrap="square" lIns="0" tIns="0" rIns="0" bIns="0" rtlCol="0" anchor="t"/>
          <a:lstStyle/>
          <a:p>
            <a:pPr marL="0" indent="0" algn="ctr">
              <a:lnSpc>
                <a:spcPts val="2000"/>
              </a:lnSpc>
              <a:buNone/>
            </a:pPr>
            <a:r>
              <a:rPr lang="en-US" sz="1500" b="1" dirty="0">
                <a:solidFill>
                  <a:srgbClr val="0F4C5C"/>
                </a:solidFill>
                <a:latin typeface="Inter" pitchFamily="34" charset="0"/>
                <a:ea typeface="Inter" pitchFamily="34" charset="-122"/>
                <a:cs typeface="Inter" pitchFamily="34" charset="-120"/>
              </a:rPr>
              <a:t>Scan to claim your 6 months free</a:t>
            </a:r>
            <a:endParaRPr lang="en-US" sz="1500" b="1" dirty="0"/>
          </a:p>
        </p:txBody>
      </p:sp>
      <p:sp>
        <p:nvSpPr>
          <p:cNvPr id="19" name="cta-footer"/>
          <p:cNvSpPr/>
          <p:nvPr/>
        </p:nvSpPr>
        <p:spPr>
          <a:xfrm>
            <a:off x="1016000" y="8500000"/>
            <a:ext cx="9000000" cy="330200"/>
          </a:xfrm>
          <a:prstGeom prst="rect">
            <a:avLst/>
          </a:prstGeom>
          <a:noFill/>
          <a:ln/>
        </p:spPr>
        <p:txBody>
          <a:bodyPr wrap="square" lIns="0" tIns="0" rIns="0" bIns="0" rtlCol="0" anchor="t"/>
          <a:lstStyle/>
          <a:p>
            <a:pPr marL="0" indent="0" algn="l">
              <a:buNone/>
            </a:pPr>
            <a:r>
              <a:rPr lang="en-US" sz="1300" i="1" dirty="0">
                <a:solidFill>
                  <a:srgbClr val="9BB3B5"/>
                </a:solidFill>
                <a:latin typeface="Inter" pitchFamily="34" charset="0"/>
                <a:ea typeface="Inter" pitchFamily="34" charset="-122"/>
                <a:cs typeface="Inter" pitchFamily="34" charset="-120"/>
              </a:rPr>
              <a:t>Arvi Health · specialist-led clinical AI, built in Australia.</a:t>
            </a:r>
            <a:endParaRPr lang="en-US" sz="1300"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2814</Words>
  <Application>Microsoft Office PowerPoint</Application>
  <PresentationFormat>Custom</PresentationFormat>
  <Paragraphs>428</Paragraphs>
  <Slides>27</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Inter</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Abnormal LFTs: What Actually Matters</dc:title>
  <dc:subject>Abnormal LFTs: What Actually Matters</dc:subject>
  <dc:creator>Manus</dc:creator>
  <cp:lastModifiedBy>Isuru Perera-Somasinghe</cp:lastModifiedBy>
  <cp:revision>3</cp:revision>
  <dcterms:created xsi:type="dcterms:W3CDTF">2026-07-27T00:41:37Z</dcterms:created>
  <dcterms:modified xsi:type="dcterms:W3CDTF">2026-07-28T16:32:41Z</dcterms:modified>
</cp:coreProperties>
</file>